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D3A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0B1D3A"/>
                </a:solidFill>
                <a:latin typeface="Calibri"/>
              </a:rPr>
              <a:t>98 columns by classification tier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Classification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94A3B8"/>
              </a:solidFill>
              <a:effectLst/>
            </c:spPr>
          </c:dPt>
          <c:dPt>
            <c:idx val="1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bubble3D val="0"/>
            <c:spPr>
              <a:solidFill>
                <a:srgbClr val="F4A261"/>
              </a:solidFill>
              <a:effectLst/>
            </c:spPr>
          </c:dPt>
          <c:dPt>
            <c:idx val="3"/>
            <c:bubble3D val="0"/>
            <c:spPr>
              <a:solidFill>
                <a:srgbClr val="E6394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Public</c:v>
                </c:pt>
                <c:pt idx="1">
                  <c:v>Internal</c:v>
                </c:pt>
                <c:pt idx="2">
                  <c:v>Confidential</c:v>
                </c:pt>
                <c:pt idx="3">
                  <c:v>Restricted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37</c:v>
                </c:pt>
                <c:pt idx="1">
                  <c:v>20</c:v>
                </c:pt>
                <c:pt idx="2">
                  <c:v>27</c:v>
                </c:pt>
                <c:pt idx="3">
                  <c:v>14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Direct PII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aml</c:v>
                  </c:pt>
                  <c:pt idx="1">
                    <c:v>bm</c:v>
                  </c:pt>
                  <c:pt idx="2">
                    <c:v>sec</c:v>
                  </c:pt>
                  <c:pt idx="3">
                    <c:v>paysim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5</c:v>
                </c:pt>
                <c:pt idx="2">
                  <c:v>2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Quasi PII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aml</c:v>
                  </c:pt>
                  <c:pt idx="1">
                    <c:v>bm</c:v>
                  </c:pt>
                  <c:pt idx="2">
                    <c:v>sec</c:v>
                  </c:pt>
                  <c:pt idx="3">
                    <c:v>paysim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0</c:v>
                </c:pt>
                <c:pt idx="3">
                  <c:v>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Sensitive PII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aml</c:v>
                  </c:pt>
                  <c:pt idx="1">
                    <c:v>bm</c:v>
                  </c:pt>
                  <c:pt idx="2">
                    <c:v>sec</c:v>
                  </c:pt>
                  <c:pt idx="3">
                    <c:v>paysim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0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0"/>
            <a:ext cx="1828800" cy="2286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32720" y="6629400"/>
            <a:ext cx="1828800" cy="2286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2801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FINGUARD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Borderless Banking — The European Leap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Governance, Privacy &amp; Compliance — Final Recap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3520440"/>
            <a:ext cx="45720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74904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49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First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0" y="374904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3749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49440" y="3749040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3749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Defined, Enforced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48463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 · Final Deliverables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Catalog · Lineage · Compliance Dashboard · GDPR Erasure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6035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the FinGuard Data Team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109728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THE BUSINESS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the European leap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FinGuard, a US fintech unicorn, must convince European regulators that an American firm can be trusted with European data — or it doesn't get a banking license.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fail compliance: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5943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€20M fine — or 4% of global revenue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denial across all 27 EU member states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72-hour breach notification window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data transfer scrutiny (EU ↔ US)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040880" y="1554480"/>
            <a:ext cx="45720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040880" y="1554480"/>
            <a:ext cx="73152" cy="13716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69480" y="16916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€20M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269480" y="23317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GDPR fine — or 4 % of global revenue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40880" y="3017520"/>
            <a:ext cx="45720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040880" y="3017520"/>
            <a:ext cx="73152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9480" y="31546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269480" y="37947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member states FinGuard must serve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40880" y="4480560"/>
            <a:ext cx="45720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40880" y="4480560"/>
            <a:ext cx="73152" cy="13716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69480" y="461772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hrs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7269480" y="52578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breach reporting window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656539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FinGuard · Governance First, Growth Always · Week 10 Final Recap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109728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1-2 · REGULATORY LANDSCAPE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frameworks driving every design decision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697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45920"/>
            <a:ext cx="26974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373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frameworks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24688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DAMA-DMBOK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COBIT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Privacy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DCAM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1645920"/>
            <a:ext cx="2697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645920"/>
            <a:ext cx="269748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7373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regulations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11880" y="2331720"/>
            <a:ext cx="24688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(Art. 17, 30)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(high-risk)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PSD2 / PSD3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AMLD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Data Act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1645920"/>
            <a:ext cx="2697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645920"/>
            <a:ext cx="269748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7373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regulations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2331720"/>
            <a:ext cx="24688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GLBA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CCPA / CPRA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DPA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laws (IN/KY/RI 2026)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89720" y="1645920"/>
            <a:ext cx="2697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89720" y="1645920"/>
            <a:ext cx="2697480" cy="5029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0" y="17373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(2026)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72600" y="2331720"/>
            <a:ext cx="24688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enforcement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Nat'l AI Framework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FAKES Act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656539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FinGuard · Governance First, Growth Always · Week 10 Final Recap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109728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4-5 · SYNTHETIC DATA &amp; EDA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datasets, one governed hub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73152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916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33,197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records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155448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554480"/>
            <a:ext cx="73152" cy="1188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16916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657600" y="2331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/ source systems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55448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554480"/>
            <a:ext cx="73152" cy="1188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16916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537960" y="2331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governed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89720" y="1554480"/>
            <a:ext cx="24231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89720" y="1554480"/>
            <a:ext cx="73152" cy="1188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0" y="1691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9418320" y="23317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columns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7180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280160"/>
                <a:gridCol w="6766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Dataset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Rows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aml_transactions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PII-rich hub — AML flags, risk scores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paysim_fraud_transactions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Fraud-model training (class imbalance ~0.5 %)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bank_marketing_customers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Demographics &amp; PII for masking demos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sec_edgar_filings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KYC validation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ecb_statistical_data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FX rates, EU monetary policy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world_bank_indicators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 economic indicators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fatf_country_risk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AML black/grey list screening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656539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FinGuard · Governance First, Growth Always · Week 10 Final Recap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109728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4-5 · DATA QUALITY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noise we baked in (and detect)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577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00200"/>
            <a:ext cx="777240" cy="4114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0020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600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beneficiary names (AML)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5577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600200"/>
            <a:ext cx="777240" cy="4114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60020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23760" y="1600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beneficiary accounts (AML)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103120"/>
            <a:ext cx="5577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103120"/>
            <a:ext cx="777240" cy="4114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10312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21031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beneficiary country (AML)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2103120"/>
            <a:ext cx="5577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2103120"/>
            <a:ext cx="777240" cy="4114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210312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223760" y="21031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dates of birth (Bank Marketing)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2606040"/>
            <a:ext cx="5577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2606040"/>
            <a:ext cx="777240" cy="4114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60604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63040" y="2606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date formats (ISO vs MM/DD)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09360" y="2606040"/>
            <a:ext cx="5577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09360" y="2606040"/>
            <a:ext cx="777240" cy="4114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260604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223760" y="2606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customer_ids with conflicting names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3108960"/>
            <a:ext cx="5577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3108960"/>
            <a:ext cx="777240" cy="4114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10896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463040" y="3108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transaction amounts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09360" y="3108960"/>
            <a:ext cx="5577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09360" y="3108960"/>
            <a:ext cx="777240" cy="4114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310896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223760" y="3108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ages (0, -5, 150, 999)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3611880"/>
            <a:ext cx="5577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8640" y="3611880"/>
            <a:ext cx="777240" cy="4114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361188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1.4%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463040" y="3611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country codes (XX, ZZ, blank)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309360" y="3611880"/>
            <a:ext cx="5577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09360" y="3611880"/>
            <a:ext cx="777240" cy="4114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361188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0.5%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223760" y="3611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PaySim negative balances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77240" y="46634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per column across 6 dimensions: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77240" y="502920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7240" y="5029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560320" y="502920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60320" y="5029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343400" y="502920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43400" y="5029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126480" y="502920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26480" y="5029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909560" y="502920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909560" y="5029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Out-of-range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9692640" y="502920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692640" y="5029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error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77240" y="5577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28 of 98 columns currently carry at least one DQ flag — surfaced in the catalog.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5760" y="656539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FinGuard · Governance First, Growth Always · Week 10 Final Recap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109728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PRIVACY BY DESIGN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masking methods, 24 PII fields, 28,893 reversible mappings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7772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45920"/>
            <a:ext cx="2103120" cy="320040"/>
          </a:xfrm>
          <a:prstGeom prst="roundRect">
            <a:avLst>
              <a:gd name="adj" fmla="val 2285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45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Pseudonymization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34640" y="16002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Names, customer IDs — TOKEN_xxx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7772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148840"/>
            <a:ext cx="2103120" cy="320040"/>
          </a:xfrm>
          <a:prstGeom prst="roundRect">
            <a:avLst>
              <a:gd name="adj" fmla="val 2285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148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34640" y="21031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Emails, device IDs — salted + truncated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606040"/>
            <a:ext cx="7772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651760"/>
            <a:ext cx="2103120" cy="320040"/>
          </a:xfrm>
          <a:prstGeom prst="roundRect">
            <a:avLst>
              <a:gd name="adj" fmla="val 2285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651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Masking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34640" y="26060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 — last 4 only (***-***-1234)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108960"/>
            <a:ext cx="7772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154680"/>
            <a:ext cx="2103120" cy="320040"/>
          </a:xfrm>
          <a:prstGeom prst="roundRect">
            <a:avLst>
              <a:gd name="adj" fmla="val 2285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154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34640" y="31089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→ city + state/country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611880"/>
            <a:ext cx="7772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3657600"/>
            <a:ext cx="2103120" cy="320040"/>
          </a:xfrm>
          <a:prstGeom prst="roundRect">
            <a:avLst>
              <a:gd name="adj" fmla="val 2285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657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Age-banding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834640" y="36118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 / age → decade range (30–39)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114800"/>
            <a:ext cx="7772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4160520"/>
            <a:ext cx="2103120" cy="320040"/>
          </a:xfrm>
          <a:prstGeom prst="roundRect">
            <a:avLst>
              <a:gd name="adj" fmla="val 2285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160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834640" y="41148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 / ZIPs — last octet/digits removed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617720"/>
            <a:ext cx="7772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" y="4663440"/>
            <a:ext cx="2103120" cy="320040"/>
          </a:xfrm>
          <a:prstGeom prst="roundRect">
            <a:avLst>
              <a:gd name="adj" fmla="val 2285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663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FPE Tokenization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834640" y="46177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IBANs, EINs — format-preserving encryption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503920" y="1600200"/>
            <a:ext cx="3108960" cy="3383280"/>
          </a:xfrm>
          <a:prstGeom prst="rect">
            <a:avLst/>
          </a:prstGeom>
          <a:solidFill>
            <a:srgbClr val="0B1D3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595360" y="1691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VAULT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595360" y="2011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28,893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8595360" y="2651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 · AES-256 at rest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595360" y="3108960"/>
            <a:ext cx="2926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CDO + DPO only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GDPR Art. 17 cascade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lineage traceability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5120640"/>
            <a:ext cx="11064240" cy="868680"/>
          </a:xfrm>
          <a:prstGeom prst="rect">
            <a:avLst/>
          </a:prstGeom>
          <a:solidFill>
            <a:srgbClr val="02C39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77240" y="51663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24 PII fields across 7 datasets to 28,893 vault entries — every masked value can be reversed by an authorized role and erased on demand.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656539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FinGuard · Governance First, Growth Always · Week 10 Final Recap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109728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DATA CLASSIFICATION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tiers across 98 columns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554480"/>
          <a:ext cx="59436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766560" y="1554480"/>
            <a:ext cx="48463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94944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metadata attributes per element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949440" y="2103120"/>
            <a:ext cx="45720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element name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/ source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(Direct / Quasi / Sensitive)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level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reference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system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owner (CDO)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steward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period (3-10 yrs)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Obfuscation required?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Masking method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tier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/ conditions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656539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FinGuard · Governance First, Growth Always · Week 10 Final Recap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109728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ACCESS DEFINED, ACCESS ENFORCED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 matrix + PostgreSQL RBAC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73152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916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× 7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 tasks × roles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155448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554480"/>
            <a:ext cx="73152" cy="1188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16916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657600" y="2331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group roles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55448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554480"/>
            <a:ext cx="73152" cy="1188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16916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× 7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537960" y="2331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matrix cells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89720" y="1554480"/>
            <a:ext cx="24231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89720" y="1554480"/>
            <a:ext cx="73152" cy="1188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0" y="1691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9418320" y="23317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 per task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7180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286000"/>
                <a:gridCol w="2743200"/>
                <a:gridCol w="2377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Tier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Sees raw PII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Vault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Chief Data Officer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Privacy Officer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AML Compliance Officer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(masked)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Engineer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(masked)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Analyst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(masked)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Security 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(masked)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Auditor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(masked)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in PostgreSQL via group roles + masked views (pg_has_role) + RLS policies + audit triggers.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5760" y="656539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FinGuard · Governance First, Growth Always · Week 10 Final Recap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109728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 · WHAT WE BUILT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final-week deliverables, one console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5778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87452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737360" y="1874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Lineage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37360" y="237744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→ masking → consumption.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System-level + column-level views over react-flow.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600200"/>
            <a:ext cx="55778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1874520"/>
            <a:ext cx="822960" cy="8229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498080" y="1874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Data Catalog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498080" y="237744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view over all 98 columns.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RBAC-aware sample data per role.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55778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4206240"/>
            <a:ext cx="822960" cy="8229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206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737360" y="42062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Dashboard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737360" y="470916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KPIs · audit log · erasure history · charts.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from the FastAPI backend.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3931920"/>
            <a:ext cx="55778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37960" y="4206240"/>
            <a:ext cx="822960" cy="82296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4206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498080" y="42062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Erasure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498080" y="470916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17 cascade workflow.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DPO / CDO can submit; logged.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656539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FinGuard · Governance First, Growth Always · Week 10 Final Recap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109728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 ·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React, anchored on the existing PG/SQL schema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6576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00200"/>
            <a:ext cx="36576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33832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react-flow (lineage graph)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(charts)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switcher in header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6576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600200"/>
            <a:ext cx="365760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2286000"/>
            <a:ext cx="33832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Pydantic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 reads catalog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enforcer + masking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+ erasure cascade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typed endpoints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0" y="1600200"/>
            <a:ext cx="36576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0" y="1600200"/>
            <a:ext cx="365760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12480" y="2286000"/>
            <a:ext cx="33832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CSV synthetic datasets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FinGuard_Data_Catalog.xlsx (98 cols)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mapping vault JSON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RBAC schema (Week 7)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cascade keyed on customer_id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656539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FinGuard · Governance First, Growth Always · Week 10 Final Recap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109728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B · DATA CATALOG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view over all 98 columns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00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FinGuard — Data Catalog &amp; Compliance Console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0" y="1600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in as: Data Analyst (masked)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057400"/>
            <a:ext cx="201168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103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2514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0" y="2057400"/>
            <a:ext cx="201168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926080" y="2103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926080" y="2514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120640" y="2057400"/>
            <a:ext cx="201168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120640" y="2103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120640" y="2514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columns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0" y="2057400"/>
            <a:ext cx="201168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0" y="2103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315200" y="2514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PII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509760" y="2057400"/>
            <a:ext cx="201168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509760" y="2103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509760" y="2514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issues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2971800"/>
            <a:ext cx="1069848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440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column, table, owner, regulation…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0" y="3035808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0" y="30358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tables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406640" y="3035808"/>
            <a:ext cx="2194560" cy="320040"/>
          </a:xfrm>
          <a:prstGeom prst="roundRect">
            <a:avLst>
              <a:gd name="adj" fmla="val 2285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30358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classifications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692640" y="3035808"/>
            <a:ext cx="1463040" cy="320040"/>
          </a:xfrm>
          <a:prstGeom prst="roundRect">
            <a:avLst>
              <a:gd name="adj" fmla="val 22857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92640" y="30358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only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566160"/>
          <a:ext cx="1069848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834640"/>
                <a:gridCol w="1554480"/>
                <a:gridCol w="128016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Table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Column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Class.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PII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Mask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aml_transactions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customer_email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SHA-256 Hash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aml_transactions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originator_account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FPE Token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aml_transactions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ip_address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Truncation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bank_marketing_customers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sec_edgar_filings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ceo_name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Pseudonymization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paysim_fraud_transactions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name_orig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Pseudonymization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3" name="Shape 30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65760" y="656539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FinGuard · Governance First, Growth Always · Week 10 Final Recap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109728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A · LINEAGE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→ masking → consumption, two zoom levels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21945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194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Fieri AML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21945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697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EDGAR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21945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200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ECB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21945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703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PaySim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21945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4206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Mkt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21945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4709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5212080"/>
            <a:ext cx="21945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5212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FATF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834640" y="160020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34640" y="1600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834640" y="2194560"/>
            <a:ext cx="21945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926080" y="2194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aml_transactions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834640" y="2697480"/>
            <a:ext cx="21945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926080" y="2697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sec_edgar_filings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834640" y="3200400"/>
            <a:ext cx="21945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926080" y="3200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ecb_statistical_data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834640" y="3703320"/>
            <a:ext cx="21945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926080" y="3703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paysim_fraud_transactions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834640" y="4206240"/>
            <a:ext cx="21945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926080" y="4206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bank_marketing_customers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834640" y="4709160"/>
            <a:ext cx="21945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926080" y="4709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world_bank_indicators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834640" y="5212080"/>
            <a:ext cx="21945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926080" y="5212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fatf_country_risk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120640" y="160020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20640" y="1600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120640" y="2194560"/>
            <a:ext cx="21945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212080" y="2194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Masking Engine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120640" y="2697480"/>
            <a:ext cx="21945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212080" y="2697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(AES-256)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406640" y="160020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06640" y="1600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406640" y="2194560"/>
            <a:ext cx="21945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498080" y="2194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aml_masked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406640" y="2697480"/>
            <a:ext cx="21945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498080" y="2697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bank_marketing_masked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406640" y="3200400"/>
            <a:ext cx="21945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7498080" y="3200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sec_edgar_masked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406640" y="3703320"/>
            <a:ext cx="21945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7498080" y="3703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paysim_masked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9692640" y="160020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692640" y="1600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9692640" y="2194560"/>
            <a:ext cx="21945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9784080" y="2194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Officer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9692640" y="2697480"/>
            <a:ext cx="21945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9784080" y="2697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9692640" y="3200400"/>
            <a:ext cx="21945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9784080" y="3200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9692640" y="3703320"/>
            <a:ext cx="21945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9784080" y="3703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9692640" y="4206240"/>
            <a:ext cx="21945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9784080" y="4206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868680" y="6355080"/>
            <a:ext cx="1060704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headEnd type="none"/>
            <a:tailEnd type="triangle"/>
          </a:ln>
        </p:spPr>
      </p:sp>
      <p:sp>
        <p:nvSpPr>
          <p:cNvPr id="66" name="Text 64"/>
          <p:cNvSpPr/>
          <p:nvPr/>
        </p:nvSpPr>
        <p:spPr>
          <a:xfrm>
            <a:off x="548640" y="6126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9418320" y="6126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consumption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5760" y="656539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FinGuard · Governance First, Growth Always · Week 10 Final Recap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109728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C · COMPLIANCE DASHBOARD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KPIs the regulator sees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00200"/>
            <a:ext cx="73152" cy="1143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37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24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columns masked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60020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600200"/>
            <a:ext cx="73152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737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28,893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566160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entries (AES-256)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60020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600200"/>
            <a:ext cx="73152" cy="1143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737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355080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erasures processed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915400" y="160020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915400" y="1600200"/>
            <a:ext cx="73152" cy="1143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0" y="1737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9144000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denials (30 d)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288036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2880360"/>
            <a:ext cx="73152" cy="11430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017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777240" y="3657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SAR filings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37560" y="288036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37560" y="2880360"/>
            <a:ext cx="73152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017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96.2 %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3566160" y="3657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Quality-gate pass rate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288036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880360"/>
            <a:ext cx="73152" cy="11430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3017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6355080" y="3657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with DQ flag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915400" y="288036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915400" y="2880360"/>
            <a:ext cx="73152" cy="114300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0" y="3017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9144000" y="3657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governed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4251960"/>
            <a:ext cx="1106424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31520" y="4297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satisfied: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743200" y="4434840"/>
            <a:ext cx="1280160" cy="320040"/>
          </a:xfrm>
          <a:prstGeom prst="roundRect">
            <a:avLst>
              <a:gd name="adj" fmla="val 22857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0" y="4434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GDPR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160520" y="4434840"/>
            <a:ext cx="1280160" cy="320040"/>
          </a:xfrm>
          <a:prstGeom prst="roundRect">
            <a:avLst>
              <a:gd name="adj" fmla="val 22857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60520" y="4434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GLBA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577840" y="4434840"/>
            <a:ext cx="1280160" cy="320040"/>
          </a:xfrm>
          <a:prstGeom prst="roundRect">
            <a:avLst>
              <a:gd name="adj" fmla="val 22857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77840" y="4434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PSD2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995160" y="4434840"/>
            <a:ext cx="1280160" cy="320040"/>
          </a:xfrm>
          <a:prstGeom prst="roundRect">
            <a:avLst>
              <a:gd name="adj" fmla="val 22857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95160" y="4434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EU AI Act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412480" y="4434840"/>
            <a:ext cx="1280160" cy="320040"/>
          </a:xfrm>
          <a:prstGeom prst="roundRect">
            <a:avLst>
              <a:gd name="adj" fmla="val 22857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12480" y="4434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CCPA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9829800" y="4434840"/>
            <a:ext cx="1280160" cy="320040"/>
          </a:xfrm>
          <a:prstGeom prst="roundRect">
            <a:avLst>
              <a:gd name="adj" fmla="val 22857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829800" y="4434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EU AMLD</a:t>
            </a:r>
            <a:endParaRPr lang="en-US" sz="1100" dirty="0"/>
          </a:p>
        </p:txBody>
      </p:sp>
      <p:graphicFrame>
        <p:nvGraphicFramePr>
          <p:cNvPr id="51" name="Chart 0" descr=""/>
          <p:cNvGraphicFramePr/>
          <p:nvPr/>
        </p:nvGraphicFramePr>
        <p:xfrm>
          <a:off x="548640" y="5029200"/>
          <a:ext cx="1106424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2" name="Shape 4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365760" y="656539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FinGuard · Governance First, Growth Always · Week 10 Final Recap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109728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D · GDPR ARTICLE 17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erasure workflow, demo-ready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411480" cy="4114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65506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submits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06240" y="165506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Right-to-erasure request received (web form or email).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13432"/>
            <a:ext cx="11064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404872"/>
            <a:ext cx="411480" cy="4114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404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36829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authenticates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06240" y="236829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CDO / DPO roles see the submit button (RBAC enforced).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026664"/>
            <a:ext cx="11064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118104"/>
            <a:ext cx="411480" cy="4114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1181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0815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lookup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06240" y="30815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finds every table &amp; row carrying that customer_id.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739896"/>
            <a:ext cx="11064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831336"/>
            <a:ext cx="411480" cy="4114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8313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37947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unmap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06240" y="3794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mapping vault entries removed → masked values can no longer be reversed.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453128"/>
            <a:ext cx="11064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4544568"/>
            <a:ext cx="411480" cy="4114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544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88720" y="450799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206240" y="450799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Erasure recorded with timestamp, actor, impacted rows (Art. 30 record-of-processing).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166360"/>
            <a:ext cx="11064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" y="5257800"/>
            <a:ext cx="411480" cy="4114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5257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88720" y="522122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206240" y="522122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returned within the 72-hour window. Customer notified.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656539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FinGuard · Governance First, Growth Always · Week 10 Final Recap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109728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Five-minute walkthrough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00200"/>
            <a:ext cx="109728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55064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03120" y="165506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catalog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655064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PII only → click customer_email.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13432"/>
            <a:ext cx="11064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313432"/>
            <a:ext cx="109728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368296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03120" y="236829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role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368296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to Data Analyst → sample row shows masked PII. Switch to DPO → raw appears.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026664"/>
            <a:ext cx="11064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026664"/>
            <a:ext cx="109728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08152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03120" y="308152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Lineage tab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08152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system view, then switch to column-level for aml_transactions.customer_email.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739896"/>
            <a:ext cx="11064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739896"/>
            <a:ext cx="109728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7947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103120" y="3794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Dashboard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379476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KPIs, regulators satisfied, audit log, erasure history, PII bar chart.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453128"/>
            <a:ext cx="11064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4453128"/>
            <a:ext cx="109728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50799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103120" y="45079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erasure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37760" y="450799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Erasure tab → DPO submits for CUST-00099 → cascade impact shown.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166360"/>
            <a:ext cx="11064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8640" y="5166360"/>
            <a:ext cx="109728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221224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103120" y="522122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denial trail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37760" y="5221224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Dashboard → new erasure + denial entries visible in audit log.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656539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FinGuard · Governance First, Growth Always · Week 10 Final Recap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109728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break, and what we did about it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6949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39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Mitigation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394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 complexity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FastAPI + React app, all endpoints typed via Pydantic.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Lineage visual library churn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react-flow with tier-color layout — no custom graph engine.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setup friction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reads from CSV + xlsx by default; PG schema available for full demo.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polish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Reused FinGuard palette + Week 7 dashboard styling.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failures live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Pre-recorded 90-second backup video of each tab + erasure submit.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overrun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 is must-have (B); lineage / dashboard graceful-degrade.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656539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FinGuard · Governance First, Growth Always · Week 10 Final Recap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109728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PREP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regulators (and your professor) will probe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5778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78308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0" y="17373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masking methods specifically — why not just hash everything?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55778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78308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0" y="17373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reversible mapping vault avoid becoming the next breach blast radius?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697480"/>
            <a:ext cx="55778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5800" y="288036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71600" y="28346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platform support GDPR Article 30 records of processing?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2697480"/>
            <a:ext cx="55778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46520" y="288036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32320" y="28346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happens, end-to-end, when a customer exercises Right to Erasure?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794760"/>
            <a:ext cx="55778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5800" y="397764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371600" y="39319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AML scoring model avoid proxy discrimination under the EU AI Act?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09360" y="3794760"/>
            <a:ext cx="55778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46520" y="397764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32320" y="39319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those retention periods (3 / 5 / 7 / 10 yrs) — and where is each codified?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892040"/>
            <a:ext cx="55778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85800" y="507492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5074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371600" y="50292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scale to all 27 EU member states without per-country reconfiguration?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09360" y="4892040"/>
            <a:ext cx="55778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46520" y="507492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5074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132320" y="50292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disaster-recovery story for the vault and audit logs?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656539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FinGuard · Governance First, Growth Always · Week 10 Final Recap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521440" y="6565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PITCH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non-compliance wasn't a fine.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the entire European market.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the system that makes the market accessible.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14400" y="4572000"/>
            <a:ext cx="45720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84632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846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First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0" y="484632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4846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49440" y="4846320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4846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Defined, Enforced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- Questions welcome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FinGuard — Week 10 Final Recap</dc:title>
  <dc:subject>PptxGenJS Presentation</dc:subject>
  <dc:creator>FinGuard Team</dc:creator>
  <cp:lastModifiedBy>FinGuard Team</cp:lastModifiedBy>
  <cp:revision>1</cp:revision>
  <dcterms:created xsi:type="dcterms:W3CDTF">2026-05-26T20:04:34Z</dcterms:created>
  <dcterms:modified xsi:type="dcterms:W3CDTF">2026-05-26T20:04:34Z</dcterms:modified>
</cp:coreProperties>
</file>