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5"/>
    <p:restoredTop sz="79922"/>
  </p:normalViewPr>
  <p:slideViewPr>
    <p:cSldViewPr snapToGrid="0" snapToObjects="1">
      <p:cViewPr varScale="1">
        <p:scale>
          <a:sx n="126" d="100"/>
          <a:sy n="126" d="100"/>
        </p:scale>
        <p:origin x="10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6051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afternoon everyone.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Today we will introduce </a:t>
            </a:r>
            <a:r>
              <a:rPr lang="en-US" sz="1200" kern="1200" dirty="0" err="1">
                <a:solidFill>
                  <a:schemeClr val="tx1"/>
                </a:solidFill>
                <a:effectLst/>
                <a:latin typeface="+mn-lt"/>
                <a:ea typeface="+mn-ea"/>
                <a:cs typeface="+mn-cs"/>
              </a:rPr>
              <a:t>FinGuard</a:t>
            </a:r>
            <a:r>
              <a:rPr lang="en-US" sz="1200" kern="1200" dirty="0">
                <a:solidFill>
                  <a:schemeClr val="tx1"/>
                </a:solidFill>
                <a:effectLst/>
                <a:latin typeface="+mn-lt"/>
                <a:ea typeface="+mn-ea"/>
                <a:cs typeface="+mn-cs"/>
              </a:rPr>
              <a:t>, a U.S. fintech company that wants to expand into Europe.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Six minutes on the slides, then four minutes of live demo.’</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will briefly explain three things:</a:t>
            </a:r>
          </a:p>
          <a:p>
            <a:r>
              <a:rPr lang="en-US" sz="1200" kern="1200" dirty="0">
                <a:solidFill>
                  <a:schemeClr val="tx1"/>
                </a:solidFill>
                <a:effectLst/>
                <a:latin typeface="+mn-lt"/>
                <a:ea typeface="+mn-ea"/>
                <a:cs typeface="+mn-cs"/>
              </a:rPr>
              <a:t>why this project matters,</a:t>
            </a:r>
          </a:p>
          <a:p>
            <a:r>
              <a:rPr lang="en-US" sz="1200" kern="1200" dirty="0">
                <a:solidFill>
                  <a:schemeClr val="tx1"/>
                </a:solidFill>
                <a:effectLst/>
                <a:latin typeface="+mn-lt"/>
                <a:ea typeface="+mn-ea"/>
                <a:cs typeface="+mn-cs"/>
              </a:rPr>
              <a:t>how we designed the solution,</a:t>
            </a:r>
          </a:p>
          <a:p>
            <a:r>
              <a:rPr lang="en-US" sz="1200" kern="1200" dirty="0">
                <a:solidFill>
                  <a:schemeClr val="tx1"/>
                </a:solidFill>
                <a:effectLst/>
                <a:latin typeface="+mn-lt"/>
                <a:ea typeface="+mn-ea"/>
                <a:cs typeface="+mn-cs"/>
              </a:rPr>
              <a:t>and what we built.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First, why does this matter?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a:t>
            </a:r>
            <a:r>
              <a:rPr lang="en-US" sz="1200" kern="1200" dirty="0" err="1">
                <a:solidFill>
                  <a:schemeClr val="tx1"/>
                </a:solidFill>
                <a:effectLst/>
                <a:latin typeface="+mn-lt"/>
                <a:ea typeface="+mn-ea"/>
                <a:cs typeface="+mn-cs"/>
              </a:rPr>
              <a:t>FinGuard</a:t>
            </a:r>
            <a:r>
              <a:rPr lang="en-US" sz="1200" kern="1200" dirty="0">
                <a:solidFill>
                  <a:schemeClr val="tx1"/>
                </a:solidFill>
                <a:effectLst/>
                <a:latin typeface="+mn-lt"/>
                <a:ea typeface="+mn-ea"/>
                <a:cs typeface="+mn-cs"/>
              </a:rPr>
              <a:t>, entering Europe is not just a business opportunity.</a:t>
            </a:r>
          </a:p>
          <a:p>
            <a:r>
              <a:rPr lang="en-US" sz="1200" kern="1200" dirty="0">
                <a:solidFill>
                  <a:schemeClr val="tx1"/>
                </a:solidFill>
                <a:effectLst/>
                <a:latin typeface="+mn-lt"/>
                <a:ea typeface="+mn-ea"/>
                <a:cs typeface="+mn-cs"/>
              </a:rPr>
              <a:t>It is a licensing issue.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the company cannot meet EU regulations, it may face large fines, lose its banking license application, and damage customer trust.</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Regulators mainly focus on data privacy, anti-money laundering, AI governance, and payment security.</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compliance is the key challenge.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address this challenge, we followed a Privacy by Design approach.</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Imagine a customer in Berlin asks us to delete all of their personal data.</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must complete the process within the required time and prove the data has been removed everywhere.</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Our solution follows three principles: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minimize data collection.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Second, encrypt sensitive information using AES-256-GCM.</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Third, permanently erase personal data when requested.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AI - 30 seconds.
</a:t>
            </a:r>
            <a:r>
              <a:rPr lang="en-US" sz="1200" kern="1200" dirty="0">
                <a:solidFill>
                  <a:schemeClr val="tx1"/>
                </a:solidFill>
                <a:effectLst/>
                <a:latin typeface="+mn-lt"/>
                <a:ea typeface="+mn-ea"/>
                <a:cs typeface="+mn-cs"/>
              </a:rPr>
              <a:t>Another important issue is ethical AI.</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EU AI Act considers AML scoring a high-risk AI system.</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Because of that, we examined several possible sources of bias.</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example, country bias, age bias, marketing data bias, and geographic bias.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applied different controls to reduce these risks and aligned our design with the EU AI Act, GDPR, UNESCO AI Ethics principles, and the U.S. AI framework.</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That’s the reason behind this project. Next, Selin will explain how we implemented the solution.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Frameworks - 25 seconds.
'Every design decision in this project traces back to one of four framework families.'
Walk left to right quickly:
- 'Data governance: DAMA and DCAM.'
- 'IT governance: COBIT and NIST Privacy.'
- 'Privacy law: GDPR, GLBA, CCPA - all three jurisdictions.'
- 'AI ethics: EU AI Act, UNESCO, US National AI - three converging standards.'
Key line: 'We don't justify a control with policy. We justify it with one of these.'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foundation - 25 seconds.
Top KPIs: '7 datasets, 33,000 synthetic rows, 98 governed columns across 4 classification tiers.'
Point at the hub: 'aml_transactions is our PII-rich hub - 5,000 rows. Every other dataset joins to this one.'
Satellites (sweep your hand): 'Bank Marketing for demographics. SEC EDGAR for KYC. PaySim for fraud. ECB and World Bank for context. FATF for AML screening.’</a:t>
            </a:r>
          </a:p>
          <a:p>
            <a:r>
              <a:rPr lang="en-US"/>
              <a:t>The six satellites are both the reference data we used to generate realistic synthetic transactions, and the lookup tables that enrich them at query time for risk scoring.</a:t>
            </a:r>
            <a:r>
              <a:rPr lang="en-US" dirty="0"/>
              <a:t>
Key line: 'Everything connects to one governed backbone. That's what makes lineage tractable.' Click.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engineering - 30 seconds. This is a headline slide.
Left: 'Seven masking methods, matched to the use case of each field. Names get pseudonyms - reversible for joins. Emails get SHA-256 - one-way. Phones get partial masking. Addresses get generalized. Dates get age-banded. IPs and ZIPs get truncated. IBANs use format-preserving encryption.'
Right (point at the vault block): '28,893 vault entries. AES-256-GCM authenticated encryption - same algorithm as TLS 1.3. Per-record nonce. Access restricted to CDO and DPO only. Every read logged.'
Key line: 'When we say AES-256, we mean it. You'll see the algorithm name in the demo via the /api/vault/stats endpoint.' Click.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Governed access - 25 seconds.
Top KPIs: '25 RACI tasks across 7 stakeholder roles. Exactly one Accountable per task. Then 10 tables by 7 roles - 70 permission cells, all expressed as actual PostgreSQL grants.'
Table: 'Only CDO and DPO see raw PII - that's the red column. AML, Engineer, Analyst, Auditor see masked. IT Security manages the privacy monitoring and vault but can't read PII - that's separation of duties.'
Key line: 'Access is enforced in code, not policy. Every read or denial is logged - we'll see the audit log in the demo.' Click.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Fairness audit (Week 8) - 30 seconds.
Left side: 'Four-step methodology. Segment by protected-attribute proxies. Compute the AML positive rate per segment. Apply the four-fifths rule - ratio below 0.8 fails. Re-run after intervention.'
Right side: 'Three flags found: FATF country bias at 0.62, age proxy at 0.71, marketing leak at 0.55. After intervention - country-context features, age-banding, removing the shared customer_id - all three jumped above 0.9.'
Key line: 'This is what bias monitoring looks like under the EU AI Act. Not a one-time check - a repeatable methodology.' Click.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UNESCO operationalized - 25 seconds.
Open: 'The UNESCO Recommendation on AI Ethics - adopted unanimously by 193 member states in 2021. The first global standard.'
KPIs: '10 principles, 4 foundational values, 30 specific FinGuard controls mapped, 4 overlap with the EU AI Act.'
Three principles: 'Right to Privacy maps to our AES vault. Fairness maps to the Week 8 work you just saw. Transparency maps to the catalog and lineage you'll see in the demo.'
Key line: 'This is what a regulator audit asks for - not a citation, but a crosswalk to actual controls.' Click.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console - 30 seconds.
Open: 'Everything ships in one place - a FastAPI plus React console with five tabs.' Point at each tab pill.
Numbers: '7 tables, 98 columns, 26 PII columns, 24 masked, 28,893 vault entries.'
Four features: 'Role switcher proves RBAC live. AES vault telemetry visible at the API. GDPR Article 17 cascade triggered from the UI. UNESCO crosswalk with 30 mappings.'
Pivot: 'You'll see all four of these in the demo in a few seconds.' Click.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proofs and pivot to demo - 20 seconds. Last slide.
'Three proofs you're about to see in the demo:'
- 'Role swap on the same row - same query, different masking.'
- 'AES vault detokenize - HTTP 403 for analyst, 200 for DPO.'
- 'GDPR Article 17 cascade - submit from the UI, audit log records it.'
Pivot: 'Let me show you.' Switch to the browser. Begin the 4-minute demo per the use-case document.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2C39A"/>
          </a:solidFill>
          <a:ln w="12700">
            <a:solidFill>
              <a:srgbClr val="02C39A"/>
            </a:solidFill>
            <a:prstDash val="solid"/>
          </a:ln>
        </p:spPr>
        <p:txBody>
          <a:bodyPr/>
          <a:lstStyle/>
          <a:p>
            <a:endParaRPr lang="zh-CN" altLang="en-US"/>
          </a:p>
        </p:txBody>
      </p:sp>
      <p:sp>
        <p:nvSpPr>
          <p:cNvPr id="5" name="Text 3"/>
          <p:cNvSpPr/>
          <p:nvPr/>
        </p:nvSpPr>
        <p:spPr>
          <a:xfrm>
            <a:off x="914400" y="1417319"/>
            <a:ext cx="9144000" cy="457200"/>
          </a:xfrm>
          <a:prstGeom prst="rect">
            <a:avLst/>
          </a:prstGeom>
          <a:noFill/>
          <a:ln/>
        </p:spPr>
        <p:txBody>
          <a:bodyPr wrap="square" rtlCol="0" anchor="ctr"/>
          <a:lstStyle/>
          <a:p>
            <a:pPr marL="0" indent="0">
              <a:buNone/>
            </a:pPr>
            <a:r>
              <a:rPr lang="en-US" sz="1400" b="1" kern="0" spc="800" dirty="0">
                <a:solidFill>
                  <a:srgbClr val="02C39A"/>
                </a:solidFill>
                <a:latin typeface="Calibri" pitchFamily="34" charset="0"/>
                <a:ea typeface="Calibri" pitchFamily="34" charset="-122"/>
                <a:cs typeface="Calibri" pitchFamily="34" charset="-120"/>
              </a:rPr>
              <a:t>FINGUARD</a:t>
            </a:r>
            <a:endParaRPr lang="en-US" sz="1400" dirty="0"/>
          </a:p>
        </p:txBody>
      </p:sp>
      <p:sp>
        <p:nvSpPr>
          <p:cNvPr id="6" name="Text 4"/>
          <p:cNvSpPr/>
          <p:nvPr/>
        </p:nvSpPr>
        <p:spPr>
          <a:xfrm>
            <a:off x="914400" y="2824479"/>
            <a:ext cx="1005840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Borderless Banking - The European Leap</a:t>
            </a:r>
            <a:endParaRPr lang="en-US" sz="3400" dirty="0"/>
          </a:p>
        </p:txBody>
      </p:sp>
      <p:sp>
        <p:nvSpPr>
          <p:cNvPr id="7" name="Text 5"/>
          <p:cNvSpPr/>
          <p:nvPr/>
        </p:nvSpPr>
        <p:spPr>
          <a:xfrm>
            <a:off x="914400" y="4178300"/>
            <a:ext cx="10058400" cy="548640"/>
          </a:xfrm>
          <a:prstGeom prst="rect">
            <a:avLst/>
          </a:prstGeom>
          <a:noFill/>
          <a:ln/>
        </p:spPr>
        <p:txBody>
          <a:bodyPr wrap="square" rtlCol="0" anchor="ctr"/>
          <a:lstStyle/>
          <a:p>
            <a:pPr marL="0" indent="0">
              <a:buNone/>
            </a:pPr>
            <a:r>
              <a:rPr lang="en-US" sz="2000" i="1" dirty="0">
                <a:solidFill>
                  <a:srgbClr val="CBD5E1"/>
                </a:solidFill>
                <a:latin typeface="Calibri" pitchFamily="34" charset="0"/>
                <a:cs typeface="Calibri" pitchFamily="34" charset="-120"/>
              </a:rPr>
              <a:t>Yang Yu, </a:t>
            </a:r>
            <a:r>
              <a:rPr lang="en-US" sz="2000" i="1" dirty="0" err="1">
                <a:solidFill>
                  <a:srgbClr val="CBD5E1"/>
                </a:solidFill>
                <a:latin typeface="Calibri" pitchFamily="34" charset="0"/>
                <a:cs typeface="Calibri" pitchFamily="34" charset="-120"/>
              </a:rPr>
              <a:t>Lixuan</a:t>
            </a:r>
            <a:r>
              <a:rPr lang="en-US" sz="2000" i="1" dirty="0">
                <a:solidFill>
                  <a:srgbClr val="CBD5E1"/>
                </a:solidFill>
                <a:latin typeface="Calibri" pitchFamily="34" charset="0"/>
                <a:cs typeface="Calibri" pitchFamily="34" charset="-120"/>
              </a:rPr>
              <a:t> Xiao, Selin Altiparmak</a:t>
            </a:r>
            <a:endParaRPr lang="en-US" sz="2000" dirty="0"/>
          </a:p>
        </p:txBody>
      </p:sp>
      <p:sp>
        <p:nvSpPr>
          <p:cNvPr id="8" name="Shape 6"/>
          <p:cNvSpPr/>
          <p:nvPr/>
        </p:nvSpPr>
        <p:spPr>
          <a:xfrm>
            <a:off x="995680" y="3743960"/>
            <a:ext cx="4572000" cy="0"/>
          </a:xfrm>
          <a:prstGeom prst="line">
            <a:avLst/>
          </a:prstGeom>
          <a:noFill/>
          <a:ln w="25400">
            <a:solidFill>
              <a:srgbClr val="02C39A"/>
            </a:solidFill>
            <a:prstDash val="solid"/>
          </a:ln>
        </p:spPr>
        <p:txBody>
          <a:bodyPr/>
          <a:lstStyle/>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WHY - THE BUSINESS PROBLEM</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A US fintech trying to earn EU trust</a:t>
            </a:r>
            <a:endParaRPr lang="en-US" sz="2800" dirty="0"/>
          </a:p>
        </p:txBody>
      </p:sp>
      <p:sp>
        <p:nvSpPr>
          <p:cNvPr id="5" name="Shape 3"/>
          <p:cNvSpPr/>
          <p:nvPr/>
        </p:nvSpPr>
        <p:spPr>
          <a:xfrm>
            <a:off x="548640" y="1554480"/>
            <a:ext cx="5943600" cy="47548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Text 4"/>
          <p:cNvSpPr/>
          <p:nvPr/>
        </p:nvSpPr>
        <p:spPr>
          <a:xfrm>
            <a:off x="777240" y="1691640"/>
            <a:ext cx="54864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THE SITUATION</a:t>
            </a:r>
            <a:endParaRPr lang="en-US" sz="1100" dirty="0"/>
          </a:p>
        </p:txBody>
      </p:sp>
      <p:sp>
        <p:nvSpPr>
          <p:cNvPr id="7" name="Text 5"/>
          <p:cNvSpPr/>
          <p:nvPr/>
        </p:nvSpPr>
        <p:spPr>
          <a:xfrm>
            <a:off x="777240" y="2057400"/>
            <a:ext cx="5486400" cy="2011680"/>
          </a:xfrm>
          <a:prstGeom prst="rect">
            <a:avLst/>
          </a:prstGeom>
          <a:noFill/>
          <a:ln/>
        </p:spPr>
        <p:txBody>
          <a:bodyPr wrap="square" lIns="0" tIns="0" rIns="0" bIns="0" rtlCol="0" anchor="t"/>
          <a:lstStyle/>
          <a:p>
            <a:pPr marL="0" indent="0">
              <a:buNone/>
            </a:pPr>
            <a:r>
              <a:rPr lang="en-US" sz="1400" dirty="0">
                <a:solidFill>
                  <a:srgbClr val="1E293B"/>
                </a:solidFill>
                <a:latin typeface="Calibri" pitchFamily="34" charset="0"/>
                <a:ea typeface="Calibri" pitchFamily="34" charset="-122"/>
                <a:cs typeface="Calibri" pitchFamily="34" charset="-120"/>
              </a:rPr>
              <a:t>FinGuard is a US fintech unicorn launching </a:t>
            </a:r>
            <a:r>
              <a:rPr lang="en-US" sz="1400" b="1" dirty="0">
                <a:solidFill>
                  <a:srgbClr val="0B1D3A"/>
                </a:solidFill>
                <a:latin typeface="Calibri" pitchFamily="34" charset="0"/>
                <a:ea typeface="Calibri" pitchFamily="34" charset="-122"/>
                <a:cs typeface="Calibri" pitchFamily="34" charset="-120"/>
              </a:rPr>
              <a:t>Borderless Banking</a:t>
            </a:r>
            <a:r>
              <a:rPr lang="en-US" sz="1400" dirty="0">
                <a:solidFill>
                  <a:srgbClr val="1E293B"/>
                </a:solidFill>
                <a:latin typeface="Calibri" pitchFamily="34" charset="0"/>
                <a:ea typeface="Calibri" pitchFamily="34" charset="-122"/>
                <a:cs typeface="Calibri" pitchFamily="34" charset="-120"/>
              </a:rPr>
              <a:t> across the European Union.</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To secure a European banking license, regulators must see proof that an American firm can be trusted with European data - or the entire 27-state market is closed to us.</a:t>
            </a:r>
            <a:endParaRPr lang="en-US" sz="1400" dirty="0"/>
          </a:p>
        </p:txBody>
      </p:sp>
      <p:sp>
        <p:nvSpPr>
          <p:cNvPr id="8" name="Text 6"/>
          <p:cNvSpPr/>
          <p:nvPr/>
        </p:nvSpPr>
        <p:spPr>
          <a:xfrm>
            <a:off x="777240" y="4160520"/>
            <a:ext cx="54864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WHAT REGULATORS WILL CHECK</a:t>
            </a:r>
            <a:endParaRPr lang="en-US" sz="1100" dirty="0"/>
          </a:p>
        </p:txBody>
      </p:sp>
      <p:sp>
        <p:nvSpPr>
          <p:cNvPr id="9" name="Text 7"/>
          <p:cNvSpPr/>
          <p:nvPr/>
        </p:nvSpPr>
        <p:spPr>
          <a:xfrm>
            <a:off x="777240" y="4526280"/>
            <a:ext cx="5486400" cy="173736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GDPR Art. 17 (Right to Erasure) - cascade across systems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EU AMLD - flagged transactions reviewed by humans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EU AI Act - high-risk system controls + bias monitoring</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PSD2 - payment data encryption + access policy</a:t>
            </a:r>
            <a:endParaRPr lang="en-US" sz="1200" dirty="0"/>
          </a:p>
        </p:txBody>
      </p:sp>
      <p:sp>
        <p:nvSpPr>
          <p:cNvPr id="10" name="Shape 8"/>
          <p:cNvSpPr/>
          <p:nvPr/>
        </p:nvSpPr>
        <p:spPr>
          <a:xfrm>
            <a:off x="6766560" y="1554480"/>
            <a:ext cx="4846320" cy="141732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1" name="Shape 9"/>
          <p:cNvSpPr/>
          <p:nvPr/>
        </p:nvSpPr>
        <p:spPr>
          <a:xfrm>
            <a:off x="6766560" y="1554480"/>
            <a:ext cx="73152" cy="1417320"/>
          </a:xfrm>
          <a:prstGeom prst="rect">
            <a:avLst/>
          </a:prstGeom>
          <a:solidFill>
            <a:srgbClr val="E63946"/>
          </a:solidFill>
          <a:ln w="12700">
            <a:solidFill>
              <a:srgbClr val="E63946"/>
            </a:solidFill>
            <a:prstDash val="solid"/>
          </a:ln>
        </p:spPr>
        <p:txBody>
          <a:bodyPr/>
          <a:lstStyle/>
          <a:p>
            <a:endParaRPr lang="zh-CN" altLang="en-US"/>
          </a:p>
        </p:txBody>
      </p:sp>
      <p:sp>
        <p:nvSpPr>
          <p:cNvPr id="12" name="Text 10"/>
          <p:cNvSpPr/>
          <p:nvPr/>
        </p:nvSpPr>
        <p:spPr>
          <a:xfrm>
            <a:off x="6995160" y="1645920"/>
            <a:ext cx="457200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EUR 20M</a:t>
            </a:r>
            <a:endParaRPr lang="en-US" sz="2800" dirty="0"/>
          </a:p>
        </p:txBody>
      </p:sp>
      <p:sp>
        <p:nvSpPr>
          <p:cNvPr id="13" name="Text 11"/>
          <p:cNvSpPr/>
          <p:nvPr/>
        </p:nvSpPr>
        <p:spPr>
          <a:xfrm>
            <a:off x="6995160" y="2240280"/>
            <a:ext cx="45720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Maximum GDPR fine, or 4% of global revenue</a:t>
            </a:r>
            <a:endParaRPr lang="en-US" sz="1100" dirty="0"/>
          </a:p>
        </p:txBody>
      </p:sp>
      <p:sp>
        <p:nvSpPr>
          <p:cNvPr id="14" name="Shape 12"/>
          <p:cNvSpPr/>
          <p:nvPr/>
        </p:nvSpPr>
        <p:spPr>
          <a:xfrm>
            <a:off x="6766560" y="3063240"/>
            <a:ext cx="4846320" cy="141732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5" name="Shape 13"/>
          <p:cNvSpPr/>
          <p:nvPr/>
        </p:nvSpPr>
        <p:spPr>
          <a:xfrm>
            <a:off x="6766560" y="3063240"/>
            <a:ext cx="73152" cy="1417320"/>
          </a:xfrm>
          <a:prstGeom prst="rect">
            <a:avLst/>
          </a:prstGeom>
          <a:solidFill>
            <a:srgbClr val="028090"/>
          </a:solidFill>
          <a:ln w="12700">
            <a:solidFill>
              <a:srgbClr val="028090"/>
            </a:solidFill>
            <a:prstDash val="solid"/>
          </a:ln>
        </p:spPr>
        <p:txBody>
          <a:bodyPr/>
          <a:lstStyle/>
          <a:p>
            <a:endParaRPr lang="zh-CN" altLang="en-US"/>
          </a:p>
        </p:txBody>
      </p:sp>
      <p:sp>
        <p:nvSpPr>
          <p:cNvPr id="16" name="Text 14"/>
          <p:cNvSpPr/>
          <p:nvPr/>
        </p:nvSpPr>
        <p:spPr>
          <a:xfrm>
            <a:off x="6995160" y="3154680"/>
            <a:ext cx="457200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27</a:t>
            </a:r>
            <a:endParaRPr lang="en-US" sz="2800" dirty="0"/>
          </a:p>
        </p:txBody>
      </p:sp>
      <p:sp>
        <p:nvSpPr>
          <p:cNvPr id="17" name="Text 15"/>
          <p:cNvSpPr/>
          <p:nvPr/>
        </p:nvSpPr>
        <p:spPr>
          <a:xfrm>
            <a:off x="6995160" y="3749040"/>
            <a:ext cx="45720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EU member states FinGuard must serve</a:t>
            </a:r>
            <a:endParaRPr lang="en-US" sz="1100" dirty="0"/>
          </a:p>
        </p:txBody>
      </p:sp>
      <p:sp>
        <p:nvSpPr>
          <p:cNvPr id="18" name="Shape 16"/>
          <p:cNvSpPr/>
          <p:nvPr/>
        </p:nvSpPr>
        <p:spPr>
          <a:xfrm>
            <a:off x="6766560" y="4572000"/>
            <a:ext cx="4846320" cy="141732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9" name="Shape 17"/>
          <p:cNvSpPr/>
          <p:nvPr/>
        </p:nvSpPr>
        <p:spPr>
          <a:xfrm>
            <a:off x="6766560" y="4572000"/>
            <a:ext cx="73152" cy="1417320"/>
          </a:xfrm>
          <a:prstGeom prst="rect">
            <a:avLst/>
          </a:prstGeom>
          <a:solidFill>
            <a:srgbClr val="F4A261"/>
          </a:solidFill>
          <a:ln w="12700">
            <a:solidFill>
              <a:srgbClr val="F4A261"/>
            </a:solidFill>
            <a:prstDash val="solid"/>
          </a:ln>
        </p:spPr>
        <p:txBody>
          <a:bodyPr/>
          <a:lstStyle/>
          <a:p>
            <a:endParaRPr lang="zh-CN" altLang="en-US"/>
          </a:p>
        </p:txBody>
      </p:sp>
      <p:sp>
        <p:nvSpPr>
          <p:cNvPr id="20" name="Text 18"/>
          <p:cNvSpPr/>
          <p:nvPr/>
        </p:nvSpPr>
        <p:spPr>
          <a:xfrm>
            <a:off x="6995160" y="4663440"/>
            <a:ext cx="457200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72 hrs</a:t>
            </a:r>
            <a:endParaRPr lang="en-US" sz="2800" dirty="0"/>
          </a:p>
        </p:txBody>
      </p:sp>
      <p:sp>
        <p:nvSpPr>
          <p:cNvPr id="21" name="Text 19"/>
          <p:cNvSpPr/>
          <p:nvPr/>
        </p:nvSpPr>
        <p:spPr>
          <a:xfrm>
            <a:off x="6995160" y="5257800"/>
            <a:ext cx="45720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Mandatory breach notification window</a:t>
            </a:r>
            <a:endParaRPr lang="en-US" sz="1100" dirty="0"/>
          </a:p>
        </p:txBody>
      </p:sp>
      <p:sp>
        <p:nvSpPr>
          <p:cNvPr id="22" name="Shape 20"/>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23" name="Text 21"/>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24" name="Text 22"/>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WHY - PRIVACY BY DESIGN</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Because retrofitting it after a breach is too late</a:t>
            </a:r>
            <a:endParaRPr lang="en-US" sz="2800" dirty="0"/>
          </a:p>
        </p:txBody>
      </p:sp>
      <p:sp>
        <p:nvSpPr>
          <p:cNvPr id="5" name="Shape 3"/>
          <p:cNvSpPr/>
          <p:nvPr/>
        </p:nvSpPr>
        <p:spPr>
          <a:xfrm>
            <a:off x="548640" y="1554480"/>
            <a:ext cx="11064240" cy="1280160"/>
          </a:xfrm>
          <a:prstGeom prst="rect">
            <a:avLst/>
          </a:prstGeom>
          <a:solidFill>
            <a:srgbClr val="0B1D3A"/>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Text 4"/>
          <p:cNvSpPr/>
          <p:nvPr/>
        </p:nvSpPr>
        <p:spPr>
          <a:xfrm>
            <a:off x="777240" y="1691640"/>
            <a:ext cx="10607040" cy="320040"/>
          </a:xfrm>
          <a:prstGeom prst="rect">
            <a:avLst/>
          </a:prstGeom>
          <a:noFill/>
          <a:ln/>
        </p:spPr>
        <p:txBody>
          <a:bodyPr wrap="square" lIns="0" tIns="0" rIns="0" bIns="0" rtlCol="0" anchor="ctr"/>
          <a:lstStyle/>
          <a:p>
            <a:pPr marL="0" indent="0">
              <a:buNone/>
            </a:pPr>
            <a:r>
              <a:rPr lang="en-US" sz="1200" b="1" kern="0" spc="300" dirty="0">
                <a:solidFill>
                  <a:srgbClr val="02C39A"/>
                </a:solidFill>
                <a:latin typeface="Calibri" pitchFamily="34" charset="0"/>
                <a:ea typeface="Calibri" pitchFamily="34" charset="-122"/>
                <a:cs typeface="Calibri" pitchFamily="34" charset="-120"/>
              </a:rPr>
              <a:t>The scenario regulators care about:</a:t>
            </a:r>
            <a:endParaRPr lang="en-US" sz="1200" dirty="0"/>
          </a:p>
        </p:txBody>
      </p:sp>
      <p:sp>
        <p:nvSpPr>
          <p:cNvPr id="7" name="Text 5"/>
          <p:cNvSpPr/>
          <p:nvPr/>
        </p:nvSpPr>
        <p:spPr>
          <a:xfrm>
            <a:off x="777240" y="2057400"/>
            <a:ext cx="10607040" cy="777240"/>
          </a:xfrm>
          <a:prstGeom prst="rect">
            <a:avLst/>
          </a:prstGeom>
          <a:noFill/>
          <a:ln/>
        </p:spPr>
        <p:txBody>
          <a:bodyPr wrap="square" lIns="0" tIns="0" rIns="0" bIns="0" rtlCol="0" anchor="t"/>
          <a:lstStyle/>
          <a:p>
            <a:pPr marL="0" indent="0">
              <a:buNone/>
            </a:pPr>
            <a:r>
              <a:rPr lang="en-US" sz="1400" i="1" dirty="0">
                <a:solidFill>
                  <a:srgbClr val="FFFFFF"/>
                </a:solidFill>
                <a:latin typeface="Calibri" pitchFamily="34" charset="0"/>
                <a:ea typeface="Calibri" pitchFamily="34" charset="-122"/>
                <a:cs typeface="Calibri" pitchFamily="34" charset="-120"/>
              </a:rPr>
              <a:t>"A customer in Berlin emails to exercise their Right to be Forgotten. We have 72 hours to comply, prove it across every system that touched their data, and never let those values be retrieved again - not even by us."</a:t>
            </a:r>
            <a:endParaRPr lang="en-US" sz="1400" dirty="0"/>
          </a:p>
        </p:txBody>
      </p:sp>
      <p:sp>
        <p:nvSpPr>
          <p:cNvPr id="8" name="Shape 6"/>
          <p:cNvSpPr/>
          <p:nvPr/>
        </p:nvSpPr>
        <p:spPr>
          <a:xfrm>
            <a:off x="548640" y="3017520"/>
            <a:ext cx="3657600" cy="32004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9" name="Shape 7"/>
          <p:cNvSpPr/>
          <p:nvPr/>
        </p:nvSpPr>
        <p:spPr>
          <a:xfrm>
            <a:off x="548640" y="3017520"/>
            <a:ext cx="3657600" cy="502920"/>
          </a:xfrm>
          <a:prstGeom prst="rect">
            <a:avLst/>
          </a:prstGeom>
          <a:solidFill>
            <a:srgbClr val="028090"/>
          </a:solidFill>
          <a:ln w="12700">
            <a:solidFill>
              <a:srgbClr val="028090"/>
            </a:solidFill>
            <a:prstDash val="solid"/>
          </a:ln>
        </p:spPr>
        <p:txBody>
          <a:bodyPr/>
          <a:lstStyle/>
          <a:p>
            <a:endParaRPr lang="zh-CN" altLang="en-US"/>
          </a:p>
        </p:txBody>
      </p:sp>
      <p:sp>
        <p:nvSpPr>
          <p:cNvPr id="10" name="Text 8"/>
          <p:cNvSpPr/>
          <p:nvPr/>
        </p:nvSpPr>
        <p:spPr>
          <a:xfrm>
            <a:off x="731520" y="3063240"/>
            <a:ext cx="3291840" cy="411480"/>
          </a:xfrm>
          <a:prstGeom prst="rect">
            <a:avLst/>
          </a:prstGeom>
          <a:noFill/>
          <a:ln/>
        </p:spPr>
        <p:txBody>
          <a:bodyPr wrap="square" lIns="0" tIns="0" rIns="0" bIns="0" rtlCol="0" anchor="ctr"/>
          <a:lstStyle/>
          <a:p>
            <a:pPr marL="0" indent="0">
              <a:buNone/>
            </a:pPr>
            <a:r>
              <a:rPr lang="en-US" sz="1600" b="1" kern="0" spc="400" dirty="0">
                <a:solidFill>
                  <a:srgbClr val="FFFFFF"/>
                </a:solidFill>
                <a:latin typeface="Calibri" pitchFamily="34" charset="0"/>
                <a:ea typeface="Calibri" pitchFamily="34" charset="-122"/>
                <a:cs typeface="Calibri" pitchFamily="34" charset="-120"/>
              </a:rPr>
              <a:t>Minimize</a:t>
            </a:r>
            <a:endParaRPr lang="en-US" sz="1600" dirty="0"/>
          </a:p>
        </p:txBody>
      </p:sp>
      <p:sp>
        <p:nvSpPr>
          <p:cNvPr id="11" name="Text 9"/>
          <p:cNvSpPr/>
          <p:nvPr/>
        </p:nvSpPr>
        <p:spPr>
          <a:xfrm>
            <a:off x="731520" y="3703320"/>
            <a:ext cx="3291840" cy="237744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Collect only what the use case demands. 24 PII fields identified, classified, and masked at rest.</a:t>
            </a:r>
            <a:endParaRPr lang="en-US" sz="1300" dirty="0"/>
          </a:p>
        </p:txBody>
      </p:sp>
      <p:sp>
        <p:nvSpPr>
          <p:cNvPr id="12" name="Shape 10"/>
          <p:cNvSpPr/>
          <p:nvPr/>
        </p:nvSpPr>
        <p:spPr>
          <a:xfrm>
            <a:off x="4389120" y="3017520"/>
            <a:ext cx="3657600" cy="32004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3" name="Shape 11"/>
          <p:cNvSpPr/>
          <p:nvPr/>
        </p:nvSpPr>
        <p:spPr>
          <a:xfrm>
            <a:off x="4389120" y="3017520"/>
            <a:ext cx="3657600" cy="502920"/>
          </a:xfrm>
          <a:prstGeom prst="rect">
            <a:avLst/>
          </a:prstGeom>
          <a:solidFill>
            <a:srgbClr val="02C39A"/>
          </a:solidFill>
          <a:ln w="12700">
            <a:solidFill>
              <a:srgbClr val="02C39A"/>
            </a:solidFill>
            <a:prstDash val="solid"/>
          </a:ln>
        </p:spPr>
        <p:txBody>
          <a:bodyPr/>
          <a:lstStyle/>
          <a:p>
            <a:endParaRPr lang="zh-CN" altLang="en-US"/>
          </a:p>
        </p:txBody>
      </p:sp>
      <p:sp>
        <p:nvSpPr>
          <p:cNvPr id="14" name="Text 12"/>
          <p:cNvSpPr/>
          <p:nvPr/>
        </p:nvSpPr>
        <p:spPr>
          <a:xfrm>
            <a:off x="4572000" y="3063240"/>
            <a:ext cx="3291840" cy="411480"/>
          </a:xfrm>
          <a:prstGeom prst="rect">
            <a:avLst/>
          </a:prstGeom>
          <a:noFill/>
          <a:ln/>
        </p:spPr>
        <p:txBody>
          <a:bodyPr wrap="square" lIns="0" tIns="0" rIns="0" bIns="0" rtlCol="0" anchor="ctr"/>
          <a:lstStyle/>
          <a:p>
            <a:pPr marL="0" indent="0">
              <a:buNone/>
            </a:pPr>
            <a:r>
              <a:rPr lang="en-US" sz="1600" b="1" kern="0" spc="400" dirty="0">
                <a:solidFill>
                  <a:srgbClr val="FFFFFF"/>
                </a:solidFill>
                <a:latin typeface="Calibri" pitchFamily="34" charset="0"/>
                <a:ea typeface="Calibri" pitchFamily="34" charset="-122"/>
                <a:cs typeface="Calibri" pitchFamily="34" charset="-120"/>
              </a:rPr>
              <a:t>Encrypt</a:t>
            </a:r>
            <a:endParaRPr lang="en-US" sz="1600" dirty="0"/>
          </a:p>
        </p:txBody>
      </p:sp>
      <p:sp>
        <p:nvSpPr>
          <p:cNvPr id="15" name="Text 13"/>
          <p:cNvSpPr/>
          <p:nvPr/>
        </p:nvSpPr>
        <p:spPr>
          <a:xfrm>
            <a:off x="4572000" y="3703320"/>
            <a:ext cx="3291840" cy="237744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AES-256-GCM authenticated encryption for the mapping vault. Same algorithm as TLS 1.3.</a:t>
            </a:r>
            <a:endParaRPr lang="en-US" sz="1300" dirty="0"/>
          </a:p>
        </p:txBody>
      </p:sp>
      <p:sp>
        <p:nvSpPr>
          <p:cNvPr id="16" name="Shape 14"/>
          <p:cNvSpPr/>
          <p:nvPr/>
        </p:nvSpPr>
        <p:spPr>
          <a:xfrm>
            <a:off x="8229600" y="3017520"/>
            <a:ext cx="3657600" cy="32004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7" name="Shape 15"/>
          <p:cNvSpPr/>
          <p:nvPr/>
        </p:nvSpPr>
        <p:spPr>
          <a:xfrm>
            <a:off x="8229600" y="3017520"/>
            <a:ext cx="3657600" cy="502920"/>
          </a:xfrm>
          <a:prstGeom prst="rect">
            <a:avLst/>
          </a:prstGeom>
          <a:solidFill>
            <a:srgbClr val="F4A261"/>
          </a:solidFill>
          <a:ln w="12700">
            <a:solidFill>
              <a:srgbClr val="F4A261"/>
            </a:solidFill>
            <a:prstDash val="solid"/>
          </a:ln>
        </p:spPr>
        <p:txBody>
          <a:bodyPr/>
          <a:lstStyle/>
          <a:p>
            <a:endParaRPr lang="zh-CN" altLang="en-US"/>
          </a:p>
        </p:txBody>
      </p:sp>
      <p:sp>
        <p:nvSpPr>
          <p:cNvPr id="18" name="Text 16"/>
          <p:cNvSpPr/>
          <p:nvPr/>
        </p:nvSpPr>
        <p:spPr>
          <a:xfrm>
            <a:off x="8412480" y="3063240"/>
            <a:ext cx="3291840" cy="411480"/>
          </a:xfrm>
          <a:prstGeom prst="rect">
            <a:avLst/>
          </a:prstGeom>
          <a:noFill/>
          <a:ln/>
        </p:spPr>
        <p:txBody>
          <a:bodyPr wrap="square" lIns="0" tIns="0" rIns="0" bIns="0" rtlCol="0" anchor="ctr"/>
          <a:lstStyle/>
          <a:p>
            <a:pPr marL="0" indent="0">
              <a:buNone/>
            </a:pPr>
            <a:r>
              <a:rPr lang="en-US" sz="1600" b="1" kern="0" spc="400" dirty="0">
                <a:solidFill>
                  <a:srgbClr val="FFFFFF"/>
                </a:solidFill>
                <a:latin typeface="Calibri" pitchFamily="34" charset="0"/>
                <a:ea typeface="Calibri" pitchFamily="34" charset="-122"/>
                <a:cs typeface="Calibri" pitchFamily="34" charset="-120"/>
              </a:rPr>
              <a:t>Erase</a:t>
            </a:r>
            <a:endParaRPr lang="en-US" sz="1600" dirty="0"/>
          </a:p>
        </p:txBody>
      </p:sp>
      <p:sp>
        <p:nvSpPr>
          <p:cNvPr id="19" name="Text 17"/>
          <p:cNvSpPr/>
          <p:nvPr/>
        </p:nvSpPr>
        <p:spPr>
          <a:xfrm>
            <a:off x="8412480" y="3703320"/>
            <a:ext cx="3291840" cy="237744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GDPR Art. 17 cascade. Vault entry cryptographically removed - data becomes anonymous.</a:t>
            </a:r>
            <a:endParaRPr lang="en-US" sz="1300" dirty="0"/>
          </a:p>
        </p:txBody>
      </p:sp>
      <p:sp>
        <p:nvSpPr>
          <p:cNvPr id="20" name="Shape 18"/>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21" name="Text 19"/>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22" name="Text 20"/>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WHY - ETHICAL AI</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Because the EU AI Act treats AML as a high-risk system</a:t>
            </a:r>
            <a:endParaRPr lang="en-US" sz="2800" dirty="0"/>
          </a:p>
        </p:txBody>
      </p:sp>
      <p:sp>
        <p:nvSpPr>
          <p:cNvPr id="5" name="Shape 3"/>
          <p:cNvSpPr/>
          <p:nvPr/>
        </p:nvSpPr>
        <p:spPr>
          <a:xfrm>
            <a:off x="548640" y="1554480"/>
            <a:ext cx="5486400" cy="47548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Text 4"/>
          <p:cNvSpPr/>
          <p:nvPr/>
        </p:nvSpPr>
        <p:spPr>
          <a:xfrm>
            <a:off x="777240" y="1691640"/>
            <a:ext cx="5029200" cy="274320"/>
          </a:xfrm>
          <a:prstGeom prst="rect">
            <a:avLst/>
          </a:prstGeom>
          <a:noFill/>
          <a:ln/>
        </p:spPr>
        <p:txBody>
          <a:bodyPr wrap="square" lIns="0" tIns="0" rIns="0" bIns="0" rtlCol="0" anchor="ctr"/>
          <a:lstStyle/>
          <a:p>
            <a:pPr marL="0" indent="0">
              <a:buNone/>
            </a:pPr>
            <a:r>
              <a:rPr lang="en-US" sz="1100" b="1" kern="0" spc="300" dirty="0">
                <a:solidFill>
                  <a:srgbClr val="E63946"/>
                </a:solidFill>
                <a:latin typeface="Calibri" pitchFamily="34" charset="0"/>
                <a:ea typeface="Calibri" pitchFamily="34" charset="-122"/>
                <a:cs typeface="Calibri" pitchFamily="34" charset="-120"/>
              </a:rPr>
              <a:t>BIAS RISKS WE HAD TO ACTIVELY DEFEND AGAINST</a:t>
            </a:r>
            <a:endParaRPr lang="en-US" sz="1100" dirty="0"/>
          </a:p>
        </p:txBody>
      </p:sp>
      <p:sp>
        <p:nvSpPr>
          <p:cNvPr id="7" name="Shape 5"/>
          <p:cNvSpPr/>
          <p:nvPr/>
        </p:nvSpPr>
        <p:spPr>
          <a:xfrm>
            <a:off x="777240" y="2103120"/>
            <a:ext cx="109728" cy="868680"/>
          </a:xfrm>
          <a:prstGeom prst="rect">
            <a:avLst/>
          </a:prstGeom>
          <a:solidFill>
            <a:srgbClr val="E63946"/>
          </a:solidFill>
          <a:ln w="12700">
            <a:solidFill>
              <a:srgbClr val="E63946"/>
            </a:solidFill>
            <a:prstDash val="solid"/>
          </a:ln>
        </p:spPr>
        <p:txBody>
          <a:bodyPr/>
          <a:lstStyle/>
          <a:p>
            <a:endParaRPr lang="zh-CN" altLang="en-US"/>
          </a:p>
        </p:txBody>
      </p:sp>
      <p:sp>
        <p:nvSpPr>
          <p:cNvPr id="8" name="Text 6"/>
          <p:cNvSpPr/>
          <p:nvPr/>
        </p:nvSpPr>
        <p:spPr>
          <a:xfrm>
            <a:off x="960120" y="2103120"/>
            <a:ext cx="493776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FATF country bias</a:t>
            </a:r>
            <a:endParaRPr lang="en-US" sz="1300" dirty="0"/>
          </a:p>
        </p:txBody>
      </p:sp>
      <p:sp>
        <p:nvSpPr>
          <p:cNvPr id="9" name="Text 7"/>
          <p:cNvSpPr/>
          <p:nvPr/>
        </p:nvSpPr>
        <p:spPr>
          <a:xfrm>
            <a:off x="960120" y="2423160"/>
            <a:ext cx="493776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AML scores skewed against customers from FATF grey-listed countries even when their transactions were clean.</a:t>
            </a:r>
            <a:endParaRPr lang="en-US" sz="1100" dirty="0"/>
          </a:p>
        </p:txBody>
      </p:sp>
      <p:sp>
        <p:nvSpPr>
          <p:cNvPr id="10" name="Shape 8"/>
          <p:cNvSpPr/>
          <p:nvPr/>
        </p:nvSpPr>
        <p:spPr>
          <a:xfrm>
            <a:off x="777240" y="3108960"/>
            <a:ext cx="109728" cy="868680"/>
          </a:xfrm>
          <a:prstGeom prst="rect">
            <a:avLst/>
          </a:prstGeom>
          <a:solidFill>
            <a:srgbClr val="E63946"/>
          </a:solidFill>
          <a:ln w="12700">
            <a:solidFill>
              <a:srgbClr val="E63946"/>
            </a:solidFill>
            <a:prstDash val="solid"/>
          </a:ln>
        </p:spPr>
        <p:txBody>
          <a:bodyPr/>
          <a:lstStyle/>
          <a:p>
            <a:endParaRPr lang="zh-CN" altLang="en-US"/>
          </a:p>
        </p:txBody>
      </p:sp>
      <p:sp>
        <p:nvSpPr>
          <p:cNvPr id="11" name="Text 9"/>
          <p:cNvSpPr/>
          <p:nvPr/>
        </p:nvSpPr>
        <p:spPr>
          <a:xfrm>
            <a:off x="960120" y="3108960"/>
            <a:ext cx="493776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Age proxy</a:t>
            </a:r>
            <a:endParaRPr lang="en-US" sz="1300" dirty="0"/>
          </a:p>
        </p:txBody>
      </p:sp>
      <p:sp>
        <p:nvSpPr>
          <p:cNvPr id="12" name="Text 10"/>
          <p:cNvSpPr/>
          <p:nvPr/>
        </p:nvSpPr>
        <p:spPr>
          <a:xfrm>
            <a:off x="960120" y="3429000"/>
            <a:ext cx="493776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Date-of-birth used directly amplified age-based discrimination - replaced with decade bands.</a:t>
            </a:r>
            <a:endParaRPr lang="en-US" sz="1100" dirty="0"/>
          </a:p>
        </p:txBody>
      </p:sp>
      <p:sp>
        <p:nvSpPr>
          <p:cNvPr id="13" name="Shape 11"/>
          <p:cNvSpPr/>
          <p:nvPr/>
        </p:nvSpPr>
        <p:spPr>
          <a:xfrm>
            <a:off x="777240" y="4114800"/>
            <a:ext cx="109728" cy="868680"/>
          </a:xfrm>
          <a:prstGeom prst="rect">
            <a:avLst/>
          </a:prstGeom>
          <a:solidFill>
            <a:srgbClr val="E63946"/>
          </a:solidFill>
          <a:ln w="12700">
            <a:solidFill>
              <a:srgbClr val="E63946"/>
            </a:solidFill>
            <a:prstDash val="solid"/>
          </a:ln>
        </p:spPr>
        <p:txBody>
          <a:bodyPr/>
          <a:lstStyle/>
          <a:p>
            <a:endParaRPr lang="zh-CN" altLang="en-US"/>
          </a:p>
        </p:txBody>
      </p:sp>
      <p:sp>
        <p:nvSpPr>
          <p:cNvPr id="14" name="Text 12"/>
          <p:cNvSpPr/>
          <p:nvPr/>
        </p:nvSpPr>
        <p:spPr>
          <a:xfrm>
            <a:off x="960120" y="4114800"/>
            <a:ext cx="493776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Marketing skew</a:t>
            </a:r>
            <a:endParaRPr lang="en-US" sz="1300" dirty="0"/>
          </a:p>
        </p:txBody>
      </p:sp>
      <p:sp>
        <p:nvSpPr>
          <p:cNvPr id="15" name="Text 13"/>
          <p:cNvSpPr/>
          <p:nvPr/>
        </p:nvSpPr>
        <p:spPr>
          <a:xfrm>
            <a:off x="960120" y="4434840"/>
            <a:ext cx="493776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Demographic features in Bank Marketing leaked into AML model via shared customer_id joins.</a:t>
            </a:r>
            <a:endParaRPr lang="en-US" sz="1100" dirty="0"/>
          </a:p>
        </p:txBody>
      </p:sp>
      <p:sp>
        <p:nvSpPr>
          <p:cNvPr id="16" name="Shape 14"/>
          <p:cNvSpPr/>
          <p:nvPr/>
        </p:nvSpPr>
        <p:spPr>
          <a:xfrm>
            <a:off x="777240" y="5120640"/>
            <a:ext cx="109728" cy="868680"/>
          </a:xfrm>
          <a:prstGeom prst="rect">
            <a:avLst/>
          </a:prstGeom>
          <a:solidFill>
            <a:srgbClr val="E63946"/>
          </a:solidFill>
          <a:ln w="12700">
            <a:solidFill>
              <a:srgbClr val="E63946"/>
            </a:solidFill>
            <a:prstDash val="solid"/>
          </a:ln>
        </p:spPr>
        <p:txBody>
          <a:bodyPr/>
          <a:lstStyle/>
          <a:p>
            <a:endParaRPr lang="zh-CN" altLang="en-US"/>
          </a:p>
        </p:txBody>
      </p:sp>
      <p:sp>
        <p:nvSpPr>
          <p:cNvPr id="17" name="Text 15"/>
          <p:cNvSpPr/>
          <p:nvPr/>
        </p:nvSpPr>
        <p:spPr>
          <a:xfrm>
            <a:off x="960120" y="5120640"/>
            <a:ext cx="493776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Geographic targeting</a:t>
            </a:r>
            <a:endParaRPr lang="en-US" sz="1300" dirty="0"/>
          </a:p>
        </p:txBody>
      </p:sp>
      <p:sp>
        <p:nvSpPr>
          <p:cNvPr id="18" name="Text 16"/>
          <p:cNvSpPr/>
          <p:nvPr/>
        </p:nvSpPr>
        <p:spPr>
          <a:xfrm>
            <a:off x="960120" y="5440680"/>
            <a:ext cx="493776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ZIP-code truncation prevents micro-geographic redlining.</a:t>
            </a:r>
            <a:endParaRPr lang="en-US" sz="1100" dirty="0"/>
          </a:p>
        </p:txBody>
      </p:sp>
      <p:sp>
        <p:nvSpPr>
          <p:cNvPr id="19" name="Shape 17"/>
          <p:cNvSpPr/>
          <p:nvPr/>
        </p:nvSpPr>
        <p:spPr>
          <a:xfrm>
            <a:off x="6217920" y="1554480"/>
            <a:ext cx="5394960" cy="47548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0" name="Text 18"/>
          <p:cNvSpPr/>
          <p:nvPr/>
        </p:nvSpPr>
        <p:spPr>
          <a:xfrm>
            <a:off x="6446520" y="1691640"/>
            <a:ext cx="493776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REGULATORY ANCHORS</a:t>
            </a:r>
            <a:endParaRPr lang="en-US" sz="1100" dirty="0"/>
          </a:p>
        </p:txBody>
      </p:sp>
      <p:sp>
        <p:nvSpPr>
          <p:cNvPr id="21" name="Shape 19"/>
          <p:cNvSpPr/>
          <p:nvPr/>
        </p:nvSpPr>
        <p:spPr>
          <a:xfrm>
            <a:off x="6446520" y="2103120"/>
            <a:ext cx="109728" cy="868680"/>
          </a:xfrm>
          <a:prstGeom prst="rect">
            <a:avLst/>
          </a:prstGeom>
          <a:solidFill>
            <a:srgbClr val="E63946"/>
          </a:solidFill>
          <a:ln w="12700">
            <a:solidFill>
              <a:srgbClr val="E63946"/>
            </a:solidFill>
            <a:prstDash val="solid"/>
          </a:ln>
        </p:spPr>
        <p:txBody>
          <a:bodyPr/>
          <a:lstStyle/>
          <a:p>
            <a:endParaRPr lang="zh-CN" altLang="en-US"/>
          </a:p>
        </p:txBody>
      </p:sp>
      <p:sp>
        <p:nvSpPr>
          <p:cNvPr id="22" name="Text 20"/>
          <p:cNvSpPr/>
          <p:nvPr/>
        </p:nvSpPr>
        <p:spPr>
          <a:xfrm>
            <a:off x="6629400" y="2103120"/>
            <a:ext cx="475488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EU AI Act (2026)</a:t>
            </a:r>
            <a:endParaRPr lang="en-US" sz="1300" dirty="0"/>
          </a:p>
        </p:txBody>
      </p:sp>
      <p:sp>
        <p:nvSpPr>
          <p:cNvPr id="23" name="Text 21"/>
          <p:cNvSpPr/>
          <p:nvPr/>
        </p:nvSpPr>
        <p:spPr>
          <a:xfrm>
            <a:off x="6629400" y="2423160"/>
            <a:ext cx="475488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AML scoring = high-risk system. Mandatory human oversight, bias monitoring, post-market surveillance.</a:t>
            </a:r>
            <a:endParaRPr lang="en-US" sz="1100" dirty="0"/>
          </a:p>
        </p:txBody>
      </p:sp>
      <p:sp>
        <p:nvSpPr>
          <p:cNvPr id="24" name="Shape 22"/>
          <p:cNvSpPr/>
          <p:nvPr/>
        </p:nvSpPr>
        <p:spPr>
          <a:xfrm>
            <a:off x="6446520" y="3108960"/>
            <a:ext cx="109728" cy="868680"/>
          </a:xfrm>
          <a:prstGeom prst="rect">
            <a:avLst/>
          </a:prstGeom>
          <a:solidFill>
            <a:srgbClr val="028090"/>
          </a:solidFill>
          <a:ln w="12700">
            <a:solidFill>
              <a:srgbClr val="028090"/>
            </a:solidFill>
            <a:prstDash val="solid"/>
          </a:ln>
        </p:spPr>
        <p:txBody>
          <a:bodyPr/>
          <a:lstStyle/>
          <a:p>
            <a:endParaRPr lang="zh-CN" altLang="en-US"/>
          </a:p>
        </p:txBody>
      </p:sp>
      <p:sp>
        <p:nvSpPr>
          <p:cNvPr id="25" name="Text 23"/>
          <p:cNvSpPr/>
          <p:nvPr/>
        </p:nvSpPr>
        <p:spPr>
          <a:xfrm>
            <a:off x="6629400" y="3108960"/>
            <a:ext cx="475488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GDPR Art. 22</a:t>
            </a:r>
            <a:endParaRPr lang="en-US" sz="1300" dirty="0"/>
          </a:p>
        </p:txBody>
      </p:sp>
      <p:sp>
        <p:nvSpPr>
          <p:cNvPr id="26" name="Text 24"/>
          <p:cNvSpPr/>
          <p:nvPr/>
        </p:nvSpPr>
        <p:spPr>
          <a:xfrm>
            <a:off x="6629400" y="3429000"/>
            <a:ext cx="475488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No purely automated decisions with significant effect. AML decisions must be reviewable by an officer.</a:t>
            </a:r>
            <a:endParaRPr lang="en-US" sz="1100" dirty="0"/>
          </a:p>
        </p:txBody>
      </p:sp>
      <p:sp>
        <p:nvSpPr>
          <p:cNvPr id="27" name="Shape 25"/>
          <p:cNvSpPr/>
          <p:nvPr/>
        </p:nvSpPr>
        <p:spPr>
          <a:xfrm>
            <a:off x="6446520" y="4114800"/>
            <a:ext cx="109728" cy="868680"/>
          </a:xfrm>
          <a:prstGeom prst="rect">
            <a:avLst/>
          </a:prstGeom>
          <a:solidFill>
            <a:srgbClr val="02C39A"/>
          </a:solidFill>
          <a:ln w="12700">
            <a:solidFill>
              <a:srgbClr val="02C39A"/>
            </a:solidFill>
            <a:prstDash val="solid"/>
          </a:ln>
        </p:spPr>
        <p:txBody>
          <a:bodyPr/>
          <a:lstStyle/>
          <a:p>
            <a:endParaRPr lang="zh-CN" altLang="en-US"/>
          </a:p>
        </p:txBody>
      </p:sp>
      <p:sp>
        <p:nvSpPr>
          <p:cNvPr id="28" name="Text 26"/>
          <p:cNvSpPr/>
          <p:nvPr/>
        </p:nvSpPr>
        <p:spPr>
          <a:xfrm>
            <a:off x="6629400" y="4114800"/>
            <a:ext cx="475488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UNESCO AI Ethics</a:t>
            </a:r>
            <a:endParaRPr lang="en-US" sz="1300" dirty="0"/>
          </a:p>
        </p:txBody>
      </p:sp>
      <p:sp>
        <p:nvSpPr>
          <p:cNvPr id="29" name="Text 27"/>
          <p:cNvSpPr/>
          <p:nvPr/>
        </p:nvSpPr>
        <p:spPr>
          <a:xfrm>
            <a:off x="6629400" y="4434840"/>
            <a:ext cx="475488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10 principles, adopted unanimously by 193 member states - the global frame for fairness reviews.</a:t>
            </a:r>
            <a:endParaRPr lang="en-US" sz="1100" dirty="0"/>
          </a:p>
        </p:txBody>
      </p:sp>
      <p:sp>
        <p:nvSpPr>
          <p:cNvPr id="30" name="Shape 28"/>
          <p:cNvSpPr/>
          <p:nvPr/>
        </p:nvSpPr>
        <p:spPr>
          <a:xfrm>
            <a:off x="6446520" y="5120640"/>
            <a:ext cx="109728" cy="868680"/>
          </a:xfrm>
          <a:prstGeom prst="rect">
            <a:avLst/>
          </a:prstGeom>
          <a:solidFill>
            <a:srgbClr val="F4A261"/>
          </a:solidFill>
          <a:ln w="12700">
            <a:solidFill>
              <a:srgbClr val="F4A261"/>
            </a:solidFill>
            <a:prstDash val="solid"/>
          </a:ln>
        </p:spPr>
        <p:txBody>
          <a:bodyPr/>
          <a:lstStyle/>
          <a:p>
            <a:endParaRPr lang="zh-CN" altLang="en-US"/>
          </a:p>
        </p:txBody>
      </p:sp>
      <p:sp>
        <p:nvSpPr>
          <p:cNvPr id="31" name="Text 29"/>
          <p:cNvSpPr/>
          <p:nvPr/>
        </p:nvSpPr>
        <p:spPr>
          <a:xfrm>
            <a:off x="6629400" y="5120640"/>
            <a:ext cx="475488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US National AI (2026)</a:t>
            </a:r>
            <a:endParaRPr lang="en-US" sz="1300" dirty="0"/>
          </a:p>
        </p:txBody>
      </p:sp>
      <p:sp>
        <p:nvSpPr>
          <p:cNvPr id="32" name="Text 30"/>
          <p:cNvSpPr/>
          <p:nvPr/>
        </p:nvSpPr>
        <p:spPr>
          <a:xfrm>
            <a:off x="6629400" y="5440680"/>
            <a:ext cx="475488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Bias evaluation requirements that line up with the EU framework. Same controls, two jurisdictions.</a:t>
            </a:r>
            <a:endParaRPr lang="en-US" sz="1100" dirty="0"/>
          </a:p>
        </p:txBody>
      </p:sp>
      <p:sp>
        <p:nvSpPr>
          <p:cNvPr id="33" name="Shape 31"/>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34" name="Text 32"/>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35" name="Text 33"/>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HOW - FRAMEWORKS</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What we adopted, and why each one earned its place</a:t>
            </a:r>
            <a:endParaRPr lang="en-US" sz="2800" dirty="0"/>
          </a:p>
        </p:txBody>
      </p:sp>
      <p:sp>
        <p:nvSpPr>
          <p:cNvPr id="5" name="Shape 3"/>
          <p:cNvSpPr/>
          <p:nvPr/>
        </p:nvSpPr>
        <p:spPr>
          <a:xfrm>
            <a:off x="548640" y="1554480"/>
            <a:ext cx="2697480" cy="45720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Shape 4"/>
          <p:cNvSpPr/>
          <p:nvPr/>
        </p:nvSpPr>
        <p:spPr>
          <a:xfrm>
            <a:off x="548640" y="1554480"/>
            <a:ext cx="2697480" cy="502920"/>
          </a:xfrm>
          <a:prstGeom prst="rect">
            <a:avLst/>
          </a:prstGeom>
          <a:solidFill>
            <a:srgbClr val="028090"/>
          </a:solidFill>
          <a:ln w="12700">
            <a:solidFill>
              <a:srgbClr val="028090"/>
            </a:solidFill>
            <a:prstDash val="solid"/>
          </a:ln>
        </p:spPr>
        <p:txBody>
          <a:bodyPr/>
          <a:lstStyle/>
          <a:p>
            <a:endParaRPr lang="zh-CN" altLang="en-US"/>
          </a:p>
        </p:txBody>
      </p:sp>
      <p:sp>
        <p:nvSpPr>
          <p:cNvPr id="7" name="Text 5"/>
          <p:cNvSpPr/>
          <p:nvPr/>
        </p:nvSpPr>
        <p:spPr>
          <a:xfrm>
            <a:off x="685800" y="1645920"/>
            <a:ext cx="24231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governance</a:t>
            </a:r>
            <a:endParaRPr lang="en-US" sz="1300" dirty="0"/>
          </a:p>
        </p:txBody>
      </p:sp>
      <p:sp>
        <p:nvSpPr>
          <p:cNvPr id="8" name="Text 6"/>
          <p:cNvSpPr/>
          <p:nvPr/>
        </p:nvSpPr>
        <p:spPr>
          <a:xfrm>
            <a:off x="731520" y="2240280"/>
            <a:ext cx="2468880" cy="1828800"/>
          </a:xfrm>
          <a:prstGeom prst="rect">
            <a:avLst/>
          </a:prstGeom>
          <a:noFill/>
          <a:ln/>
        </p:spPr>
        <p:txBody>
          <a:bodyPr wrap="square"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DAMA-DMBOK</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DCAM</a:t>
            </a:r>
            <a:endParaRPr lang="en-US" sz="1200" dirty="0"/>
          </a:p>
        </p:txBody>
      </p:sp>
      <p:sp>
        <p:nvSpPr>
          <p:cNvPr id="9" name="Shape 7"/>
          <p:cNvSpPr/>
          <p:nvPr/>
        </p:nvSpPr>
        <p:spPr>
          <a:xfrm>
            <a:off x="731520" y="4251960"/>
            <a:ext cx="2331720" cy="0"/>
          </a:xfrm>
          <a:prstGeom prst="line">
            <a:avLst/>
          </a:prstGeom>
          <a:noFill/>
          <a:ln w="12700">
            <a:solidFill>
              <a:srgbClr val="E2E8F0"/>
            </a:solidFill>
            <a:prstDash val="solid"/>
          </a:ln>
        </p:spPr>
        <p:txBody>
          <a:bodyPr/>
          <a:lstStyle/>
          <a:p>
            <a:endParaRPr lang="zh-CN" altLang="en-US"/>
          </a:p>
        </p:txBody>
      </p:sp>
      <p:sp>
        <p:nvSpPr>
          <p:cNvPr id="10" name="Text 8"/>
          <p:cNvSpPr/>
          <p:nvPr/>
        </p:nvSpPr>
        <p:spPr>
          <a:xfrm>
            <a:off x="731520" y="4343400"/>
            <a:ext cx="2423160" cy="274320"/>
          </a:xfrm>
          <a:prstGeom prst="rect">
            <a:avLst/>
          </a:prstGeom>
          <a:noFill/>
          <a:ln/>
        </p:spPr>
        <p:txBody>
          <a:bodyPr wrap="square" lIns="0" tIns="0" rIns="0" bIns="0" rtlCol="0" anchor="ctr"/>
          <a:lstStyle/>
          <a:p>
            <a:pPr marL="0" indent="0">
              <a:buNone/>
            </a:pPr>
            <a:r>
              <a:rPr lang="en-US" sz="900" b="1" kern="0" spc="300" dirty="0">
                <a:solidFill>
                  <a:srgbClr val="028090"/>
                </a:solidFill>
                <a:latin typeface="Calibri" pitchFamily="34" charset="0"/>
                <a:ea typeface="Calibri" pitchFamily="34" charset="-122"/>
                <a:cs typeface="Calibri" pitchFamily="34" charset="-120"/>
              </a:rPr>
              <a:t>WHY</a:t>
            </a:r>
            <a:endParaRPr lang="en-US" sz="900" dirty="0"/>
          </a:p>
        </p:txBody>
      </p:sp>
      <p:sp>
        <p:nvSpPr>
          <p:cNvPr id="11" name="Text 9"/>
          <p:cNvSpPr/>
          <p:nvPr/>
        </p:nvSpPr>
        <p:spPr>
          <a:xfrm>
            <a:off x="731520" y="4617720"/>
            <a:ext cx="2377440" cy="1371600"/>
          </a:xfrm>
          <a:prstGeom prst="rect">
            <a:avLst/>
          </a:prstGeom>
          <a:noFill/>
          <a:ln/>
        </p:spPr>
        <p:txBody>
          <a:bodyPr wrap="square" lIns="0" tIns="0" rIns="0" bIns="0" rtlCol="0" anchor="t"/>
          <a:lstStyle/>
          <a:p>
            <a:pPr marL="0" indent="0">
              <a:buNone/>
            </a:pPr>
            <a:r>
              <a:rPr lang="en-US" sz="1100" i="1" dirty="0">
                <a:solidFill>
                  <a:srgbClr val="64748B"/>
                </a:solidFill>
                <a:latin typeface="Calibri" pitchFamily="34" charset="0"/>
                <a:ea typeface="Calibri" pitchFamily="34" charset="-122"/>
                <a:cs typeface="Calibri" pitchFamily="34" charset="-120"/>
              </a:rPr>
              <a:t>Industry standard for data lifecycle + maturity assessment</a:t>
            </a:r>
            <a:endParaRPr lang="en-US" sz="1100" dirty="0"/>
          </a:p>
        </p:txBody>
      </p:sp>
      <p:sp>
        <p:nvSpPr>
          <p:cNvPr id="12" name="Shape 10"/>
          <p:cNvSpPr/>
          <p:nvPr/>
        </p:nvSpPr>
        <p:spPr>
          <a:xfrm>
            <a:off x="3429000" y="1554480"/>
            <a:ext cx="2697480" cy="45720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3" name="Shape 11"/>
          <p:cNvSpPr/>
          <p:nvPr/>
        </p:nvSpPr>
        <p:spPr>
          <a:xfrm>
            <a:off x="3429000" y="1554480"/>
            <a:ext cx="2697480" cy="502920"/>
          </a:xfrm>
          <a:prstGeom prst="rect">
            <a:avLst/>
          </a:prstGeom>
          <a:solidFill>
            <a:srgbClr val="02C39A"/>
          </a:solidFill>
          <a:ln w="12700">
            <a:solidFill>
              <a:srgbClr val="02C39A"/>
            </a:solidFill>
            <a:prstDash val="solid"/>
          </a:ln>
        </p:spPr>
        <p:txBody>
          <a:bodyPr/>
          <a:lstStyle/>
          <a:p>
            <a:endParaRPr lang="zh-CN" altLang="en-US"/>
          </a:p>
        </p:txBody>
      </p:sp>
      <p:sp>
        <p:nvSpPr>
          <p:cNvPr id="14" name="Text 12"/>
          <p:cNvSpPr/>
          <p:nvPr/>
        </p:nvSpPr>
        <p:spPr>
          <a:xfrm>
            <a:off x="3566160" y="1645920"/>
            <a:ext cx="24231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IT governance</a:t>
            </a:r>
            <a:endParaRPr lang="en-US" sz="1300" dirty="0"/>
          </a:p>
        </p:txBody>
      </p:sp>
      <p:sp>
        <p:nvSpPr>
          <p:cNvPr id="15" name="Text 13"/>
          <p:cNvSpPr/>
          <p:nvPr/>
        </p:nvSpPr>
        <p:spPr>
          <a:xfrm>
            <a:off x="3611880" y="2240280"/>
            <a:ext cx="2468880" cy="1828800"/>
          </a:xfrm>
          <a:prstGeom prst="rect">
            <a:avLst/>
          </a:prstGeom>
          <a:noFill/>
          <a:ln/>
        </p:spPr>
        <p:txBody>
          <a:bodyPr wrap="square"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COBIT</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NIST Privacy</a:t>
            </a:r>
            <a:endParaRPr lang="en-US" sz="1200" dirty="0"/>
          </a:p>
        </p:txBody>
      </p:sp>
      <p:sp>
        <p:nvSpPr>
          <p:cNvPr id="16" name="Shape 14"/>
          <p:cNvSpPr/>
          <p:nvPr/>
        </p:nvSpPr>
        <p:spPr>
          <a:xfrm>
            <a:off x="3611880" y="4251960"/>
            <a:ext cx="2331720" cy="0"/>
          </a:xfrm>
          <a:prstGeom prst="line">
            <a:avLst/>
          </a:prstGeom>
          <a:noFill/>
          <a:ln w="12700">
            <a:solidFill>
              <a:srgbClr val="E2E8F0"/>
            </a:solidFill>
            <a:prstDash val="solid"/>
          </a:ln>
        </p:spPr>
        <p:txBody>
          <a:bodyPr/>
          <a:lstStyle/>
          <a:p>
            <a:endParaRPr lang="zh-CN" altLang="en-US"/>
          </a:p>
        </p:txBody>
      </p:sp>
      <p:sp>
        <p:nvSpPr>
          <p:cNvPr id="17" name="Text 15"/>
          <p:cNvSpPr/>
          <p:nvPr/>
        </p:nvSpPr>
        <p:spPr>
          <a:xfrm>
            <a:off x="3611880" y="4343400"/>
            <a:ext cx="2423160" cy="274320"/>
          </a:xfrm>
          <a:prstGeom prst="rect">
            <a:avLst/>
          </a:prstGeom>
          <a:noFill/>
          <a:ln/>
        </p:spPr>
        <p:txBody>
          <a:bodyPr wrap="square" lIns="0" tIns="0" rIns="0" bIns="0" rtlCol="0" anchor="ctr"/>
          <a:lstStyle/>
          <a:p>
            <a:pPr marL="0" indent="0">
              <a:buNone/>
            </a:pPr>
            <a:r>
              <a:rPr lang="en-US" sz="900" b="1" kern="0" spc="300" dirty="0">
                <a:solidFill>
                  <a:srgbClr val="02C39A"/>
                </a:solidFill>
                <a:latin typeface="Calibri" pitchFamily="34" charset="0"/>
                <a:ea typeface="Calibri" pitchFamily="34" charset="-122"/>
                <a:cs typeface="Calibri" pitchFamily="34" charset="-120"/>
              </a:rPr>
              <a:t>WHY</a:t>
            </a:r>
            <a:endParaRPr lang="en-US" sz="900" dirty="0"/>
          </a:p>
        </p:txBody>
      </p:sp>
      <p:sp>
        <p:nvSpPr>
          <p:cNvPr id="18" name="Text 16"/>
          <p:cNvSpPr/>
          <p:nvPr/>
        </p:nvSpPr>
        <p:spPr>
          <a:xfrm>
            <a:off x="3611880" y="4617720"/>
            <a:ext cx="2377440" cy="1371600"/>
          </a:xfrm>
          <a:prstGeom prst="rect">
            <a:avLst/>
          </a:prstGeom>
          <a:noFill/>
          <a:ln/>
        </p:spPr>
        <p:txBody>
          <a:bodyPr wrap="square" lIns="0" tIns="0" rIns="0" bIns="0" rtlCol="0" anchor="t"/>
          <a:lstStyle/>
          <a:p>
            <a:pPr marL="0" indent="0">
              <a:buNone/>
            </a:pPr>
            <a:r>
              <a:rPr lang="en-US" sz="1100" i="1" dirty="0">
                <a:solidFill>
                  <a:srgbClr val="64748B"/>
                </a:solidFill>
                <a:latin typeface="Calibri" pitchFamily="34" charset="0"/>
                <a:ea typeface="Calibri" pitchFamily="34" charset="-122"/>
                <a:cs typeface="Calibri" pitchFamily="34" charset="-120"/>
              </a:rPr>
              <a:t>Audit controls + Zero Trust architecture for digital trust</a:t>
            </a:r>
            <a:endParaRPr lang="en-US" sz="1100" dirty="0"/>
          </a:p>
        </p:txBody>
      </p:sp>
      <p:sp>
        <p:nvSpPr>
          <p:cNvPr id="19" name="Shape 17"/>
          <p:cNvSpPr/>
          <p:nvPr/>
        </p:nvSpPr>
        <p:spPr>
          <a:xfrm>
            <a:off x="6309360" y="1554480"/>
            <a:ext cx="2697480" cy="45720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0" name="Shape 18"/>
          <p:cNvSpPr/>
          <p:nvPr/>
        </p:nvSpPr>
        <p:spPr>
          <a:xfrm>
            <a:off x="6309360" y="1554480"/>
            <a:ext cx="2697480" cy="502920"/>
          </a:xfrm>
          <a:prstGeom prst="rect">
            <a:avLst/>
          </a:prstGeom>
          <a:solidFill>
            <a:srgbClr val="F4A261"/>
          </a:solidFill>
          <a:ln w="12700">
            <a:solidFill>
              <a:srgbClr val="F4A261"/>
            </a:solidFill>
            <a:prstDash val="solid"/>
          </a:ln>
        </p:spPr>
        <p:txBody>
          <a:bodyPr/>
          <a:lstStyle/>
          <a:p>
            <a:endParaRPr lang="zh-CN" altLang="en-US"/>
          </a:p>
        </p:txBody>
      </p:sp>
      <p:sp>
        <p:nvSpPr>
          <p:cNvPr id="21" name="Text 19"/>
          <p:cNvSpPr/>
          <p:nvPr/>
        </p:nvSpPr>
        <p:spPr>
          <a:xfrm>
            <a:off x="6446520" y="1645920"/>
            <a:ext cx="24231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Privacy law</a:t>
            </a:r>
            <a:endParaRPr lang="en-US" sz="1300" dirty="0"/>
          </a:p>
        </p:txBody>
      </p:sp>
      <p:sp>
        <p:nvSpPr>
          <p:cNvPr id="22" name="Text 20"/>
          <p:cNvSpPr/>
          <p:nvPr/>
        </p:nvSpPr>
        <p:spPr>
          <a:xfrm>
            <a:off x="6492240" y="2240280"/>
            <a:ext cx="2468880" cy="1828800"/>
          </a:xfrm>
          <a:prstGeom prst="rect">
            <a:avLst/>
          </a:prstGeom>
          <a:noFill/>
          <a:ln/>
        </p:spPr>
        <p:txBody>
          <a:bodyPr wrap="square"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GDPR + Omnibus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GLBA</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CCPA / CPRA</a:t>
            </a:r>
            <a:endParaRPr lang="en-US" sz="1200" dirty="0"/>
          </a:p>
        </p:txBody>
      </p:sp>
      <p:sp>
        <p:nvSpPr>
          <p:cNvPr id="23" name="Shape 21"/>
          <p:cNvSpPr/>
          <p:nvPr/>
        </p:nvSpPr>
        <p:spPr>
          <a:xfrm>
            <a:off x="6492240" y="4251960"/>
            <a:ext cx="2331720" cy="0"/>
          </a:xfrm>
          <a:prstGeom prst="line">
            <a:avLst/>
          </a:prstGeom>
          <a:noFill/>
          <a:ln w="12700">
            <a:solidFill>
              <a:srgbClr val="E2E8F0"/>
            </a:solidFill>
            <a:prstDash val="solid"/>
          </a:ln>
        </p:spPr>
        <p:txBody>
          <a:bodyPr/>
          <a:lstStyle/>
          <a:p>
            <a:endParaRPr lang="zh-CN" altLang="en-US"/>
          </a:p>
        </p:txBody>
      </p:sp>
      <p:sp>
        <p:nvSpPr>
          <p:cNvPr id="24" name="Text 22"/>
          <p:cNvSpPr/>
          <p:nvPr/>
        </p:nvSpPr>
        <p:spPr>
          <a:xfrm>
            <a:off x="6492240" y="4343400"/>
            <a:ext cx="2423160" cy="274320"/>
          </a:xfrm>
          <a:prstGeom prst="rect">
            <a:avLst/>
          </a:prstGeom>
          <a:noFill/>
          <a:ln/>
        </p:spPr>
        <p:txBody>
          <a:bodyPr wrap="square" lIns="0" tIns="0" rIns="0" bIns="0" rtlCol="0" anchor="ctr"/>
          <a:lstStyle/>
          <a:p>
            <a:pPr marL="0" indent="0">
              <a:buNone/>
            </a:pPr>
            <a:r>
              <a:rPr lang="en-US" sz="900" b="1" kern="0" spc="300" dirty="0">
                <a:solidFill>
                  <a:srgbClr val="F4A261"/>
                </a:solidFill>
                <a:latin typeface="Calibri" pitchFamily="34" charset="0"/>
                <a:ea typeface="Calibri" pitchFamily="34" charset="-122"/>
                <a:cs typeface="Calibri" pitchFamily="34" charset="-120"/>
              </a:rPr>
              <a:t>WHY</a:t>
            </a:r>
            <a:endParaRPr lang="en-US" sz="900" dirty="0"/>
          </a:p>
        </p:txBody>
      </p:sp>
      <p:sp>
        <p:nvSpPr>
          <p:cNvPr id="25" name="Text 23"/>
          <p:cNvSpPr/>
          <p:nvPr/>
        </p:nvSpPr>
        <p:spPr>
          <a:xfrm>
            <a:off x="6492240" y="4617720"/>
            <a:ext cx="2377440" cy="1371600"/>
          </a:xfrm>
          <a:prstGeom prst="rect">
            <a:avLst/>
          </a:prstGeom>
          <a:noFill/>
          <a:ln/>
        </p:spPr>
        <p:txBody>
          <a:bodyPr wrap="square" lIns="0" tIns="0" rIns="0" bIns="0" rtlCol="0" anchor="t"/>
          <a:lstStyle/>
          <a:p>
            <a:pPr marL="0" indent="0">
              <a:buNone/>
            </a:pPr>
            <a:r>
              <a:rPr lang="en-US" sz="1100" i="1" dirty="0">
                <a:solidFill>
                  <a:srgbClr val="64748B"/>
                </a:solidFill>
                <a:latin typeface="Calibri" pitchFamily="34" charset="0"/>
                <a:ea typeface="Calibri" pitchFamily="34" charset="-122"/>
                <a:cs typeface="Calibri" pitchFamily="34" charset="-120"/>
              </a:rPr>
              <a:t>EU, US federal, and US state laws - all three jurisdictions in scope</a:t>
            </a:r>
            <a:endParaRPr lang="en-US" sz="1100" dirty="0"/>
          </a:p>
        </p:txBody>
      </p:sp>
      <p:sp>
        <p:nvSpPr>
          <p:cNvPr id="26" name="Shape 24"/>
          <p:cNvSpPr/>
          <p:nvPr/>
        </p:nvSpPr>
        <p:spPr>
          <a:xfrm>
            <a:off x="9189720" y="1554480"/>
            <a:ext cx="2697480" cy="45720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7" name="Shape 25"/>
          <p:cNvSpPr/>
          <p:nvPr/>
        </p:nvSpPr>
        <p:spPr>
          <a:xfrm>
            <a:off x="9189720" y="1554480"/>
            <a:ext cx="2697480" cy="502920"/>
          </a:xfrm>
          <a:prstGeom prst="rect">
            <a:avLst/>
          </a:prstGeom>
          <a:solidFill>
            <a:srgbClr val="E63946"/>
          </a:solidFill>
          <a:ln w="12700">
            <a:solidFill>
              <a:srgbClr val="E63946"/>
            </a:solidFill>
            <a:prstDash val="solid"/>
          </a:ln>
        </p:spPr>
        <p:txBody>
          <a:bodyPr/>
          <a:lstStyle/>
          <a:p>
            <a:endParaRPr lang="zh-CN" altLang="en-US"/>
          </a:p>
        </p:txBody>
      </p:sp>
      <p:sp>
        <p:nvSpPr>
          <p:cNvPr id="28" name="Text 26"/>
          <p:cNvSpPr/>
          <p:nvPr/>
        </p:nvSpPr>
        <p:spPr>
          <a:xfrm>
            <a:off x="9326880" y="1645920"/>
            <a:ext cx="24231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 ethics</a:t>
            </a:r>
            <a:endParaRPr lang="en-US" sz="1300" dirty="0"/>
          </a:p>
        </p:txBody>
      </p:sp>
      <p:sp>
        <p:nvSpPr>
          <p:cNvPr id="29" name="Text 27"/>
          <p:cNvSpPr/>
          <p:nvPr/>
        </p:nvSpPr>
        <p:spPr>
          <a:xfrm>
            <a:off x="9372600" y="2240280"/>
            <a:ext cx="2468880" cy="1828800"/>
          </a:xfrm>
          <a:prstGeom prst="rect">
            <a:avLst/>
          </a:prstGeom>
          <a:noFill/>
          <a:ln/>
        </p:spPr>
        <p:txBody>
          <a:bodyPr wrap="square"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EU AI Act (2026)</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UNESCO Recommendation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US Nat'l AI Framework</a:t>
            </a:r>
            <a:endParaRPr lang="en-US" sz="1200" dirty="0"/>
          </a:p>
        </p:txBody>
      </p:sp>
      <p:sp>
        <p:nvSpPr>
          <p:cNvPr id="30" name="Shape 28"/>
          <p:cNvSpPr/>
          <p:nvPr/>
        </p:nvSpPr>
        <p:spPr>
          <a:xfrm>
            <a:off x="9372600" y="4251960"/>
            <a:ext cx="2331720" cy="0"/>
          </a:xfrm>
          <a:prstGeom prst="line">
            <a:avLst/>
          </a:prstGeom>
          <a:noFill/>
          <a:ln w="12700">
            <a:solidFill>
              <a:srgbClr val="E2E8F0"/>
            </a:solidFill>
            <a:prstDash val="solid"/>
          </a:ln>
        </p:spPr>
        <p:txBody>
          <a:bodyPr/>
          <a:lstStyle/>
          <a:p>
            <a:endParaRPr lang="zh-CN" altLang="en-US"/>
          </a:p>
        </p:txBody>
      </p:sp>
      <p:sp>
        <p:nvSpPr>
          <p:cNvPr id="31" name="Text 29"/>
          <p:cNvSpPr/>
          <p:nvPr/>
        </p:nvSpPr>
        <p:spPr>
          <a:xfrm>
            <a:off x="9372600" y="4343400"/>
            <a:ext cx="2423160" cy="274320"/>
          </a:xfrm>
          <a:prstGeom prst="rect">
            <a:avLst/>
          </a:prstGeom>
          <a:noFill/>
          <a:ln/>
        </p:spPr>
        <p:txBody>
          <a:bodyPr wrap="square" lIns="0" tIns="0" rIns="0" bIns="0" rtlCol="0" anchor="ctr"/>
          <a:lstStyle/>
          <a:p>
            <a:pPr marL="0" indent="0">
              <a:buNone/>
            </a:pPr>
            <a:r>
              <a:rPr lang="en-US" sz="900" b="1" kern="0" spc="300" dirty="0">
                <a:solidFill>
                  <a:srgbClr val="E63946"/>
                </a:solidFill>
                <a:latin typeface="Calibri" pitchFamily="34" charset="0"/>
                <a:ea typeface="Calibri" pitchFamily="34" charset="-122"/>
                <a:cs typeface="Calibri" pitchFamily="34" charset="-120"/>
              </a:rPr>
              <a:t>WHY</a:t>
            </a:r>
            <a:endParaRPr lang="en-US" sz="900" dirty="0"/>
          </a:p>
        </p:txBody>
      </p:sp>
      <p:sp>
        <p:nvSpPr>
          <p:cNvPr id="32" name="Text 30"/>
          <p:cNvSpPr/>
          <p:nvPr/>
        </p:nvSpPr>
        <p:spPr>
          <a:xfrm>
            <a:off x="9372600" y="4617720"/>
            <a:ext cx="2377440" cy="1371600"/>
          </a:xfrm>
          <a:prstGeom prst="rect">
            <a:avLst/>
          </a:prstGeom>
          <a:noFill/>
          <a:ln/>
        </p:spPr>
        <p:txBody>
          <a:bodyPr wrap="square" lIns="0" tIns="0" rIns="0" bIns="0" rtlCol="0" anchor="t"/>
          <a:lstStyle/>
          <a:p>
            <a:pPr marL="0" indent="0">
              <a:buNone/>
            </a:pPr>
            <a:r>
              <a:rPr lang="en-US" sz="1100" i="1" dirty="0">
                <a:solidFill>
                  <a:srgbClr val="64748B"/>
                </a:solidFill>
                <a:latin typeface="Calibri" pitchFamily="34" charset="0"/>
                <a:ea typeface="Calibri" pitchFamily="34" charset="-122"/>
                <a:cs typeface="Calibri" pitchFamily="34" charset="-120"/>
              </a:rPr>
              <a:t>Three converging standards for high-risk AI</a:t>
            </a:r>
            <a:endParaRPr lang="en-US" sz="1100" dirty="0"/>
          </a:p>
        </p:txBody>
      </p:sp>
      <p:sp>
        <p:nvSpPr>
          <p:cNvPr id="33" name="Shape 31"/>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34" name="Text 32"/>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35" name="Text 33"/>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HOW - DATA FOUNDATION</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Seven sources, one governed hub</a:t>
            </a:r>
            <a:endParaRPr lang="en-US" sz="2800" dirty="0"/>
          </a:p>
        </p:txBody>
      </p:sp>
      <p:sp>
        <p:nvSpPr>
          <p:cNvPr id="5" name="Shape 3"/>
          <p:cNvSpPr/>
          <p:nvPr/>
        </p:nvSpPr>
        <p:spPr>
          <a:xfrm>
            <a:off x="548640" y="1554480"/>
            <a:ext cx="2743200" cy="10972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Shape 4"/>
          <p:cNvSpPr/>
          <p:nvPr/>
        </p:nvSpPr>
        <p:spPr>
          <a:xfrm>
            <a:off x="548640" y="1554480"/>
            <a:ext cx="73152" cy="1097280"/>
          </a:xfrm>
          <a:prstGeom prst="rect">
            <a:avLst/>
          </a:prstGeom>
          <a:solidFill>
            <a:srgbClr val="028090"/>
          </a:solidFill>
          <a:ln w="12700">
            <a:solidFill>
              <a:srgbClr val="028090"/>
            </a:solidFill>
            <a:prstDash val="solid"/>
          </a:ln>
        </p:spPr>
        <p:txBody>
          <a:bodyPr/>
          <a:lstStyle/>
          <a:p>
            <a:endParaRPr lang="zh-CN" altLang="en-US"/>
          </a:p>
        </p:txBody>
      </p:sp>
      <p:sp>
        <p:nvSpPr>
          <p:cNvPr id="7" name="Text 5"/>
          <p:cNvSpPr/>
          <p:nvPr/>
        </p:nvSpPr>
        <p:spPr>
          <a:xfrm>
            <a:off x="777240" y="1645920"/>
            <a:ext cx="24688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7</a:t>
            </a:r>
            <a:endParaRPr lang="en-US" sz="2800" dirty="0"/>
          </a:p>
        </p:txBody>
      </p:sp>
      <p:sp>
        <p:nvSpPr>
          <p:cNvPr id="8" name="Text 6"/>
          <p:cNvSpPr/>
          <p:nvPr/>
        </p:nvSpPr>
        <p:spPr>
          <a:xfrm>
            <a:off x="777240" y="2240280"/>
            <a:ext cx="24688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Source datasets</a:t>
            </a:r>
            <a:endParaRPr lang="en-US" sz="1100" dirty="0"/>
          </a:p>
        </p:txBody>
      </p:sp>
      <p:sp>
        <p:nvSpPr>
          <p:cNvPr id="9" name="Shape 7"/>
          <p:cNvSpPr/>
          <p:nvPr/>
        </p:nvSpPr>
        <p:spPr>
          <a:xfrm>
            <a:off x="3429000" y="1554480"/>
            <a:ext cx="2743200" cy="10972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0" name="Shape 8"/>
          <p:cNvSpPr/>
          <p:nvPr/>
        </p:nvSpPr>
        <p:spPr>
          <a:xfrm>
            <a:off x="3429000" y="1554480"/>
            <a:ext cx="73152" cy="1097280"/>
          </a:xfrm>
          <a:prstGeom prst="rect">
            <a:avLst/>
          </a:prstGeom>
          <a:solidFill>
            <a:srgbClr val="02C39A"/>
          </a:solidFill>
          <a:ln w="12700">
            <a:solidFill>
              <a:srgbClr val="02C39A"/>
            </a:solidFill>
            <a:prstDash val="solid"/>
          </a:ln>
        </p:spPr>
        <p:txBody>
          <a:bodyPr/>
          <a:lstStyle/>
          <a:p>
            <a:endParaRPr lang="zh-CN" altLang="en-US"/>
          </a:p>
        </p:txBody>
      </p:sp>
      <p:sp>
        <p:nvSpPr>
          <p:cNvPr id="11" name="Text 9"/>
          <p:cNvSpPr/>
          <p:nvPr/>
        </p:nvSpPr>
        <p:spPr>
          <a:xfrm>
            <a:off x="3657600" y="1645920"/>
            <a:ext cx="24688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33,197</a:t>
            </a:r>
            <a:endParaRPr lang="en-US" sz="2800" dirty="0"/>
          </a:p>
        </p:txBody>
      </p:sp>
      <p:sp>
        <p:nvSpPr>
          <p:cNvPr id="12" name="Text 10"/>
          <p:cNvSpPr/>
          <p:nvPr/>
        </p:nvSpPr>
        <p:spPr>
          <a:xfrm>
            <a:off x="3657600" y="2240280"/>
            <a:ext cx="24688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Synthetic rows</a:t>
            </a:r>
            <a:endParaRPr lang="en-US" sz="1100" dirty="0"/>
          </a:p>
        </p:txBody>
      </p:sp>
      <p:sp>
        <p:nvSpPr>
          <p:cNvPr id="13" name="Shape 11"/>
          <p:cNvSpPr/>
          <p:nvPr/>
        </p:nvSpPr>
        <p:spPr>
          <a:xfrm>
            <a:off x="6309360" y="1554480"/>
            <a:ext cx="2743200" cy="10972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4" name="Shape 12"/>
          <p:cNvSpPr/>
          <p:nvPr/>
        </p:nvSpPr>
        <p:spPr>
          <a:xfrm>
            <a:off x="6309360" y="1554480"/>
            <a:ext cx="73152" cy="1097280"/>
          </a:xfrm>
          <a:prstGeom prst="rect">
            <a:avLst/>
          </a:prstGeom>
          <a:solidFill>
            <a:srgbClr val="F4A261"/>
          </a:solidFill>
          <a:ln w="12700">
            <a:solidFill>
              <a:srgbClr val="F4A261"/>
            </a:solidFill>
            <a:prstDash val="solid"/>
          </a:ln>
        </p:spPr>
        <p:txBody>
          <a:bodyPr/>
          <a:lstStyle/>
          <a:p>
            <a:endParaRPr lang="zh-CN" altLang="en-US"/>
          </a:p>
        </p:txBody>
      </p:sp>
      <p:sp>
        <p:nvSpPr>
          <p:cNvPr id="15" name="Text 13"/>
          <p:cNvSpPr/>
          <p:nvPr/>
        </p:nvSpPr>
        <p:spPr>
          <a:xfrm>
            <a:off x="6537960" y="1645920"/>
            <a:ext cx="24688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98</a:t>
            </a:r>
            <a:endParaRPr lang="en-US" sz="2800" dirty="0"/>
          </a:p>
        </p:txBody>
      </p:sp>
      <p:sp>
        <p:nvSpPr>
          <p:cNvPr id="16" name="Text 14"/>
          <p:cNvSpPr/>
          <p:nvPr/>
        </p:nvSpPr>
        <p:spPr>
          <a:xfrm>
            <a:off x="6537960" y="2240280"/>
            <a:ext cx="24688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Governed columns</a:t>
            </a:r>
            <a:endParaRPr lang="en-US" sz="1100" dirty="0"/>
          </a:p>
        </p:txBody>
      </p:sp>
      <p:sp>
        <p:nvSpPr>
          <p:cNvPr id="17" name="Shape 15"/>
          <p:cNvSpPr/>
          <p:nvPr/>
        </p:nvSpPr>
        <p:spPr>
          <a:xfrm>
            <a:off x="9189720" y="1554480"/>
            <a:ext cx="2423160" cy="10972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8" name="Shape 16"/>
          <p:cNvSpPr/>
          <p:nvPr/>
        </p:nvSpPr>
        <p:spPr>
          <a:xfrm>
            <a:off x="9189720" y="1554480"/>
            <a:ext cx="73152" cy="1097280"/>
          </a:xfrm>
          <a:prstGeom prst="rect">
            <a:avLst/>
          </a:prstGeom>
          <a:solidFill>
            <a:srgbClr val="E63946"/>
          </a:solidFill>
          <a:ln w="12700">
            <a:solidFill>
              <a:srgbClr val="E63946"/>
            </a:solidFill>
            <a:prstDash val="solid"/>
          </a:ln>
        </p:spPr>
        <p:txBody>
          <a:bodyPr/>
          <a:lstStyle/>
          <a:p>
            <a:endParaRPr lang="zh-CN" altLang="en-US"/>
          </a:p>
        </p:txBody>
      </p:sp>
      <p:sp>
        <p:nvSpPr>
          <p:cNvPr id="19" name="Text 17"/>
          <p:cNvSpPr/>
          <p:nvPr/>
        </p:nvSpPr>
        <p:spPr>
          <a:xfrm>
            <a:off x="9418320" y="1645920"/>
            <a:ext cx="214884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4 tiers</a:t>
            </a:r>
            <a:endParaRPr lang="en-US" sz="2800" dirty="0"/>
          </a:p>
        </p:txBody>
      </p:sp>
      <p:sp>
        <p:nvSpPr>
          <p:cNvPr id="20" name="Text 18"/>
          <p:cNvSpPr/>
          <p:nvPr/>
        </p:nvSpPr>
        <p:spPr>
          <a:xfrm>
            <a:off x="9418320" y="2240280"/>
            <a:ext cx="214884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Classification</a:t>
            </a:r>
            <a:endParaRPr lang="en-US" sz="1100" dirty="0"/>
          </a:p>
        </p:txBody>
      </p:sp>
      <p:sp>
        <p:nvSpPr>
          <p:cNvPr id="21" name="Shape 19"/>
          <p:cNvSpPr/>
          <p:nvPr/>
        </p:nvSpPr>
        <p:spPr>
          <a:xfrm>
            <a:off x="548640" y="2834640"/>
            <a:ext cx="11064240" cy="347472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2" name="Text 20"/>
          <p:cNvSpPr/>
          <p:nvPr/>
        </p:nvSpPr>
        <p:spPr>
          <a:xfrm>
            <a:off x="777240" y="2971800"/>
            <a:ext cx="1060704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THE SEVEN SOURCE DATASETS</a:t>
            </a:r>
            <a:endParaRPr lang="en-US" sz="1100" dirty="0"/>
          </a:p>
        </p:txBody>
      </p:sp>
      <p:sp>
        <p:nvSpPr>
          <p:cNvPr id="23" name="Shape 21"/>
          <p:cNvSpPr/>
          <p:nvPr/>
        </p:nvSpPr>
        <p:spPr>
          <a:xfrm>
            <a:off x="777240" y="3291840"/>
            <a:ext cx="10607040" cy="868680"/>
          </a:xfrm>
          <a:prstGeom prst="rect">
            <a:avLst/>
          </a:prstGeom>
          <a:solidFill>
            <a:srgbClr val="0B1D3A"/>
          </a:solidFill>
          <a:ln w="12700">
            <a:solidFill>
              <a:srgbClr val="0B1D3A"/>
            </a:solidFill>
            <a:prstDash val="solid"/>
          </a:ln>
        </p:spPr>
        <p:txBody>
          <a:bodyPr/>
          <a:lstStyle/>
          <a:p>
            <a:endParaRPr lang="zh-CN" altLang="en-US"/>
          </a:p>
        </p:txBody>
      </p:sp>
      <p:sp>
        <p:nvSpPr>
          <p:cNvPr id="24" name="Shape 22"/>
          <p:cNvSpPr/>
          <p:nvPr/>
        </p:nvSpPr>
        <p:spPr>
          <a:xfrm>
            <a:off x="777240" y="3291840"/>
            <a:ext cx="164592" cy="868680"/>
          </a:xfrm>
          <a:prstGeom prst="rect">
            <a:avLst/>
          </a:prstGeom>
          <a:solidFill>
            <a:srgbClr val="02C39A"/>
          </a:solidFill>
          <a:ln w="12700">
            <a:solidFill>
              <a:srgbClr val="02C39A"/>
            </a:solidFill>
            <a:prstDash val="solid"/>
          </a:ln>
        </p:spPr>
        <p:txBody>
          <a:bodyPr/>
          <a:lstStyle/>
          <a:p>
            <a:endParaRPr lang="zh-CN" altLang="en-US"/>
          </a:p>
        </p:txBody>
      </p:sp>
      <p:sp>
        <p:nvSpPr>
          <p:cNvPr id="25" name="Text 23"/>
          <p:cNvSpPr/>
          <p:nvPr/>
        </p:nvSpPr>
        <p:spPr>
          <a:xfrm>
            <a:off x="1051560" y="3337560"/>
            <a:ext cx="548640" cy="274320"/>
          </a:xfrm>
          <a:prstGeom prst="rect">
            <a:avLst/>
          </a:prstGeom>
          <a:noFill/>
          <a:ln/>
        </p:spPr>
        <p:txBody>
          <a:bodyPr wrap="square" lIns="0" tIns="0" rIns="0" bIns="0" rtlCol="0" anchor="ctr"/>
          <a:lstStyle/>
          <a:p>
            <a:pPr marL="0" indent="0">
              <a:buNone/>
            </a:pPr>
            <a:r>
              <a:rPr lang="en-US" sz="900" b="1" kern="0" spc="300" dirty="0">
                <a:solidFill>
                  <a:srgbClr val="02C39A"/>
                </a:solidFill>
                <a:latin typeface="Calibri" pitchFamily="34" charset="0"/>
                <a:ea typeface="Calibri" pitchFamily="34" charset="-122"/>
                <a:cs typeface="Calibri" pitchFamily="34" charset="-120"/>
              </a:rPr>
              <a:t>HUB</a:t>
            </a:r>
            <a:endParaRPr lang="en-US" sz="900" dirty="0"/>
          </a:p>
        </p:txBody>
      </p:sp>
      <p:sp>
        <p:nvSpPr>
          <p:cNvPr id="26" name="Text 24"/>
          <p:cNvSpPr/>
          <p:nvPr/>
        </p:nvSpPr>
        <p:spPr>
          <a:xfrm>
            <a:off x="1051560" y="3566160"/>
            <a:ext cx="4114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aml_transactions</a:t>
            </a:r>
            <a:endParaRPr lang="en-US" sz="1800" dirty="0"/>
          </a:p>
        </p:txBody>
      </p:sp>
      <p:sp>
        <p:nvSpPr>
          <p:cNvPr id="27" name="Text 25"/>
          <p:cNvSpPr/>
          <p:nvPr/>
        </p:nvSpPr>
        <p:spPr>
          <a:xfrm>
            <a:off x="5212080" y="3520440"/>
            <a:ext cx="6126480"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5,000 rows  |  21 columns  |  PII-rich  |  AML flags + risk scores</a:t>
            </a:r>
            <a:endParaRPr lang="en-US" sz="1100" dirty="0"/>
          </a:p>
        </p:txBody>
      </p:sp>
      <p:sp>
        <p:nvSpPr>
          <p:cNvPr id="28" name="Text 26"/>
          <p:cNvSpPr/>
          <p:nvPr/>
        </p:nvSpPr>
        <p:spPr>
          <a:xfrm>
            <a:off x="5212080" y="3822192"/>
            <a:ext cx="6126480" cy="292608"/>
          </a:xfrm>
          <a:prstGeom prst="rect">
            <a:avLst/>
          </a:prstGeom>
          <a:noFill/>
          <a:ln/>
        </p:spPr>
        <p:txBody>
          <a:bodyPr wrap="square" lIns="0" tIns="0" rIns="0" bIns="0" rtlCol="0" anchor="ctr"/>
          <a:lstStyle/>
          <a:p>
            <a:pPr marL="0" indent="0">
              <a:buNone/>
            </a:pPr>
            <a:r>
              <a:rPr lang="en-US" sz="1000" i="1" dirty="0">
                <a:solidFill>
                  <a:srgbClr val="02C39A"/>
                </a:solidFill>
                <a:latin typeface="Calibri" pitchFamily="34" charset="0"/>
                <a:ea typeface="Calibri" pitchFamily="34" charset="-122"/>
                <a:cs typeface="Calibri" pitchFamily="34" charset="-120"/>
              </a:rPr>
              <a:t>Every other dataset joins to this one - the governance backbone.</a:t>
            </a:r>
            <a:endParaRPr lang="en-US" sz="1000" dirty="0"/>
          </a:p>
        </p:txBody>
      </p:sp>
      <p:sp>
        <p:nvSpPr>
          <p:cNvPr id="29" name="Shape 27"/>
          <p:cNvSpPr/>
          <p:nvPr/>
        </p:nvSpPr>
        <p:spPr>
          <a:xfrm>
            <a:off x="777240" y="4343400"/>
            <a:ext cx="3438144" cy="822960"/>
          </a:xfrm>
          <a:prstGeom prst="rect">
            <a:avLst/>
          </a:prstGeom>
          <a:solidFill>
            <a:srgbClr val="FFFFFF"/>
          </a:solidFill>
          <a:ln w="12700">
            <a:solidFill>
              <a:srgbClr val="E2E8F0"/>
            </a:solidFill>
            <a:prstDash val="solid"/>
          </a:ln>
        </p:spPr>
        <p:txBody>
          <a:bodyPr/>
          <a:lstStyle/>
          <a:p>
            <a:endParaRPr lang="zh-CN" altLang="en-US"/>
          </a:p>
        </p:txBody>
      </p:sp>
      <p:sp>
        <p:nvSpPr>
          <p:cNvPr id="30" name="Shape 28"/>
          <p:cNvSpPr/>
          <p:nvPr/>
        </p:nvSpPr>
        <p:spPr>
          <a:xfrm>
            <a:off x="777240" y="4343400"/>
            <a:ext cx="109728" cy="822960"/>
          </a:xfrm>
          <a:prstGeom prst="rect">
            <a:avLst/>
          </a:prstGeom>
          <a:solidFill>
            <a:srgbClr val="028090"/>
          </a:solidFill>
          <a:ln w="12700">
            <a:solidFill>
              <a:srgbClr val="028090"/>
            </a:solidFill>
            <a:prstDash val="solid"/>
          </a:ln>
        </p:spPr>
        <p:txBody>
          <a:bodyPr/>
          <a:lstStyle/>
          <a:p>
            <a:endParaRPr lang="zh-CN" altLang="en-US"/>
          </a:p>
        </p:txBody>
      </p:sp>
      <p:sp>
        <p:nvSpPr>
          <p:cNvPr id="31" name="Text 29"/>
          <p:cNvSpPr/>
          <p:nvPr/>
        </p:nvSpPr>
        <p:spPr>
          <a:xfrm>
            <a:off x="1005840" y="4416552"/>
            <a:ext cx="228600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Bank Marketing</a:t>
            </a:r>
            <a:endParaRPr lang="en-US" sz="1300" dirty="0"/>
          </a:p>
        </p:txBody>
      </p:sp>
      <p:sp>
        <p:nvSpPr>
          <p:cNvPr id="32" name="Text 30"/>
          <p:cNvSpPr/>
          <p:nvPr/>
        </p:nvSpPr>
        <p:spPr>
          <a:xfrm>
            <a:off x="1005840" y="4754880"/>
            <a:ext cx="2286000" cy="32004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Demographics + PII</a:t>
            </a:r>
            <a:endParaRPr lang="en-US" sz="1000" dirty="0"/>
          </a:p>
        </p:txBody>
      </p:sp>
      <p:sp>
        <p:nvSpPr>
          <p:cNvPr id="33" name="Text 31"/>
          <p:cNvSpPr/>
          <p:nvPr/>
        </p:nvSpPr>
        <p:spPr>
          <a:xfrm>
            <a:off x="3291840" y="4416552"/>
            <a:ext cx="868680" cy="411480"/>
          </a:xfrm>
          <a:prstGeom prst="rect">
            <a:avLst/>
          </a:prstGeom>
          <a:noFill/>
          <a:ln/>
        </p:spPr>
        <p:txBody>
          <a:bodyPr wrap="square" lIns="0" tIns="0" rIns="0" bIns="0" rtlCol="0" anchor="ctr"/>
          <a:lstStyle/>
          <a:p>
            <a:pPr marL="0" indent="0" algn="r">
              <a:buNone/>
            </a:pPr>
            <a:r>
              <a:rPr lang="en-US" sz="1600" b="1" dirty="0">
                <a:solidFill>
                  <a:srgbClr val="028090"/>
                </a:solidFill>
                <a:latin typeface="Calibri" pitchFamily="34" charset="0"/>
                <a:ea typeface="Calibri" pitchFamily="34" charset="-122"/>
                <a:cs typeface="Calibri" pitchFamily="34" charset="-120"/>
              </a:rPr>
              <a:t>4,000</a:t>
            </a:r>
            <a:endParaRPr lang="en-US" sz="1600" dirty="0"/>
          </a:p>
        </p:txBody>
      </p:sp>
      <p:sp>
        <p:nvSpPr>
          <p:cNvPr id="34" name="Text 32"/>
          <p:cNvSpPr/>
          <p:nvPr/>
        </p:nvSpPr>
        <p:spPr>
          <a:xfrm>
            <a:off x="3291840" y="480060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rows</a:t>
            </a:r>
            <a:endParaRPr lang="en-US" sz="900" dirty="0"/>
          </a:p>
        </p:txBody>
      </p:sp>
      <p:sp>
        <p:nvSpPr>
          <p:cNvPr id="35" name="Shape 33"/>
          <p:cNvSpPr/>
          <p:nvPr/>
        </p:nvSpPr>
        <p:spPr>
          <a:xfrm>
            <a:off x="4361688" y="4343400"/>
            <a:ext cx="3438144" cy="822960"/>
          </a:xfrm>
          <a:prstGeom prst="rect">
            <a:avLst/>
          </a:prstGeom>
          <a:solidFill>
            <a:srgbClr val="FFFFFF"/>
          </a:solidFill>
          <a:ln w="12700">
            <a:solidFill>
              <a:srgbClr val="E2E8F0"/>
            </a:solidFill>
            <a:prstDash val="solid"/>
          </a:ln>
        </p:spPr>
        <p:txBody>
          <a:bodyPr/>
          <a:lstStyle/>
          <a:p>
            <a:endParaRPr lang="zh-CN" altLang="en-US"/>
          </a:p>
        </p:txBody>
      </p:sp>
      <p:sp>
        <p:nvSpPr>
          <p:cNvPr id="36" name="Shape 34"/>
          <p:cNvSpPr/>
          <p:nvPr/>
        </p:nvSpPr>
        <p:spPr>
          <a:xfrm>
            <a:off x="4361688" y="4343400"/>
            <a:ext cx="109728" cy="822960"/>
          </a:xfrm>
          <a:prstGeom prst="rect">
            <a:avLst/>
          </a:prstGeom>
          <a:solidFill>
            <a:srgbClr val="02C39A"/>
          </a:solidFill>
          <a:ln w="12700">
            <a:solidFill>
              <a:srgbClr val="02C39A"/>
            </a:solidFill>
            <a:prstDash val="solid"/>
          </a:ln>
        </p:spPr>
        <p:txBody>
          <a:bodyPr/>
          <a:lstStyle/>
          <a:p>
            <a:endParaRPr lang="zh-CN" altLang="en-US"/>
          </a:p>
        </p:txBody>
      </p:sp>
      <p:sp>
        <p:nvSpPr>
          <p:cNvPr id="37" name="Text 35"/>
          <p:cNvSpPr/>
          <p:nvPr/>
        </p:nvSpPr>
        <p:spPr>
          <a:xfrm>
            <a:off x="4590288" y="4416552"/>
            <a:ext cx="228600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SEC EDGAR</a:t>
            </a:r>
            <a:endParaRPr lang="en-US" sz="1300" dirty="0"/>
          </a:p>
        </p:txBody>
      </p:sp>
      <p:sp>
        <p:nvSpPr>
          <p:cNvPr id="38" name="Text 36"/>
          <p:cNvSpPr/>
          <p:nvPr/>
        </p:nvSpPr>
        <p:spPr>
          <a:xfrm>
            <a:off x="4590288" y="4754880"/>
            <a:ext cx="2286000" cy="32004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KYC validation</a:t>
            </a:r>
            <a:endParaRPr lang="en-US" sz="1000" dirty="0"/>
          </a:p>
        </p:txBody>
      </p:sp>
      <p:sp>
        <p:nvSpPr>
          <p:cNvPr id="39" name="Text 37"/>
          <p:cNvSpPr/>
          <p:nvPr/>
        </p:nvSpPr>
        <p:spPr>
          <a:xfrm>
            <a:off x="6876288" y="4416552"/>
            <a:ext cx="868680" cy="411480"/>
          </a:xfrm>
          <a:prstGeom prst="rect">
            <a:avLst/>
          </a:prstGeom>
          <a:noFill/>
          <a:ln/>
        </p:spPr>
        <p:txBody>
          <a:bodyPr wrap="square" lIns="0" tIns="0" rIns="0" bIns="0" rtlCol="0" anchor="ctr"/>
          <a:lstStyle/>
          <a:p>
            <a:pPr marL="0" indent="0" algn="r">
              <a:buNone/>
            </a:pPr>
            <a:r>
              <a:rPr lang="en-US" sz="1600" b="1" dirty="0">
                <a:solidFill>
                  <a:srgbClr val="02C39A"/>
                </a:solidFill>
                <a:latin typeface="Calibri" pitchFamily="34" charset="0"/>
                <a:ea typeface="Calibri" pitchFamily="34" charset="-122"/>
                <a:cs typeface="Calibri" pitchFamily="34" charset="-120"/>
              </a:rPr>
              <a:t>800</a:t>
            </a:r>
            <a:endParaRPr lang="en-US" sz="1600" dirty="0"/>
          </a:p>
        </p:txBody>
      </p:sp>
      <p:sp>
        <p:nvSpPr>
          <p:cNvPr id="40" name="Text 38"/>
          <p:cNvSpPr/>
          <p:nvPr/>
        </p:nvSpPr>
        <p:spPr>
          <a:xfrm>
            <a:off x="6876288" y="480060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rows</a:t>
            </a:r>
            <a:endParaRPr lang="en-US" sz="900" dirty="0"/>
          </a:p>
        </p:txBody>
      </p:sp>
      <p:sp>
        <p:nvSpPr>
          <p:cNvPr id="41" name="Shape 39"/>
          <p:cNvSpPr/>
          <p:nvPr/>
        </p:nvSpPr>
        <p:spPr>
          <a:xfrm>
            <a:off x="7946136" y="4343400"/>
            <a:ext cx="3438144" cy="822960"/>
          </a:xfrm>
          <a:prstGeom prst="rect">
            <a:avLst/>
          </a:prstGeom>
          <a:solidFill>
            <a:srgbClr val="FFFFFF"/>
          </a:solidFill>
          <a:ln w="12700">
            <a:solidFill>
              <a:srgbClr val="E2E8F0"/>
            </a:solidFill>
            <a:prstDash val="solid"/>
          </a:ln>
        </p:spPr>
        <p:txBody>
          <a:bodyPr/>
          <a:lstStyle/>
          <a:p>
            <a:endParaRPr lang="zh-CN" altLang="en-US"/>
          </a:p>
        </p:txBody>
      </p:sp>
      <p:sp>
        <p:nvSpPr>
          <p:cNvPr id="42" name="Shape 40"/>
          <p:cNvSpPr/>
          <p:nvPr/>
        </p:nvSpPr>
        <p:spPr>
          <a:xfrm>
            <a:off x="7946136" y="4343400"/>
            <a:ext cx="109728" cy="822960"/>
          </a:xfrm>
          <a:prstGeom prst="rect">
            <a:avLst/>
          </a:prstGeom>
          <a:solidFill>
            <a:srgbClr val="F4A261"/>
          </a:solidFill>
          <a:ln w="12700">
            <a:solidFill>
              <a:srgbClr val="F4A261"/>
            </a:solidFill>
            <a:prstDash val="solid"/>
          </a:ln>
        </p:spPr>
        <p:txBody>
          <a:bodyPr/>
          <a:lstStyle/>
          <a:p>
            <a:endParaRPr lang="zh-CN" altLang="en-US"/>
          </a:p>
        </p:txBody>
      </p:sp>
      <p:sp>
        <p:nvSpPr>
          <p:cNvPr id="43" name="Text 41"/>
          <p:cNvSpPr/>
          <p:nvPr/>
        </p:nvSpPr>
        <p:spPr>
          <a:xfrm>
            <a:off x="8174736" y="4416552"/>
            <a:ext cx="228600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PaySim (fraud)</a:t>
            </a:r>
            <a:endParaRPr lang="en-US" sz="1300" dirty="0"/>
          </a:p>
        </p:txBody>
      </p:sp>
      <p:sp>
        <p:nvSpPr>
          <p:cNvPr id="44" name="Text 42"/>
          <p:cNvSpPr/>
          <p:nvPr/>
        </p:nvSpPr>
        <p:spPr>
          <a:xfrm>
            <a:off x="8174736" y="4754880"/>
            <a:ext cx="2286000" cy="32004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Fraud model train</a:t>
            </a:r>
            <a:endParaRPr lang="en-US" sz="1000" dirty="0"/>
          </a:p>
        </p:txBody>
      </p:sp>
      <p:sp>
        <p:nvSpPr>
          <p:cNvPr id="45" name="Text 43"/>
          <p:cNvSpPr/>
          <p:nvPr/>
        </p:nvSpPr>
        <p:spPr>
          <a:xfrm>
            <a:off x="10460736" y="4416552"/>
            <a:ext cx="868680" cy="411480"/>
          </a:xfrm>
          <a:prstGeom prst="rect">
            <a:avLst/>
          </a:prstGeom>
          <a:noFill/>
          <a:ln/>
        </p:spPr>
        <p:txBody>
          <a:bodyPr wrap="square" lIns="0" tIns="0" rIns="0" bIns="0" rtlCol="0" anchor="ctr"/>
          <a:lstStyle/>
          <a:p>
            <a:pPr marL="0" indent="0" algn="r">
              <a:buNone/>
            </a:pPr>
            <a:r>
              <a:rPr lang="en-US" sz="1600" b="1" dirty="0">
                <a:solidFill>
                  <a:srgbClr val="F4A261"/>
                </a:solidFill>
                <a:latin typeface="Calibri" pitchFamily="34" charset="0"/>
                <a:ea typeface="Calibri" pitchFamily="34" charset="-122"/>
                <a:cs typeface="Calibri" pitchFamily="34" charset="-120"/>
              </a:rPr>
              <a:t>15,000</a:t>
            </a:r>
            <a:endParaRPr lang="en-US" sz="1600" dirty="0"/>
          </a:p>
        </p:txBody>
      </p:sp>
      <p:sp>
        <p:nvSpPr>
          <p:cNvPr id="46" name="Text 44"/>
          <p:cNvSpPr/>
          <p:nvPr/>
        </p:nvSpPr>
        <p:spPr>
          <a:xfrm>
            <a:off x="10460736" y="480060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rows</a:t>
            </a:r>
            <a:endParaRPr lang="en-US" sz="900" dirty="0"/>
          </a:p>
        </p:txBody>
      </p:sp>
      <p:sp>
        <p:nvSpPr>
          <p:cNvPr id="47" name="Shape 45"/>
          <p:cNvSpPr/>
          <p:nvPr/>
        </p:nvSpPr>
        <p:spPr>
          <a:xfrm>
            <a:off x="777240" y="5257800"/>
            <a:ext cx="3438144" cy="822960"/>
          </a:xfrm>
          <a:prstGeom prst="rect">
            <a:avLst/>
          </a:prstGeom>
          <a:solidFill>
            <a:srgbClr val="FFFFFF"/>
          </a:solidFill>
          <a:ln w="12700">
            <a:solidFill>
              <a:srgbClr val="E2E8F0"/>
            </a:solidFill>
            <a:prstDash val="solid"/>
          </a:ln>
        </p:spPr>
        <p:txBody>
          <a:bodyPr/>
          <a:lstStyle/>
          <a:p>
            <a:endParaRPr lang="zh-CN" altLang="en-US"/>
          </a:p>
        </p:txBody>
      </p:sp>
      <p:sp>
        <p:nvSpPr>
          <p:cNvPr id="48" name="Shape 46"/>
          <p:cNvSpPr/>
          <p:nvPr/>
        </p:nvSpPr>
        <p:spPr>
          <a:xfrm>
            <a:off x="777240" y="5257800"/>
            <a:ext cx="109728" cy="822960"/>
          </a:xfrm>
          <a:prstGeom prst="rect">
            <a:avLst/>
          </a:prstGeom>
          <a:solidFill>
            <a:srgbClr val="028090"/>
          </a:solidFill>
          <a:ln w="12700">
            <a:solidFill>
              <a:srgbClr val="028090"/>
            </a:solidFill>
            <a:prstDash val="solid"/>
          </a:ln>
        </p:spPr>
        <p:txBody>
          <a:bodyPr/>
          <a:lstStyle/>
          <a:p>
            <a:endParaRPr lang="zh-CN" altLang="en-US"/>
          </a:p>
        </p:txBody>
      </p:sp>
      <p:sp>
        <p:nvSpPr>
          <p:cNvPr id="49" name="Text 47"/>
          <p:cNvSpPr/>
          <p:nvPr/>
        </p:nvSpPr>
        <p:spPr>
          <a:xfrm>
            <a:off x="1005840" y="5330952"/>
            <a:ext cx="228600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ECB Statistics</a:t>
            </a:r>
            <a:endParaRPr lang="en-US" sz="1300" dirty="0"/>
          </a:p>
        </p:txBody>
      </p:sp>
      <p:sp>
        <p:nvSpPr>
          <p:cNvPr id="50" name="Text 48"/>
          <p:cNvSpPr/>
          <p:nvPr/>
        </p:nvSpPr>
        <p:spPr>
          <a:xfrm>
            <a:off x="1005840" y="5669280"/>
            <a:ext cx="2286000" cy="32004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FX + policy rates</a:t>
            </a:r>
            <a:endParaRPr lang="en-US" sz="1000" dirty="0"/>
          </a:p>
        </p:txBody>
      </p:sp>
      <p:sp>
        <p:nvSpPr>
          <p:cNvPr id="51" name="Text 49"/>
          <p:cNvSpPr/>
          <p:nvPr/>
        </p:nvSpPr>
        <p:spPr>
          <a:xfrm>
            <a:off x="3291840" y="5330952"/>
            <a:ext cx="868680" cy="411480"/>
          </a:xfrm>
          <a:prstGeom prst="rect">
            <a:avLst/>
          </a:prstGeom>
          <a:noFill/>
          <a:ln/>
        </p:spPr>
        <p:txBody>
          <a:bodyPr wrap="square" lIns="0" tIns="0" rIns="0" bIns="0" rtlCol="0" anchor="ctr"/>
          <a:lstStyle/>
          <a:p>
            <a:pPr marL="0" indent="0" algn="r">
              <a:buNone/>
            </a:pPr>
            <a:r>
              <a:rPr lang="en-US" sz="1600" b="1" dirty="0">
                <a:solidFill>
                  <a:srgbClr val="028090"/>
                </a:solidFill>
                <a:latin typeface="Calibri" pitchFamily="34" charset="0"/>
                <a:ea typeface="Calibri" pitchFamily="34" charset="-122"/>
                <a:cs typeface="Calibri" pitchFamily="34" charset="-120"/>
              </a:rPr>
              <a:t>8,000</a:t>
            </a:r>
            <a:endParaRPr lang="en-US" sz="1600" dirty="0"/>
          </a:p>
        </p:txBody>
      </p:sp>
      <p:sp>
        <p:nvSpPr>
          <p:cNvPr id="52" name="Text 50"/>
          <p:cNvSpPr/>
          <p:nvPr/>
        </p:nvSpPr>
        <p:spPr>
          <a:xfrm>
            <a:off x="3291840" y="571500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rows</a:t>
            </a:r>
            <a:endParaRPr lang="en-US" sz="900" dirty="0"/>
          </a:p>
        </p:txBody>
      </p:sp>
      <p:sp>
        <p:nvSpPr>
          <p:cNvPr id="53" name="Shape 51"/>
          <p:cNvSpPr/>
          <p:nvPr/>
        </p:nvSpPr>
        <p:spPr>
          <a:xfrm>
            <a:off x="4361688" y="5257800"/>
            <a:ext cx="3438144" cy="822960"/>
          </a:xfrm>
          <a:prstGeom prst="rect">
            <a:avLst/>
          </a:prstGeom>
          <a:solidFill>
            <a:srgbClr val="FFFFFF"/>
          </a:solidFill>
          <a:ln w="12700">
            <a:solidFill>
              <a:srgbClr val="E2E8F0"/>
            </a:solidFill>
            <a:prstDash val="solid"/>
          </a:ln>
        </p:spPr>
        <p:txBody>
          <a:bodyPr/>
          <a:lstStyle/>
          <a:p>
            <a:endParaRPr lang="zh-CN" altLang="en-US"/>
          </a:p>
        </p:txBody>
      </p:sp>
      <p:sp>
        <p:nvSpPr>
          <p:cNvPr id="54" name="Shape 52"/>
          <p:cNvSpPr/>
          <p:nvPr/>
        </p:nvSpPr>
        <p:spPr>
          <a:xfrm>
            <a:off x="4361688" y="5257800"/>
            <a:ext cx="109728" cy="822960"/>
          </a:xfrm>
          <a:prstGeom prst="rect">
            <a:avLst/>
          </a:prstGeom>
          <a:solidFill>
            <a:srgbClr val="02C39A"/>
          </a:solidFill>
          <a:ln w="12700">
            <a:solidFill>
              <a:srgbClr val="02C39A"/>
            </a:solidFill>
            <a:prstDash val="solid"/>
          </a:ln>
        </p:spPr>
        <p:txBody>
          <a:bodyPr/>
          <a:lstStyle/>
          <a:p>
            <a:endParaRPr lang="zh-CN" altLang="en-US"/>
          </a:p>
        </p:txBody>
      </p:sp>
      <p:sp>
        <p:nvSpPr>
          <p:cNvPr id="55" name="Text 53"/>
          <p:cNvSpPr/>
          <p:nvPr/>
        </p:nvSpPr>
        <p:spPr>
          <a:xfrm>
            <a:off x="4590288" y="5330952"/>
            <a:ext cx="228600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World Bank</a:t>
            </a:r>
            <a:endParaRPr lang="en-US" sz="1300" dirty="0"/>
          </a:p>
        </p:txBody>
      </p:sp>
      <p:sp>
        <p:nvSpPr>
          <p:cNvPr id="56" name="Text 54"/>
          <p:cNvSpPr/>
          <p:nvPr/>
        </p:nvSpPr>
        <p:spPr>
          <a:xfrm>
            <a:off x="4590288" y="5669280"/>
            <a:ext cx="2286000" cy="32004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Country indicators</a:t>
            </a:r>
            <a:endParaRPr lang="en-US" sz="1000" dirty="0"/>
          </a:p>
        </p:txBody>
      </p:sp>
      <p:sp>
        <p:nvSpPr>
          <p:cNvPr id="57" name="Text 55"/>
          <p:cNvSpPr/>
          <p:nvPr/>
        </p:nvSpPr>
        <p:spPr>
          <a:xfrm>
            <a:off x="6876288" y="5330952"/>
            <a:ext cx="868680" cy="411480"/>
          </a:xfrm>
          <a:prstGeom prst="rect">
            <a:avLst/>
          </a:prstGeom>
          <a:noFill/>
          <a:ln/>
        </p:spPr>
        <p:txBody>
          <a:bodyPr wrap="square" lIns="0" tIns="0" rIns="0" bIns="0" rtlCol="0" anchor="ctr"/>
          <a:lstStyle/>
          <a:p>
            <a:pPr marL="0" indent="0" algn="r">
              <a:buNone/>
            </a:pPr>
            <a:r>
              <a:rPr lang="en-US" sz="1600" b="1" dirty="0">
                <a:solidFill>
                  <a:srgbClr val="02C39A"/>
                </a:solidFill>
                <a:latin typeface="Calibri" pitchFamily="34" charset="0"/>
                <a:ea typeface="Calibri" pitchFamily="34" charset="-122"/>
                <a:cs typeface="Calibri" pitchFamily="34" charset="-120"/>
              </a:rPr>
              <a:t>352</a:t>
            </a:r>
            <a:endParaRPr lang="en-US" sz="1600" dirty="0"/>
          </a:p>
        </p:txBody>
      </p:sp>
      <p:sp>
        <p:nvSpPr>
          <p:cNvPr id="58" name="Text 56"/>
          <p:cNvSpPr/>
          <p:nvPr/>
        </p:nvSpPr>
        <p:spPr>
          <a:xfrm>
            <a:off x="6876288" y="571500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rows</a:t>
            </a:r>
            <a:endParaRPr lang="en-US" sz="900" dirty="0"/>
          </a:p>
        </p:txBody>
      </p:sp>
      <p:sp>
        <p:nvSpPr>
          <p:cNvPr id="59" name="Shape 57"/>
          <p:cNvSpPr/>
          <p:nvPr/>
        </p:nvSpPr>
        <p:spPr>
          <a:xfrm>
            <a:off x="7946136" y="5257800"/>
            <a:ext cx="3438144" cy="822960"/>
          </a:xfrm>
          <a:prstGeom prst="rect">
            <a:avLst/>
          </a:prstGeom>
          <a:solidFill>
            <a:srgbClr val="FFFFFF"/>
          </a:solidFill>
          <a:ln w="12700">
            <a:solidFill>
              <a:srgbClr val="E2E8F0"/>
            </a:solidFill>
            <a:prstDash val="solid"/>
          </a:ln>
        </p:spPr>
        <p:txBody>
          <a:bodyPr/>
          <a:lstStyle/>
          <a:p>
            <a:endParaRPr lang="zh-CN" altLang="en-US"/>
          </a:p>
        </p:txBody>
      </p:sp>
      <p:sp>
        <p:nvSpPr>
          <p:cNvPr id="60" name="Shape 58"/>
          <p:cNvSpPr/>
          <p:nvPr/>
        </p:nvSpPr>
        <p:spPr>
          <a:xfrm>
            <a:off x="7946136" y="5257800"/>
            <a:ext cx="109728" cy="822960"/>
          </a:xfrm>
          <a:prstGeom prst="rect">
            <a:avLst/>
          </a:prstGeom>
          <a:solidFill>
            <a:srgbClr val="E63946"/>
          </a:solidFill>
          <a:ln w="12700">
            <a:solidFill>
              <a:srgbClr val="E63946"/>
            </a:solidFill>
            <a:prstDash val="solid"/>
          </a:ln>
        </p:spPr>
        <p:txBody>
          <a:bodyPr/>
          <a:lstStyle/>
          <a:p>
            <a:endParaRPr lang="zh-CN" altLang="en-US"/>
          </a:p>
        </p:txBody>
      </p:sp>
      <p:sp>
        <p:nvSpPr>
          <p:cNvPr id="61" name="Text 59"/>
          <p:cNvSpPr/>
          <p:nvPr/>
        </p:nvSpPr>
        <p:spPr>
          <a:xfrm>
            <a:off x="8174736" y="5330952"/>
            <a:ext cx="2286000" cy="320040"/>
          </a:xfrm>
          <a:prstGeom prst="rect">
            <a:avLst/>
          </a:prstGeom>
          <a:noFill/>
          <a:ln/>
        </p:spPr>
        <p:txBody>
          <a:bodyPr wrap="square" lIns="0" tIns="0" rIns="0" bIns="0" rtlCol="0" anchor="t"/>
          <a:lstStyle/>
          <a:p>
            <a:pPr marL="0" indent="0">
              <a:buNone/>
            </a:pPr>
            <a:r>
              <a:rPr lang="en-US" sz="1300" b="1" dirty="0">
                <a:solidFill>
                  <a:srgbClr val="0B1D3A"/>
                </a:solidFill>
                <a:latin typeface="Calibri" pitchFamily="34" charset="0"/>
                <a:ea typeface="Calibri" pitchFamily="34" charset="-122"/>
                <a:cs typeface="Calibri" pitchFamily="34" charset="-120"/>
              </a:rPr>
              <a:t>FATF Country Risk</a:t>
            </a:r>
            <a:endParaRPr lang="en-US" sz="1300" dirty="0"/>
          </a:p>
        </p:txBody>
      </p:sp>
      <p:sp>
        <p:nvSpPr>
          <p:cNvPr id="62" name="Text 60"/>
          <p:cNvSpPr/>
          <p:nvPr/>
        </p:nvSpPr>
        <p:spPr>
          <a:xfrm>
            <a:off x="8174736" y="5669280"/>
            <a:ext cx="2286000" cy="320040"/>
          </a:xfrm>
          <a:prstGeom prst="rect">
            <a:avLst/>
          </a:prstGeom>
          <a:noFill/>
          <a:ln/>
        </p:spPr>
        <p:txBody>
          <a:bodyPr wrap="square" lIns="0" tIns="0" rIns="0" bIns="0" rtlCol="0" anchor="t"/>
          <a:lstStyle/>
          <a:p>
            <a:pPr marL="0" indent="0">
              <a:buNone/>
            </a:pPr>
            <a:r>
              <a:rPr lang="en-US" sz="1000" i="1" dirty="0">
                <a:solidFill>
                  <a:srgbClr val="64748B"/>
                </a:solidFill>
                <a:latin typeface="Calibri" pitchFamily="34" charset="0"/>
                <a:ea typeface="Calibri" pitchFamily="34" charset="-122"/>
                <a:cs typeface="Calibri" pitchFamily="34" charset="-120"/>
              </a:rPr>
              <a:t>AML screening list</a:t>
            </a:r>
            <a:endParaRPr lang="en-US" sz="1000" dirty="0"/>
          </a:p>
        </p:txBody>
      </p:sp>
      <p:sp>
        <p:nvSpPr>
          <p:cNvPr id="63" name="Text 61"/>
          <p:cNvSpPr/>
          <p:nvPr/>
        </p:nvSpPr>
        <p:spPr>
          <a:xfrm>
            <a:off x="10460736" y="5330952"/>
            <a:ext cx="868680" cy="411480"/>
          </a:xfrm>
          <a:prstGeom prst="rect">
            <a:avLst/>
          </a:prstGeom>
          <a:noFill/>
          <a:ln/>
        </p:spPr>
        <p:txBody>
          <a:bodyPr wrap="square" lIns="0" tIns="0" rIns="0" bIns="0" rtlCol="0" anchor="ctr"/>
          <a:lstStyle/>
          <a:p>
            <a:pPr marL="0" indent="0" algn="r">
              <a:buNone/>
            </a:pPr>
            <a:r>
              <a:rPr lang="en-US" sz="1600" b="1" dirty="0">
                <a:solidFill>
                  <a:srgbClr val="E63946"/>
                </a:solidFill>
                <a:latin typeface="Calibri" pitchFamily="34" charset="0"/>
                <a:ea typeface="Calibri" pitchFamily="34" charset="-122"/>
                <a:cs typeface="Calibri" pitchFamily="34" charset="-120"/>
              </a:rPr>
              <a:t>45</a:t>
            </a:r>
            <a:endParaRPr lang="en-US" sz="1600" dirty="0"/>
          </a:p>
        </p:txBody>
      </p:sp>
      <p:sp>
        <p:nvSpPr>
          <p:cNvPr id="64" name="Text 62"/>
          <p:cNvSpPr/>
          <p:nvPr/>
        </p:nvSpPr>
        <p:spPr>
          <a:xfrm>
            <a:off x="10460736" y="571500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rows</a:t>
            </a:r>
            <a:endParaRPr lang="en-US" sz="900" dirty="0"/>
          </a:p>
        </p:txBody>
      </p:sp>
      <p:sp>
        <p:nvSpPr>
          <p:cNvPr id="65" name="Shape 63"/>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66" name="Text 64"/>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67" name="Text 65"/>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HOW - PRIVACY ENGINEERING</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Seven masking methods, one encrypted vault</a:t>
            </a:r>
            <a:endParaRPr lang="en-US" sz="2800" dirty="0"/>
          </a:p>
        </p:txBody>
      </p:sp>
      <p:sp>
        <p:nvSpPr>
          <p:cNvPr id="5" name="Shape 3"/>
          <p:cNvSpPr/>
          <p:nvPr/>
        </p:nvSpPr>
        <p:spPr>
          <a:xfrm>
            <a:off x="548640" y="1554480"/>
            <a:ext cx="7040880" cy="47548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Text 4"/>
          <p:cNvSpPr/>
          <p:nvPr/>
        </p:nvSpPr>
        <p:spPr>
          <a:xfrm>
            <a:off x="777240" y="1691640"/>
            <a:ext cx="658368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SEVEN MASKING METHODS</a:t>
            </a:r>
            <a:endParaRPr lang="en-US" sz="1100" dirty="0"/>
          </a:p>
        </p:txBody>
      </p:sp>
      <p:sp>
        <p:nvSpPr>
          <p:cNvPr id="7" name="Shape 5"/>
          <p:cNvSpPr/>
          <p:nvPr/>
        </p:nvSpPr>
        <p:spPr>
          <a:xfrm>
            <a:off x="777240" y="2103120"/>
            <a:ext cx="6583680" cy="457200"/>
          </a:xfrm>
          <a:prstGeom prst="rect">
            <a:avLst/>
          </a:prstGeom>
          <a:solidFill>
            <a:srgbClr val="F1F5F9"/>
          </a:solidFill>
          <a:ln w="5080">
            <a:solidFill>
              <a:srgbClr val="E2E8F0"/>
            </a:solidFill>
            <a:prstDash val="solid"/>
          </a:ln>
        </p:spPr>
        <p:txBody>
          <a:bodyPr/>
          <a:lstStyle/>
          <a:p>
            <a:endParaRPr lang="zh-CN" altLang="en-US"/>
          </a:p>
        </p:txBody>
      </p:sp>
      <p:sp>
        <p:nvSpPr>
          <p:cNvPr id="8" name="Shape 6"/>
          <p:cNvSpPr/>
          <p:nvPr/>
        </p:nvSpPr>
        <p:spPr>
          <a:xfrm>
            <a:off x="868680" y="2171700"/>
            <a:ext cx="2011680" cy="320040"/>
          </a:xfrm>
          <a:prstGeom prst="roundRect">
            <a:avLst>
              <a:gd name="adj" fmla="val 22857"/>
            </a:avLst>
          </a:prstGeom>
          <a:solidFill>
            <a:srgbClr val="028090"/>
          </a:solidFill>
          <a:ln w="12700">
            <a:solidFill>
              <a:srgbClr val="028090"/>
            </a:solidFill>
            <a:prstDash val="solid"/>
          </a:ln>
        </p:spPr>
        <p:txBody>
          <a:bodyPr/>
          <a:lstStyle/>
          <a:p>
            <a:endParaRPr lang="zh-CN" altLang="en-US"/>
          </a:p>
        </p:txBody>
      </p:sp>
      <p:sp>
        <p:nvSpPr>
          <p:cNvPr id="9" name="Text 7"/>
          <p:cNvSpPr/>
          <p:nvPr/>
        </p:nvSpPr>
        <p:spPr>
          <a:xfrm>
            <a:off x="868680" y="2171700"/>
            <a:ext cx="201168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Pseudonymization</a:t>
            </a:r>
            <a:endParaRPr lang="en-US" sz="1100" dirty="0"/>
          </a:p>
        </p:txBody>
      </p:sp>
      <p:sp>
        <p:nvSpPr>
          <p:cNvPr id="10" name="Text 8"/>
          <p:cNvSpPr/>
          <p:nvPr/>
        </p:nvSpPr>
        <p:spPr>
          <a:xfrm>
            <a:off x="3017520" y="2103120"/>
            <a:ext cx="320040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Names, IDs - TOKEN_xxx</a:t>
            </a:r>
            <a:endParaRPr lang="en-US" sz="1050" dirty="0"/>
          </a:p>
        </p:txBody>
      </p:sp>
      <p:sp>
        <p:nvSpPr>
          <p:cNvPr id="11" name="Text 9"/>
          <p:cNvSpPr/>
          <p:nvPr/>
        </p:nvSpPr>
        <p:spPr>
          <a:xfrm>
            <a:off x="6309360" y="2103120"/>
            <a:ext cx="1005840" cy="457200"/>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Reversible</a:t>
            </a:r>
            <a:endParaRPr lang="en-US" sz="1000" dirty="0"/>
          </a:p>
        </p:txBody>
      </p:sp>
      <p:sp>
        <p:nvSpPr>
          <p:cNvPr id="12" name="Shape 10"/>
          <p:cNvSpPr/>
          <p:nvPr/>
        </p:nvSpPr>
        <p:spPr>
          <a:xfrm>
            <a:off x="777240" y="2651760"/>
            <a:ext cx="6583680" cy="457200"/>
          </a:xfrm>
          <a:prstGeom prst="rect">
            <a:avLst/>
          </a:prstGeom>
          <a:solidFill>
            <a:srgbClr val="FFFFFF"/>
          </a:solidFill>
          <a:ln w="5080">
            <a:solidFill>
              <a:srgbClr val="E2E8F0"/>
            </a:solidFill>
            <a:prstDash val="solid"/>
          </a:ln>
        </p:spPr>
        <p:txBody>
          <a:bodyPr/>
          <a:lstStyle/>
          <a:p>
            <a:endParaRPr lang="zh-CN" altLang="en-US"/>
          </a:p>
        </p:txBody>
      </p:sp>
      <p:sp>
        <p:nvSpPr>
          <p:cNvPr id="13" name="Shape 11"/>
          <p:cNvSpPr/>
          <p:nvPr/>
        </p:nvSpPr>
        <p:spPr>
          <a:xfrm>
            <a:off x="868680" y="2720340"/>
            <a:ext cx="2011680" cy="320040"/>
          </a:xfrm>
          <a:prstGeom prst="roundRect">
            <a:avLst>
              <a:gd name="adj" fmla="val 22857"/>
            </a:avLst>
          </a:prstGeom>
          <a:solidFill>
            <a:srgbClr val="028090"/>
          </a:solidFill>
          <a:ln w="12700">
            <a:solidFill>
              <a:srgbClr val="028090"/>
            </a:solidFill>
            <a:prstDash val="solid"/>
          </a:ln>
        </p:spPr>
        <p:txBody>
          <a:bodyPr/>
          <a:lstStyle/>
          <a:p>
            <a:endParaRPr lang="zh-CN" altLang="en-US"/>
          </a:p>
        </p:txBody>
      </p:sp>
      <p:sp>
        <p:nvSpPr>
          <p:cNvPr id="14" name="Text 12"/>
          <p:cNvSpPr/>
          <p:nvPr/>
        </p:nvSpPr>
        <p:spPr>
          <a:xfrm>
            <a:off x="868680" y="2720340"/>
            <a:ext cx="201168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SHA-256 Hashing</a:t>
            </a:r>
            <a:endParaRPr lang="en-US" sz="1100" dirty="0"/>
          </a:p>
        </p:txBody>
      </p:sp>
      <p:sp>
        <p:nvSpPr>
          <p:cNvPr id="15" name="Text 13"/>
          <p:cNvSpPr/>
          <p:nvPr/>
        </p:nvSpPr>
        <p:spPr>
          <a:xfrm>
            <a:off x="3017520" y="2651760"/>
            <a:ext cx="320040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Emails, device IDs - salted + truncated</a:t>
            </a:r>
            <a:endParaRPr lang="en-US" sz="1050" dirty="0"/>
          </a:p>
        </p:txBody>
      </p:sp>
      <p:sp>
        <p:nvSpPr>
          <p:cNvPr id="16" name="Text 14"/>
          <p:cNvSpPr/>
          <p:nvPr/>
        </p:nvSpPr>
        <p:spPr>
          <a:xfrm>
            <a:off x="6309360" y="2651760"/>
            <a:ext cx="1005840" cy="457200"/>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One-way</a:t>
            </a:r>
            <a:endParaRPr lang="en-US" sz="1000" dirty="0"/>
          </a:p>
        </p:txBody>
      </p:sp>
      <p:sp>
        <p:nvSpPr>
          <p:cNvPr id="17" name="Shape 15"/>
          <p:cNvSpPr/>
          <p:nvPr/>
        </p:nvSpPr>
        <p:spPr>
          <a:xfrm>
            <a:off x="777240" y="3200400"/>
            <a:ext cx="6583680" cy="457200"/>
          </a:xfrm>
          <a:prstGeom prst="rect">
            <a:avLst/>
          </a:prstGeom>
          <a:solidFill>
            <a:srgbClr val="F1F5F9"/>
          </a:solidFill>
          <a:ln w="5080">
            <a:solidFill>
              <a:srgbClr val="E2E8F0"/>
            </a:solidFill>
            <a:prstDash val="solid"/>
          </a:ln>
        </p:spPr>
        <p:txBody>
          <a:bodyPr/>
          <a:lstStyle/>
          <a:p>
            <a:endParaRPr lang="zh-CN" altLang="en-US"/>
          </a:p>
        </p:txBody>
      </p:sp>
      <p:sp>
        <p:nvSpPr>
          <p:cNvPr id="18" name="Shape 16"/>
          <p:cNvSpPr/>
          <p:nvPr/>
        </p:nvSpPr>
        <p:spPr>
          <a:xfrm>
            <a:off x="868680" y="3268980"/>
            <a:ext cx="2011680" cy="320040"/>
          </a:xfrm>
          <a:prstGeom prst="roundRect">
            <a:avLst>
              <a:gd name="adj" fmla="val 22857"/>
            </a:avLst>
          </a:prstGeom>
          <a:solidFill>
            <a:srgbClr val="028090"/>
          </a:solidFill>
          <a:ln w="12700">
            <a:solidFill>
              <a:srgbClr val="028090"/>
            </a:solidFill>
            <a:prstDash val="solid"/>
          </a:ln>
        </p:spPr>
        <p:txBody>
          <a:bodyPr/>
          <a:lstStyle/>
          <a:p>
            <a:endParaRPr lang="zh-CN" altLang="en-US"/>
          </a:p>
        </p:txBody>
      </p:sp>
      <p:sp>
        <p:nvSpPr>
          <p:cNvPr id="19" name="Text 17"/>
          <p:cNvSpPr/>
          <p:nvPr/>
        </p:nvSpPr>
        <p:spPr>
          <a:xfrm>
            <a:off x="868680" y="3268980"/>
            <a:ext cx="201168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Partial Masking</a:t>
            </a:r>
            <a:endParaRPr lang="en-US" sz="1100" dirty="0"/>
          </a:p>
        </p:txBody>
      </p:sp>
      <p:sp>
        <p:nvSpPr>
          <p:cNvPr id="20" name="Text 18"/>
          <p:cNvSpPr/>
          <p:nvPr/>
        </p:nvSpPr>
        <p:spPr>
          <a:xfrm>
            <a:off x="3017520" y="3200400"/>
            <a:ext cx="320040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Phones - last 4 only (***-***-1234)</a:t>
            </a:r>
            <a:endParaRPr lang="en-US" sz="1050" dirty="0"/>
          </a:p>
        </p:txBody>
      </p:sp>
      <p:sp>
        <p:nvSpPr>
          <p:cNvPr id="21" name="Text 19"/>
          <p:cNvSpPr/>
          <p:nvPr/>
        </p:nvSpPr>
        <p:spPr>
          <a:xfrm>
            <a:off x="6309360" y="3200400"/>
            <a:ext cx="1005840" cy="457200"/>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Via map</a:t>
            </a:r>
            <a:endParaRPr lang="en-US" sz="1000" dirty="0"/>
          </a:p>
        </p:txBody>
      </p:sp>
      <p:sp>
        <p:nvSpPr>
          <p:cNvPr id="22" name="Shape 20"/>
          <p:cNvSpPr/>
          <p:nvPr/>
        </p:nvSpPr>
        <p:spPr>
          <a:xfrm>
            <a:off x="777240" y="3749040"/>
            <a:ext cx="6583680" cy="457200"/>
          </a:xfrm>
          <a:prstGeom prst="rect">
            <a:avLst/>
          </a:prstGeom>
          <a:solidFill>
            <a:srgbClr val="FFFFFF"/>
          </a:solidFill>
          <a:ln w="5080">
            <a:solidFill>
              <a:srgbClr val="E2E8F0"/>
            </a:solidFill>
            <a:prstDash val="solid"/>
          </a:ln>
        </p:spPr>
        <p:txBody>
          <a:bodyPr/>
          <a:lstStyle/>
          <a:p>
            <a:endParaRPr lang="zh-CN" altLang="en-US"/>
          </a:p>
        </p:txBody>
      </p:sp>
      <p:sp>
        <p:nvSpPr>
          <p:cNvPr id="23" name="Shape 21"/>
          <p:cNvSpPr/>
          <p:nvPr/>
        </p:nvSpPr>
        <p:spPr>
          <a:xfrm>
            <a:off x="868680" y="3817620"/>
            <a:ext cx="2011680" cy="320040"/>
          </a:xfrm>
          <a:prstGeom prst="roundRect">
            <a:avLst>
              <a:gd name="adj" fmla="val 22857"/>
            </a:avLst>
          </a:prstGeom>
          <a:solidFill>
            <a:srgbClr val="028090"/>
          </a:solidFill>
          <a:ln w="12700">
            <a:solidFill>
              <a:srgbClr val="028090"/>
            </a:solidFill>
            <a:prstDash val="solid"/>
          </a:ln>
        </p:spPr>
        <p:txBody>
          <a:bodyPr/>
          <a:lstStyle/>
          <a:p>
            <a:endParaRPr lang="zh-CN" altLang="en-US"/>
          </a:p>
        </p:txBody>
      </p:sp>
      <p:sp>
        <p:nvSpPr>
          <p:cNvPr id="24" name="Text 22"/>
          <p:cNvSpPr/>
          <p:nvPr/>
        </p:nvSpPr>
        <p:spPr>
          <a:xfrm>
            <a:off x="868680" y="3817620"/>
            <a:ext cx="201168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Generalization</a:t>
            </a:r>
            <a:endParaRPr lang="en-US" sz="1100" dirty="0"/>
          </a:p>
        </p:txBody>
      </p:sp>
      <p:sp>
        <p:nvSpPr>
          <p:cNvPr id="25" name="Text 23"/>
          <p:cNvSpPr/>
          <p:nvPr/>
        </p:nvSpPr>
        <p:spPr>
          <a:xfrm>
            <a:off x="3017520" y="3749040"/>
            <a:ext cx="320040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Addresses -&gt; city + state/country</a:t>
            </a:r>
            <a:endParaRPr lang="en-US" sz="1050" dirty="0"/>
          </a:p>
        </p:txBody>
      </p:sp>
      <p:sp>
        <p:nvSpPr>
          <p:cNvPr id="26" name="Text 24"/>
          <p:cNvSpPr/>
          <p:nvPr/>
        </p:nvSpPr>
        <p:spPr>
          <a:xfrm>
            <a:off x="6309360" y="3749040"/>
            <a:ext cx="1005840" cy="457200"/>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Lossy</a:t>
            </a:r>
            <a:endParaRPr lang="en-US" sz="1000" dirty="0"/>
          </a:p>
        </p:txBody>
      </p:sp>
      <p:sp>
        <p:nvSpPr>
          <p:cNvPr id="27" name="Shape 25"/>
          <p:cNvSpPr/>
          <p:nvPr/>
        </p:nvSpPr>
        <p:spPr>
          <a:xfrm>
            <a:off x="777240" y="4297680"/>
            <a:ext cx="6583680" cy="457200"/>
          </a:xfrm>
          <a:prstGeom prst="rect">
            <a:avLst/>
          </a:prstGeom>
          <a:solidFill>
            <a:srgbClr val="F1F5F9"/>
          </a:solidFill>
          <a:ln w="5080">
            <a:solidFill>
              <a:srgbClr val="E2E8F0"/>
            </a:solidFill>
            <a:prstDash val="solid"/>
          </a:ln>
        </p:spPr>
        <p:txBody>
          <a:bodyPr/>
          <a:lstStyle/>
          <a:p>
            <a:endParaRPr lang="zh-CN" altLang="en-US"/>
          </a:p>
        </p:txBody>
      </p:sp>
      <p:sp>
        <p:nvSpPr>
          <p:cNvPr id="28" name="Shape 26"/>
          <p:cNvSpPr/>
          <p:nvPr/>
        </p:nvSpPr>
        <p:spPr>
          <a:xfrm>
            <a:off x="868680" y="4366260"/>
            <a:ext cx="2011680" cy="320040"/>
          </a:xfrm>
          <a:prstGeom prst="roundRect">
            <a:avLst>
              <a:gd name="adj" fmla="val 22857"/>
            </a:avLst>
          </a:prstGeom>
          <a:solidFill>
            <a:srgbClr val="028090"/>
          </a:solidFill>
          <a:ln w="12700">
            <a:solidFill>
              <a:srgbClr val="028090"/>
            </a:solidFill>
            <a:prstDash val="solid"/>
          </a:ln>
        </p:spPr>
        <p:txBody>
          <a:bodyPr/>
          <a:lstStyle/>
          <a:p>
            <a:endParaRPr lang="zh-CN" altLang="en-US"/>
          </a:p>
        </p:txBody>
      </p:sp>
      <p:sp>
        <p:nvSpPr>
          <p:cNvPr id="29" name="Text 27"/>
          <p:cNvSpPr/>
          <p:nvPr/>
        </p:nvSpPr>
        <p:spPr>
          <a:xfrm>
            <a:off x="868680" y="4366260"/>
            <a:ext cx="201168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Age-banding</a:t>
            </a:r>
            <a:endParaRPr lang="en-US" sz="1100" dirty="0"/>
          </a:p>
        </p:txBody>
      </p:sp>
      <p:sp>
        <p:nvSpPr>
          <p:cNvPr id="30" name="Text 28"/>
          <p:cNvSpPr/>
          <p:nvPr/>
        </p:nvSpPr>
        <p:spPr>
          <a:xfrm>
            <a:off x="3017520" y="4297680"/>
            <a:ext cx="320040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DOB / age -&gt; decade range (30-39)</a:t>
            </a:r>
            <a:endParaRPr lang="en-US" sz="1050" dirty="0"/>
          </a:p>
        </p:txBody>
      </p:sp>
      <p:sp>
        <p:nvSpPr>
          <p:cNvPr id="31" name="Text 29"/>
          <p:cNvSpPr/>
          <p:nvPr/>
        </p:nvSpPr>
        <p:spPr>
          <a:xfrm>
            <a:off x="6309360" y="4297680"/>
            <a:ext cx="1005840" cy="457200"/>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Lossy</a:t>
            </a:r>
            <a:endParaRPr lang="en-US" sz="1000" dirty="0"/>
          </a:p>
        </p:txBody>
      </p:sp>
      <p:sp>
        <p:nvSpPr>
          <p:cNvPr id="32" name="Shape 30"/>
          <p:cNvSpPr/>
          <p:nvPr/>
        </p:nvSpPr>
        <p:spPr>
          <a:xfrm>
            <a:off x="777240" y="4846320"/>
            <a:ext cx="6583680" cy="457200"/>
          </a:xfrm>
          <a:prstGeom prst="rect">
            <a:avLst/>
          </a:prstGeom>
          <a:solidFill>
            <a:srgbClr val="FFFFFF"/>
          </a:solidFill>
          <a:ln w="5080">
            <a:solidFill>
              <a:srgbClr val="E2E8F0"/>
            </a:solidFill>
            <a:prstDash val="solid"/>
          </a:ln>
        </p:spPr>
        <p:txBody>
          <a:bodyPr/>
          <a:lstStyle/>
          <a:p>
            <a:endParaRPr lang="zh-CN" altLang="en-US"/>
          </a:p>
        </p:txBody>
      </p:sp>
      <p:sp>
        <p:nvSpPr>
          <p:cNvPr id="33" name="Shape 31"/>
          <p:cNvSpPr/>
          <p:nvPr/>
        </p:nvSpPr>
        <p:spPr>
          <a:xfrm>
            <a:off x="868680" y="4914900"/>
            <a:ext cx="2011680" cy="320040"/>
          </a:xfrm>
          <a:prstGeom prst="roundRect">
            <a:avLst>
              <a:gd name="adj" fmla="val 22857"/>
            </a:avLst>
          </a:prstGeom>
          <a:solidFill>
            <a:srgbClr val="028090"/>
          </a:solidFill>
          <a:ln w="12700">
            <a:solidFill>
              <a:srgbClr val="028090"/>
            </a:solidFill>
            <a:prstDash val="solid"/>
          </a:ln>
        </p:spPr>
        <p:txBody>
          <a:bodyPr/>
          <a:lstStyle/>
          <a:p>
            <a:endParaRPr lang="zh-CN" altLang="en-US"/>
          </a:p>
        </p:txBody>
      </p:sp>
      <p:sp>
        <p:nvSpPr>
          <p:cNvPr id="34" name="Text 32"/>
          <p:cNvSpPr/>
          <p:nvPr/>
        </p:nvSpPr>
        <p:spPr>
          <a:xfrm>
            <a:off x="868680" y="4914900"/>
            <a:ext cx="201168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Truncation</a:t>
            </a:r>
            <a:endParaRPr lang="en-US" sz="1100" dirty="0"/>
          </a:p>
        </p:txBody>
      </p:sp>
      <p:sp>
        <p:nvSpPr>
          <p:cNvPr id="35" name="Text 33"/>
          <p:cNvSpPr/>
          <p:nvPr/>
        </p:nvSpPr>
        <p:spPr>
          <a:xfrm>
            <a:off x="3017520" y="4846320"/>
            <a:ext cx="320040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IPs / ZIPs - last octet removed</a:t>
            </a:r>
            <a:endParaRPr lang="en-US" sz="1050" dirty="0"/>
          </a:p>
        </p:txBody>
      </p:sp>
      <p:sp>
        <p:nvSpPr>
          <p:cNvPr id="36" name="Text 34"/>
          <p:cNvSpPr/>
          <p:nvPr/>
        </p:nvSpPr>
        <p:spPr>
          <a:xfrm>
            <a:off x="6309360" y="4846320"/>
            <a:ext cx="1005840" cy="457200"/>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Lossy</a:t>
            </a:r>
            <a:endParaRPr lang="en-US" sz="1000" dirty="0"/>
          </a:p>
        </p:txBody>
      </p:sp>
      <p:sp>
        <p:nvSpPr>
          <p:cNvPr id="37" name="Shape 35"/>
          <p:cNvSpPr/>
          <p:nvPr/>
        </p:nvSpPr>
        <p:spPr>
          <a:xfrm>
            <a:off x="777240" y="5394960"/>
            <a:ext cx="6583680" cy="457200"/>
          </a:xfrm>
          <a:prstGeom prst="rect">
            <a:avLst/>
          </a:prstGeom>
          <a:solidFill>
            <a:srgbClr val="F1F5F9"/>
          </a:solidFill>
          <a:ln w="5080">
            <a:solidFill>
              <a:srgbClr val="E2E8F0"/>
            </a:solidFill>
            <a:prstDash val="solid"/>
          </a:ln>
        </p:spPr>
        <p:txBody>
          <a:bodyPr/>
          <a:lstStyle/>
          <a:p>
            <a:endParaRPr lang="zh-CN" altLang="en-US"/>
          </a:p>
        </p:txBody>
      </p:sp>
      <p:sp>
        <p:nvSpPr>
          <p:cNvPr id="38" name="Shape 36"/>
          <p:cNvSpPr/>
          <p:nvPr/>
        </p:nvSpPr>
        <p:spPr>
          <a:xfrm>
            <a:off x="868680" y="5463540"/>
            <a:ext cx="2011680" cy="320040"/>
          </a:xfrm>
          <a:prstGeom prst="roundRect">
            <a:avLst>
              <a:gd name="adj" fmla="val 22857"/>
            </a:avLst>
          </a:prstGeom>
          <a:solidFill>
            <a:srgbClr val="028090"/>
          </a:solidFill>
          <a:ln w="12700">
            <a:solidFill>
              <a:srgbClr val="028090"/>
            </a:solidFill>
            <a:prstDash val="solid"/>
          </a:ln>
        </p:spPr>
        <p:txBody>
          <a:bodyPr/>
          <a:lstStyle/>
          <a:p>
            <a:endParaRPr lang="zh-CN" altLang="en-US"/>
          </a:p>
        </p:txBody>
      </p:sp>
      <p:sp>
        <p:nvSpPr>
          <p:cNvPr id="39" name="Text 37"/>
          <p:cNvSpPr/>
          <p:nvPr/>
        </p:nvSpPr>
        <p:spPr>
          <a:xfrm>
            <a:off x="868680" y="5463540"/>
            <a:ext cx="201168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FPE Tokenization</a:t>
            </a:r>
            <a:endParaRPr lang="en-US" sz="1100" dirty="0"/>
          </a:p>
        </p:txBody>
      </p:sp>
      <p:sp>
        <p:nvSpPr>
          <p:cNvPr id="40" name="Text 38"/>
          <p:cNvSpPr/>
          <p:nvPr/>
        </p:nvSpPr>
        <p:spPr>
          <a:xfrm>
            <a:off x="3017520" y="5394960"/>
            <a:ext cx="320040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IBANs, EINs - format-preserving encryption</a:t>
            </a:r>
            <a:endParaRPr lang="en-US" sz="1050" dirty="0"/>
          </a:p>
        </p:txBody>
      </p:sp>
      <p:sp>
        <p:nvSpPr>
          <p:cNvPr id="41" name="Text 39"/>
          <p:cNvSpPr/>
          <p:nvPr/>
        </p:nvSpPr>
        <p:spPr>
          <a:xfrm>
            <a:off x="6309360" y="5394960"/>
            <a:ext cx="1005840" cy="457200"/>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Reversible</a:t>
            </a:r>
            <a:endParaRPr lang="en-US" sz="1000" dirty="0"/>
          </a:p>
        </p:txBody>
      </p:sp>
      <p:sp>
        <p:nvSpPr>
          <p:cNvPr id="42" name="Shape 40"/>
          <p:cNvSpPr/>
          <p:nvPr/>
        </p:nvSpPr>
        <p:spPr>
          <a:xfrm>
            <a:off x="7772400" y="1554480"/>
            <a:ext cx="3840480" cy="4754880"/>
          </a:xfrm>
          <a:prstGeom prst="rect">
            <a:avLst/>
          </a:prstGeom>
          <a:solidFill>
            <a:srgbClr val="0B1D3A"/>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43" name="Text 41"/>
          <p:cNvSpPr/>
          <p:nvPr/>
        </p:nvSpPr>
        <p:spPr>
          <a:xfrm>
            <a:off x="7955280" y="1737360"/>
            <a:ext cx="3474720" cy="274320"/>
          </a:xfrm>
          <a:prstGeom prst="rect">
            <a:avLst/>
          </a:prstGeom>
          <a:noFill/>
          <a:ln/>
        </p:spPr>
        <p:txBody>
          <a:bodyPr wrap="square" lIns="0" tIns="0" rIns="0" bIns="0" rtlCol="0" anchor="ctr"/>
          <a:lstStyle/>
          <a:p>
            <a:pPr marL="0" indent="0">
              <a:buNone/>
            </a:pPr>
            <a:r>
              <a:rPr lang="en-US" sz="1100" b="1" kern="0" spc="400" dirty="0">
                <a:solidFill>
                  <a:srgbClr val="02C39A"/>
                </a:solidFill>
                <a:latin typeface="Calibri" pitchFamily="34" charset="0"/>
                <a:ea typeface="Calibri" pitchFamily="34" charset="-122"/>
                <a:cs typeface="Calibri" pitchFamily="34" charset="-120"/>
              </a:rPr>
              <a:t>MAPPING VAULT</a:t>
            </a:r>
            <a:endParaRPr lang="en-US" sz="1100" dirty="0"/>
          </a:p>
        </p:txBody>
      </p:sp>
      <p:sp>
        <p:nvSpPr>
          <p:cNvPr id="44" name="Text 42"/>
          <p:cNvSpPr/>
          <p:nvPr/>
        </p:nvSpPr>
        <p:spPr>
          <a:xfrm>
            <a:off x="7955280" y="2103120"/>
            <a:ext cx="3474720" cy="73152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28,893</a:t>
            </a:r>
            <a:endParaRPr lang="en-US" sz="4200" dirty="0"/>
          </a:p>
        </p:txBody>
      </p:sp>
      <p:sp>
        <p:nvSpPr>
          <p:cNvPr id="45" name="Text 43"/>
          <p:cNvSpPr/>
          <p:nvPr/>
        </p:nvSpPr>
        <p:spPr>
          <a:xfrm>
            <a:off x="7955280" y="2834640"/>
            <a:ext cx="3474720" cy="27432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entries</a:t>
            </a:r>
            <a:endParaRPr lang="en-US" sz="1200" dirty="0"/>
          </a:p>
        </p:txBody>
      </p:sp>
      <p:sp>
        <p:nvSpPr>
          <p:cNvPr id="46" name="Text 44"/>
          <p:cNvSpPr/>
          <p:nvPr/>
        </p:nvSpPr>
        <p:spPr>
          <a:xfrm>
            <a:off x="7955280" y="3200400"/>
            <a:ext cx="3474720" cy="411480"/>
          </a:xfrm>
          <a:prstGeom prst="rect">
            <a:avLst/>
          </a:prstGeom>
          <a:noFill/>
          <a:ln/>
        </p:spPr>
        <p:txBody>
          <a:bodyPr wrap="square" lIns="0" tIns="0" rIns="0" bIns="0" rtlCol="0" anchor="ctr"/>
          <a:lstStyle/>
          <a:p>
            <a:pPr marL="0" indent="0">
              <a:buNone/>
            </a:pPr>
            <a:r>
              <a:rPr lang="en-US" sz="1800" b="1" dirty="0">
                <a:solidFill>
                  <a:srgbClr val="F4A261"/>
                </a:solidFill>
                <a:latin typeface="Consolas" pitchFamily="34" charset="0"/>
                <a:ea typeface="Consolas" pitchFamily="34" charset="-122"/>
                <a:cs typeface="Consolas" pitchFamily="34" charset="-120"/>
              </a:rPr>
              <a:t>AES-256-GCM</a:t>
            </a:r>
            <a:endParaRPr lang="en-US" sz="1800" dirty="0"/>
          </a:p>
        </p:txBody>
      </p:sp>
      <p:sp>
        <p:nvSpPr>
          <p:cNvPr id="47" name="Text 45"/>
          <p:cNvSpPr/>
          <p:nvPr/>
        </p:nvSpPr>
        <p:spPr>
          <a:xfrm>
            <a:off x="7955280" y="3657600"/>
            <a:ext cx="3474720" cy="100584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Authenticated encryption,</a:t>
            </a:r>
            <a:endParaRPr lang="en-US" sz="1100" dirty="0"/>
          </a:p>
          <a:p>
            <a:pPr marL="0" indent="0">
              <a:buNone/>
            </a:pPr>
            <a:r>
              <a:rPr lang="en-US" sz="1100" i="1" dirty="0">
                <a:solidFill>
                  <a:srgbClr val="94A3B8"/>
                </a:solidFill>
                <a:latin typeface="Calibri" pitchFamily="34" charset="0"/>
                <a:ea typeface="Calibri" pitchFamily="34" charset="-122"/>
                <a:cs typeface="Calibri" pitchFamily="34" charset="-120"/>
              </a:rPr>
              <a:t>per-record nonce.</a:t>
            </a:r>
            <a:endParaRPr lang="en-US" sz="1100" dirty="0"/>
          </a:p>
          <a:p>
            <a:pPr marL="0" indent="0">
              <a:buNone/>
            </a:pPr>
            <a:r>
              <a:rPr lang="en-US" sz="1100" i="1" dirty="0">
                <a:solidFill>
                  <a:srgbClr val="94A3B8"/>
                </a:solidFill>
                <a:latin typeface="Calibri" pitchFamily="34" charset="0"/>
                <a:ea typeface="Calibri" pitchFamily="34" charset="-122"/>
                <a:cs typeface="Calibri" pitchFamily="34" charset="-120"/>
              </a:rPr>
              <a:t>Same algorithm as TLS 1.3.</a:t>
            </a:r>
            <a:endParaRPr lang="en-US" sz="1100" dirty="0"/>
          </a:p>
        </p:txBody>
      </p:sp>
      <p:sp>
        <p:nvSpPr>
          <p:cNvPr id="48" name="Shape 46"/>
          <p:cNvSpPr/>
          <p:nvPr/>
        </p:nvSpPr>
        <p:spPr>
          <a:xfrm>
            <a:off x="7955280" y="4754880"/>
            <a:ext cx="3474720" cy="0"/>
          </a:xfrm>
          <a:prstGeom prst="line">
            <a:avLst/>
          </a:prstGeom>
          <a:noFill/>
          <a:ln w="12700">
            <a:solidFill>
              <a:srgbClr val="475569"/>
            </a:solidFill>
            <a:prstDash val="solid"/>
          </a:ln>
        </p:spPr>
        <p:txBody>
          <a:bodyPr/>
          <a:lstStyle/>
          <a:p>
            <a:endParaRPr lang="zh-CN" altLang="en-US"/>
          </a:p>
        </p:txBody>
      </p:sp>
      <p:sp>
        <p:nvSpPr>
          <p:cNvPr id="49" name="Text 47"/>
          <p:cNvSpPr/>
          <p:nvPr/>
        </p:nvSpPr>
        <p:spPr>
          <a:xfrm>
            <a:off x="8092440" y="4937760"/>
            <a:ext cx="3337560" cy="1371600"/>
          </a:xfrm>
          <a:prstGeom prst="rect">
            <a:avLst/>
          </a:prstGeom>
          <a:noFill/>
          <a:ln/>
        </p:spPr>
        <p:txBody>
          <a:bodyPr wrap="square" rtlCol="0" anchor="ctr"/>
          <a:lstStyle/>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CDO + DPO only</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GDPR Art. 17 cascade</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Full audit trail</a:t>
            </a:r>
            <a:endParaRPr lang="en-US" sz="1100" dirty="0"/>
          </a:p>
        </p:txBody>
      </p:sp>
      <p:sp>
        <p:nvSpPr>
          <p:cNvPr id="50" name="Shape 48"/>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51" name="Text 49"/>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52" name="Text 50"/>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HOW - GOVERNED ACCESS</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RACI for accountability, RBAC for enforcement</a:t>
            </a:r>
            <a:endParaRPr lang="en-US" sz="2800" dirty="0"/>
          </a:p>
        </p:txBody>
      </p:sp>
      <p:sp>
        <p:nvSpPr>
          <p:cNvPr id="5" name="Shape 3"/>
          <p:cNvSpPr/>
          <p:nvPr/>
        </p:nvSpPr>
        <p:spPr>
          <a:xfrm>
            <a:off x="548640" y="1554480"/>
            <a:ext cx="2743200" cy="10972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Shape 4"/>
          <p:cNvSpPr/>
          <p:nvPr/>
        </p:nvSpPr>
        <p:spPr>
          <a:xfrm>
            <a:off x="548640" y="1554480"/>
            <a:ext cx="73152" cy="1097280"/>
          </a:xfrm>
          <a:prstGeom prst="rect">
            <a:avLst/>
          </a:prstGeom>
          <a:solidFill>
            <a:srgbClr val="028090"/>
          </a:solidFill>
          <a:ln w="12700">
            <a:solidFill>
              <a:srgbClr val="028090"/>
            </a:solidFill>
            <a:prstDash val="solid"/>
          </a:ln>
        </p:spPr>
        <p:txBody>
          <a:bodyPr/>
          <a:lstStyle/>
          <a:p>
            <a:endParaRPr lang="zh-CN" altLang="en-US"/>
          </a:p>
        </p:txBody>
      </p:sp>
      <p:sp>
        <p:nvSpPr>
          <p:cNvPr id="7" name="Text 5"/>
          <p:cNvSpPr/>
          <p:nvPr/>
        </p:nvSpPr>
        <p:spPr>
          <a:xfrm>
            <a:off x="777240" y="1645920"/>
            <a:ext cx="24688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25</a:t>
            </a:r>
            <a:endParaRPr lang="en-US" sz="2800" dirty="0"/>
          </a:p>
        </p:txBody>
      </p:sp>
      <p:sp>
        <p:nvSpPr>
          <p:cNvPr id="8" name="Text 6"/>
          <p:cNvSpPr/>
          <p:nvPr/>
        </p:nvSpPr>
        <p:spPr>
          <a:xfrm>
            <a:off x="777240" y="2240280"/>
            <a:ext cx="24688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RACI tasks</a:t>
            </a:r>
            <a:endParaRPr lang="en-US" sz="1100" dirty="0"/>
          </a:p>
        </p:txBody>
      </p:sp>
      <p:sp>
        <p:nvSpPr>
          <p:cNvPr id="9" name="Shape 7"/>
          <p:cNvSpPr/>
          <p:nvPr/>
        </p:nvSpPr>
        <p:spPr>
          <a:xfrm>
            <a:off x="3429000" y="1554480"/>
            <a:ext cx="2743200" cy="10972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0" name="Shape 8"/>
          <p:cNvSpPr/>
          <p:nvPr/>
        </p:nvSpPr>
        <p:spPr>
          <a:xfrm>
            <a:off x="3429000" y="1554480"/>
            <a:ext cx="73152" cy="1097280"/>
          </a:xfrm>
          <a:prstGeom prst="rect">
            <a:avLst/>
          </a:prstGeom>
          <a:solidFill>
            <a:srgbClr val="02C39A"/>
          </a:solidFill>
          <a:ln w="12700">
            <a:solidFill>
              <a:srgbClr val="02C39A"/>
            </a:solidFill>
            <a:prstDash val="solid"/>
          </a:ln>
        </p:spPr>
        <p:txBody>
          <a:bodyPr/>
          <a:lstStyle/>
          <a:p>
            <a:endParaRPr lang="zh-CN" altLang="en-US"/>
          </a:p>
        </p:txBody>
      </p:sp>
      <p:sp>
        <p:nvSpPr>
          <p:cNvPr id="11" name="Text 9"/>
          <p:cNvSpPr/>
          <p:nvPr/>
        </p:nvSpPr>
        <p:spPr>
          <a:xfrm>
            <a:off x="3657600" y="1645920"/>
            <a:ext cx="24688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7</a:t>
            </a:r>
            <a:endParaRPr lang="en-US" sz="2800" dirty="0"/>
          </a:p>
        </p:txBody>
      </p:sp>
      <p:sp>
        <p:nvSpPr>
          <p:cNvPr id="12" name="Text 10"/>
          <p:cNvSpPr/>
          <p:nvPr/>
        </p:nvSpPr>
        <p:spPr>
          <a:xfrm>
            <a:off x="3657600" y="2240280"/>
            <a:ext cx="24688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Stakeholder roles</a:t>
            </a:r>
            <a:endParaRPr lang="en-US" sz="1100" dirty="0"/>
          </a:p>
        </p:txBody>
      </p:sp>
      <p:sp>
        <p:nvSpPr>
          <p:cNvPr id="13" name="Shape 11"/>
          <p:cNvSpPr/>
          <p:nvPr/>
        </p:nvSpPr>
        <p:spPr>
          <a:xfrm>
            <a:off x="6309360" y="1554480"/>
            <a:ext cx="2743200" cy="10972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4" name="Shape 12"/>
          <p:cNvSpPr/>
          <p:nvPr/>
        </p:nvSpPr>
        <p:spPr>
          <a:xfrm>
            <a:off x="6309360" y="1554480"/>
            <a:ext cx="73152" cy="1097280"/>
          </a:xfrm>
          <a:prstGeom prst="rect">
            <a:avLst/>
          </a:prstGeom>
          <a:solidFill>
            <a:srgbClr val="F4A261"/>
          </a:solidFill>
          <a:ln w="12700">
            <a:solidFill>
              <a:srgbClr val="F4A261"/>
            </a:solidFill>
            <a:prstDash val="solid"/>
          </a:ln>
        </p:spPr>
        <p:txBody>
          <a:bodyPr/>
          <a:lstStyle/>
          <a:p>
            <a:endParaRPr lang="zh-CN" altLang="en-US"/>
          </a:p>
        </p:txBody>
      </p:sp>
      <p:sp>
        <p:nvSpPr>
          <p:cNvPr id="15" name="Text 13"/>
          <p:cNvSpPr/>
          <p:nvPr/>
        </p:nvSpPr>
        <p:spPr>
          <a:xfrm>
            <a:off x="6537960" y="1645920"/>
            <a:ext cx="24688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10x7</a:t>
            </a:r>
            <a:endParaRPr lang="en-US" sz="2800" dirty="0"/>
          </a:p>
        </p:txBody>
      </p:sp>
      <p:sp>
        <p:nvSpPr>
          <p:cNvPr id="16" name="Text 14"/>
          <p:cNvSpPr/>
          <p:nvPr/>
        </p:nvSpPr>
        <p:spPr>
          <a:xfrm>
            <a:off x="6537960" y="2240280"/>
            <a:ext cx="24688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Permission cells</a:t>
            </a:r>
            <a:endParaRPr lang="en-US" sz="1100" dirty="0"/>
          </a:p>
        </p:txBody>
      </p:sp>
      <p:sp>
        <p:nvSpPr>
          <p:cNvPr id="17" name="Shape 15"/>
          <p:cNvSpPr/>
          <p:nvPr/>
        </p:nvSpPr>
        <p:spPr>
          <a:xfrm>
            <a:off x="9189720" y="1554480"/>
            <a:ext cx="2423160" cy="10972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8" name="Shape 16"/>
          <p:cNvSpPr/>
          <p:nvPr/>
        </p:nvSpPr>
        <p:spPr>
          <a:xfrm>
            <a:off x="9189720" y="1554480"/>
            <a:ext cx="73152" cy="1097280"/>
          </a:xfrm>
          <a:prstGeom prst="rect">
            <a:avLst/>
          </a:prstGeom>
          <a:solidFill>
            <a:srgbClr val="E63946"/>
          </a:solidFill>
          <a:ln w="12700">
            <a:solidFill>
              <a:srgbClr val="E63946"/>
            </a:solidFill>
            <a:prstDash val="solid"/>
          </a:ln>
        </p:spPr>
        <p:txBody>
          <a:bodyPr/>
          <a:lstStyle/>
          <a:p>
            <a:endParaRPr lang="zh-CN" altLang="en-US"/>
          </a:p>
        </p:txBody>
      </p:sp>
      <p:sp>
        <p:nvSpPr>
          <p:cNvPr id="19" name="Text 17"/>
          <p:cNvSpPr/>
          <p:nvPr/>
        </p:nvSpPr>
        <p:spPr>
          <a:xfrm>
            <a:off x="9418320" y="1645920"/>
            <a:ext cx="214884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1 A</a:t>
            </a:r>
            <a:endParaRPr lang="en-US" sz="2800" dirty="0"/>
          </a:p>
        </p:txBody>
      </p:sp>
      <p:sp>
        <p:nvSpPr>
          <p:cNvPr id="20" name="Text 18"/>
          <p:cNvSpPr/>
          <p:nvPr/>
        </p:nvSpPr>
        <p:spPr>
          <a:xfrm>
            <a:off x="9418320" y="2240280"/>
            <a:ext cx="214884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Accountable per task</a:t>
            </a:r>
            <a:endParaRPr lang="en-US" sz="1100" dirty="0"/>
          </a:p>
        </p:txBody>
      </p:sp>
      <p:sp>
        <p:nvSpPr>
          <p:cNvPr id="21" name="Shape 19"/>
          <p:cNvSpPr/>
          <p:nvPr/>
        </p:nvSpPr>
        <p:spPr>
          <a:xfrm>
            <a:off x="548640" y="2834640"/>
            <a:ext cx="11064240" cy="347472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2" name="Text 20"/>
          <p:cNvSpPr/>
          <p:nvPr/>
        </p:nvSpPr>
        <p:spPr>
          <a:xfrm>
            <a:off x="777240" y="2971800"/>
            <a:ext cx="1060704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RBAC ROLE HIERARCHY (POSTGRESQL)</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77240" y="3291840"/>
          <a:ext cx="10607040" cy="2019300"/>
        </p:xfrm>
        <a:graphic>
          <a:graphicData uri="http://schemas.openxmlformats.org/drawingml/2006/table">
            <a:tbl>
              <a:tblPr/>
              <a:tblGrid>
                <a:gridCol w="34747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0">
                <a:tc>
                  <a:txBody>
                    <a:bodyPr/>
                    <a:lstStyle/>
                    <a:p>
                      <a:pPr marL="0" indent="0">
                        <a:buNone/>
                      </a:pPr>
                      <a:r>
                        <a:rPr lang="en-US" sz="1100" b="1" dirty="0">
                          <a:solidFill>
                            <a:srgbClr val="FFFFFF"/>
                          </a:solidFill>
                        </a:rPr>
                        <a:t>Role</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A"/>
                    </a:solidFill>
                  </a:tcPr>
                </a:tc>
                <a:tc>
                  <a:txBody>
                    <a:bodyPr/>
                    <a:lstStyle/>
                    <a:p>
                      <a:pPr marL="0" indent="0">
                        <a:buNone/>
                      </a:pPr>
                      <a:r>
                        <a:rPr lang="en-US" sz="1100" b="1" dirty="0">
                          <a:solidFill>
                            <a:srgbClr val="FFFFFF"/>
                          </a:solidFill>
                        </a:rPr>
                        <a:t>Tier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A"/>
                    </a:solidFill>
                  </a:tcPr>
                </a:tc>
                <a:tc>
                  <a:txBody>
                    <a:bodyPr/>
                    <a:lstStyle/>
                    <a:p>
                      <a:pPr marL="0" indent="0">
                        <a:buNone/>
                      </a:pPr>
                      <a:r>
                        <a:rPr lang="en-US" sz="1100" b="1" dirty="0">
                          <a:solidFill>
                            <a:srgbClr val="FFFFFF"/>
                          </a:solidFill>
                        </a:rPr>
                        <a:t>Sees PII as</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A"/>
                    </a:solidFill>
                  </a:tcPr>
                </a:tc>
                <a:tc>
                  <a:txBody>
                    <a:bodyPr/>
                    <a:lstStyle/>
                    <a:p>
                      <a:pPr marL="0" indent="0">
                        <a:buNone/>
                      </a:pPr>
                      <a:r>
                        <a:rPr lang="en-US" sz="1100" b="1" dirty="0">
                          <a:solidFill>
                            <a:srgbClr val="FFFFFF"/>
                          </a:solidFill>
                        </a:rPr>
                        <a:t>Vault</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A"/>
                    </a:solidFill>
                  </a:tcPr>
                </a:tc>
                <a:tc>
                  <a:txBody>
                    <a:bodyPr/>
                    <a:lstStyle/>
                    <a:p>
                      <a:pPr marL="0" indent="0">
                        <a:buNone/>
                      </a:pPr>
                      <a:r>
                        <a:rPr lang="en-US" sz="1100" b="1" dirty="0">
                          <a:solidFill>
                            <a:srgbClr val="FFFFFF"/>
                          </a:solidFill>
                        </a:rPr>
                        <a:t>Detokenize?</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A"/>
                    </a:solidFill>
                  </a:tcPr>
                </a:tc>
                <a:extLst>
                  <a:ext uri="{0D108BD9-81ED-4DB2-BD59-A6C34878D82A}">
                    <a16:rowId xmlns:a16="http://schemas.microsoft.com/office/drawing/2014/main" val="10000"/>
                  </a:ext>
                </a:extLst>
              </a:tr>
              <a:tr h="0">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Chief Data Officer (CDO)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Full Access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E63946"/>
                          </a:solidFill>
                          <a:latin typeface="Calibri" pitchFamily="34" charset="0"/>
                          <a:ea typeface="Calibri" pitchFamily="34" charset="-122"/>
                          <a:cs typeface="Calibri" pitchFamily="34" charset="-120"/>
                        </a:rPr>
                        <a:t>RAW</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F4A261"/>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E63946"/>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Data Privacy Officer (DPO)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Elevated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E63946"/>
                          </a:solidFill>
                          <a:latin typeface="Calibri" pitchFamily="34" charset="0"/>
                          <a:ea typeface="Calibri" pitchFamily="34" charset="-122"/>
                          <a:cs typeface="Calibri" pitchFamily="34" charset="-120"/>
                        </a:rPr>
                        <a:t>RAW</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F4A261"/>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E63946"/>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AML Compliance Officer</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Elevated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28090"/>
                          </a:solidFill>
                          <a:latin typeface="Calibri" pitchFamily="34" charset="0"/>
                          <a:ea typeface="Calibri" pitchFamily="34" charset="-122"/>
                          <a:cs typeface="Calibri" pitchFamily="34" charset="-120"/>
                        </a:rPr>
                        <a:t>MASKED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Data Engineer</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28090"/>
                          </a:solidFill>
                          <a:latin typeface="Calibri" pitchFamily="34" charset="0"/>
                          <a:ea typeface="Calibri" pitchFamily="34" charset="-122"/>
                          <a:cs typeface="Calibri" pitchFamily="34" charset="-120"/>
                        </a:rPr>
                        <a:t>MASKED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Data Analyst</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28090"/>
                          </a:solidFill>
                          <a:latin typeface="Calibri" pitchFamily="34" charset="0"/>
                          <a:ea typeface="Calibri" pitchFamily="34" charset="-122"/>
                          <a:cs typeface="Calibri" pitchFamily="34" charset="-120"/>
                        </a:rPr>
                        <a:t>MASKED*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IT Security Admin</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Elevated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28090"/>
                          </a:solidFill>
                          <a:latin typeface="Calibri" pitchFamily="34" charset="0"/>
                          <a:ea typeface="Calibri" pitchFamily="34" charset="-122"/>
                          <a:cs typeface="Calibri" pitchFamily="34" charset="-120"/>
                        </a:rPr>
                        <a:t>MASKED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F4A261"/>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E63946"/>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External Auditor (Deloitte)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Read-Only</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028090"/>
                          </a:solidFill>
                          <a:latin typeface="Calibri" pitchFamily="34" charset="0"/>
                          <a:ea typeface="Calibri" pitchFamily="34" charset="-122"/>
                          <a:cs typeface="Calibri" pitchFamily="34" charset="-120"/>
                        </a:rPr>
                        <a:t>MASKED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4" name="Shape 21"/>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25" name="Text 22"/>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26" name="Text 23"/>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HOW - FAIRNESS AUDIT</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Week 8: measuring disparate impact before deployment</a:t>
            </a:r>
            <a:endParaRPr lang="en-US" sz="2800" dirty="0"/>
          </a:p>
        </p:txBody>
      </p:sp>
      <p:sp>
        <p:nvSpPr>
          <p:cNvPr id="5" name="Shape 3"/>
          <p:cNvSpPr/>
          <p:nvPr/>
        </p:nvSpPr>
        <p:spPr>
          <a:xfrm>
            <a:off x="548640" y="1554480"/>
            <a:ext cx="5486400" cy="47548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Text 4"/>
          <p:cNvSpPr/>
          <p:nvPr/>
        </p:nvSpPr>
        <p:spPr>
          <a:xfrm>
            <a:off x="777240" y="1691640"/>
            <a:ext cx="502920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METHODOLOGY</a:t>
            </a:r>
            <a:endParaRPr lang="en-US" sz="1100" dirty="0"/>
          </a:p>
        </p:txBody>
      </p:sp>
      <p:sp>
        <p:nvSpPr>
          <p:cNvPr id="7" name="Shape 5"/>
          <p:cNvSpPr/>
          <p:nvPr/>
        </p:nvSpPr>
        <p:spPr>
          <a:xfrm>
            <a:off x="777240" y="2103120"/>
            <a:ext cx="457200" cy="457200"/>
          </a:xfrm>
          <a:prstGeom prst="ellipse">
            <a:avLst/>
          </a:prstGeom>
          <a:solidFill>
            <a:srgbClr val="028090"/>
          </a:solidFill>
          <a:ln w="12700">
            <a:solidFill>
              <a:srgbClr val="028090"/>
            </a:solidFill>
            <a:prstDash val="solid"/>
          </a:ln>
        </p:spPr>
        <p:txBody>
          <a:bodyPr/>
          <a:lstStyle/>
          <a:p>
            <a:endParaRPr lang="zh-CN" altLang="en-US"/>
          </a:p>
        </p:txBody>
      </p:sp>
      <p:sp>
        <p:nvSpPr>
          <p:cNvPr id="8" name="Text 6"/>
          <p:cNvSpPr/>
          <p:nvPr/>
        </p:nvSpPr>
        <p:spPr>
          <a:xfrm>
            <a:off x="777240" y="21031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371600" y="2057400"/>
            <a:ext cx="4572000" cy="8229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Segment the population by protected attribute proxies (country, age band, marital status).</a:t>
            </a:r>
            <a:endParaRPr lang="en-US" sz="1200" dirty="0"/>
          </a:p>
        </p:txBody>
      </p:sp>
      <p:sp>
        <p:nvSpPr>
          <p:cNvPr id="10" name="Shape 8"/>
          <p:cNvSpPr/>
          <p:nvPr/>
        </p:nvSpPr>
        <p:spPr>
          <a:xfrm>
            <a:off x="777240" y="3063240"/>
            <a:ext cx="457200" cy="457200"/>
          </a:xfrm>
          <a:prstGeom prst="ellipse">
            <a:avLst/>
          </a:prstGeom>
          <a:solidFill>
            <a:srgbClr val="028090"/>
          </a:solidFill>
          <a:ln w="12700">
            <a:solidFill>
              <a:srgbClr val="028090"/>
            </a:solidFill>
            <a:prstDash val="solid"/>
          </a:ln>
        </p:spPr>
        <p:txBody>
          <a:bodyPr/>
          <a:lstStyle/>
          <a:p>
            <a:endParaRPr lang="zh-CN" altLang="en-US"/>
          </a:p>
        </p:txBody>
      </p:sp>
      <p:sp>
        <p:nvSpPr>
          <p:cNvPr id="11" name="Text 9"/>
          <p:cNvSpPr/>
          <p:nvPr/>
        </p:nvSpPr>
        <p:spPr>
          <a:xfrm>
            <a:off x="777240" y="30632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371600" y="3017520"/>
            <a:ext cx="4572000" cy="8229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Compute the AML-flag positive rate per segment.</a:t>
            </a:r>
            <a:endParaRPr lang="en-US" sz="1200" dirty="0"/>
          </a:p>
        </p:txBody>
      </p:sp>
      <p:sp>
        <p:nvSpPr>
          <p:cNvPr id="13" name="Shape 11"/>
          <p:cNvSpPr/>
          <p:nvPr/>
        </p:nvSpPr>
        <p:spPr>
          <a:xfrm>
            <a:off x="777240" y="4023360"/>
            <a:ext cx="457200" cy="457200"/>
          </a:xfrm>
          <a:prstGeom prst="ellipse">
            <a:avLst/>
          </a:prstGeom>
          <a:solidFill>
            <a:srgbClr val="028090"/>
          </a:solidFill>
          <a:ln w="12700">
            <a:solidFill>
              <a:srgbClr val="028090"/>
            </a:solidFill>
            <a:prstDash val="solid"/>
          </a:ln>
        </p:spPr>
        <p:txBody>
          <a:bodyPr/>
          <a:lstStyle/>
          <a:p>
            <a:endParaRPr lang="zh-CN" altLang="en-US"/>
          </a:p>
        </p:txBody>
      </p:sp>
      <p:sp>
        <p:nvSpPr>
          <p:cNvPr id="14" name="Text 12"/>
          <p:cNvSpPr/>
          <p:nvPr/>
        </p:nvSpPr>
        <p:spPr>
          <a:xfrm>
            <a:off x="777240" y="4023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371600" y="3977640"/>
            <a:ext cx="4572000" cy="8229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Run the four-fifths rule: ratio &lt; 0.8 is a disparate-impact flag.</a:t>
            </a:r>
            <a:endParaRPr lang="en-US" sz="1200" dirty="0"/>
          </a:p>
        </p:txBody>
      </p:sp>
      <p:sp>
        <p:nvSpPr>
          <p:cNvPr id="16" name="Shape 14"/>
          <p:cNvSpPr/>
          <p:nvPr/>
        </p:nvSpPr>
        <p:spPr>
          <a:xfrm>
            <a:off x="777240" y="4983480"/>
            <a:ext cx="457200" cy="457200"/>
          </a:xfrm>
          <a:prstGeom prst="ellipse">
            <a:avLst/>
          </a:prstGeom>
          <a:solidFill>
            <a:srgbClr val="028090"/>
          </a:solidFill>
          <a:ln w="12700">
            <a:solidFill>
              <a:srgbClr val="028090"/>
            </a:solidFill>
            <a:prstDash val="solid"/>
          </a:ln>
        </p:spPr>
        <p:txBody>
          <a:bodyPr/>
          <a:lstStyle/>
          <a:p>
            <a:endParaRPr lang="zh-CN" altLang="en-US"/>
          </a:p>
        </p:txBody>
      </p:sp>
      <p:sp>
        <p:nvSpPr>
          <p:cNvPr id="17" name="Text 15"/>
          <p:cNvSpPr/>
          <p:nvPr/>
        </p:nvSpPr>
        <p:spPr>
          <a:xfrm>
            <a:off x="777240" y="4983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371600" y="4937760"/>
            <a:ext cx="4572000" cy="8229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Re-run after intervention (age-band, country-context features) and confirm closing of the gap.</a:t>
            </a:r>
            <a:endParaRPr lang="en-US" sz="1200" dirty="0"/>
          </a:p>
        </p:txBody>
      </p:sp>
      <p:sp>
        <p:nvSpPr>
          <p:cNvPr id="19" name="Shape 17"/>
          <p:cNvSpPr/>
          <p:nvPr/>
        </p:nvSpPr>
        <p:spPr>
          <a:xfrm>
            <a:off x="6217920" y="1554480"/>
            <a:ext cx="5394960" cy="475488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0" name="Text 18"/>
          <p:cNvSpPr/>
          <p:nvPr/>
        </p:nvSpPr>
        <p:spPr>
          <a:xfrm>
            <a:off x="6446520" y="1691640"/>
            <a:ext cx="4937760" cy="274320"/>
          </a:xfrm>
          <a:prstGeom prst="rect">
            <a:avLst/>
          </a:prstGeom>
          <a:noFill/>
          <a:ln/>
        </p:spPr>
        <p:txBody>
          <a:bodyPr wrap="square" lIns="0" tIns="0" rIns="0" bIns="0" rtlCol="0" anchor="ctr"/>
          <a:lstStyle/>
          <a:p>
            <a:pPr marL="0" indent="0">
              <a:buNone/>
            </a:pPr>
            <a:r>
              <a:rPr lang="en-US" sz="1100" b="1" kern="0" spc="300" dirty="0">
                <a:solidFill>
                  <a:srgbClr val="E63946"/>
                </a:solidFill>
                <a:latin typeface="Calibri" pitchFamily="34" charset="0"/>
                <a:ea typeface="Calibri" pitchFamily="34" charset="-122"/>
                <a:cs typeface="Calibri" pitchFamily="34" charset="-120"/>
              </a:rPr>
              <a:t>WHAT WE FOUND</a:t>
            </a:r>
            <a:endParaRPr lang="en-US" sz="1100" dirty="0"/>
          </a:p>
        </p:txBody>
      </p:sp>
      <p:sp>
        <p:nvSpPr>
          <p:cNvPr id="21" name="Text 19"/>
          <p:cNvSpPr/>
          <p:nvPr/>
        </p:nvSpPr>
        <p:spPr>
          <a:xfrm>
            <a:off x="6446520" y="2057400"/>
            <a:ext cx="4937760" cy="27432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FATF country bias</a:t>
            </a:r>
            <a:endParaRPr lang="en-US" sz="1300" dirty="0"/>
          </a:p>
        </p:txBody>
      </p:sp>
      <p:sp>
        <p:nvSpPr>
          <p:cNvPr id="22" name="Shape 20"/>
          <p:cNvSpPr/>
          <p:nvPr/>
        </p:nvSpPr>
        <p:spPr>
          <a:xfrm>
            <a:off x="6446520" y="2423160"/>
            <a:ext cx="1371600" cy="365760"/>
          </a:xfrm>
          <a:prstGeom prst="roundRect">
            <a:avLst>
              <a:gd name="adj" fmla="val 20000"/>
            </a:avLst>
          </a:prstGeom>
          <a:solidFill>
            <a:srgbClr val="E63946"/>
          </a:solidFill>
          <a:ln w="12700">
            <a:solidFill>
              <a:srgbClr val="E63946"/>
            </a:solidFill>
            <a:prstDash val="solid"/>
          </a:ln>
        </p:spPr>
        <p:txBody>
          <a:bodyPr/>
          <a:lstStyle/>
          <a:p>
            <a:endParaRPr lang="zh-CN" altLang="en-US"/>
          </a:p>
        </p:txBody>
      </p:sp>
      <p:sp>
        <p:nvSpPr>
          <p:cNvPr id="23" name="Text 21"/>
          <p:cNvSpPr/>
          <p:nvPr/>
        </p:nvSpPr>
        <p:spPr>
          <a:xfrm>
            <a:off x="6446520" y="2423160"/>
            <a:ext cx="13716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Before 0.62</a:t>
            </a:r>
            <a:endParaRPr lang="en-US" sz="1100" dirty="0"/>
          </a:p>
        </p:txBody>
      </p:sp>
      <p:sp>
        <p:nvSpPr>
          <p:cNvPr id="24" name="Text 22"/>
          <p:cNvSpPr/>
          <p:nvPr/>
        </p:nvSpPr>
        <p:spPr>
          <a:xfrm>
            <a:off x="7909560" y="2423160"/>
            <a:ext cx="365760" cy="365760"/>
          </a:xfrm>
          <a:prstGeom prst="rect">
            <a:avLst/>
          </a:prstGeom>
          <a:noFill/>
          <a:ln/>
        </p:spPr>
        <p:txBody>
          <a:bodyPr wrap="square" lIns="0" tIns="0" rIns="0" bIns="0"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-&gt;</a:t>
            </a:r>
            <a:endParaRPr lang="en-US" sz="1600" dirty="0"/>
          </a:p>
        </p:txBody>
      </p:sp>
      <p:sp>
        <p:nvSpPr>
          <p:cNvPr id="25" name="Shape 23"/>
          <p:cNvSpPr/>
          <p:nvPr/>
        </p:nvSpPr>
        <p:spPr>
          <a:xfrm>
            <a:off x="8321040" y="2423160"/>
            <a:ext cx="1371600" cy="365760"/>
          </a:xfrm>
          <a:prstGeom prst="roundRect">
            <a:avLst>
              <a:gd name="adj" fmla="val 20000"/>
            </a:avLst>
          </a:prstGeom>
          <a:solidFill>
            <a:srgbClr val="02C39A"/>
          </a:solidFill>
          <a:ln w="12700">
            <a:solidFill>
              <a:srgbClr val="02C39A"/>
            </a:solidFill>
            <a:prstDash val="solid"/>
          </a:ln>
        </p:spPr>
        <p:txBody>
          <a:bodyPr/>
          <a:lstStyle/>
          <a:p>
            <a:endParaRPr lang="zh-CN" altLang="en-US"/>
          </a:p>
        </p:txBody>
      </p:sp>
      <p:sp>
        <p:nvSpPr>
          <p:cNvPr id="26" name="Text 24"/>
          <p:cNvSpPr/>
          <p:nvPr/>
        </p:nvSpPr>
        <p:spPr>
          <a:xfrm>
            <a:off x="8321040" y="2423160"/>
            <a:ext cx="13716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After 0.91</a:t>
            </a:r>
            <a:endParaRPr lang="en-US" sz="1100" dirty="0"/>
          </a:p>
        </p:txBody>
      </p:sp>
      <p:sp>
        <p:nvSpPr>
          <p:cNvPr id="27" name="Text 25"/>
          <p:cNvSpPr/>
          <p:nvPr/>
        </p:nvSpPr>
        <p:spPr>
          <a:xfrm>
            <a:off x="6446520" y="2834640"/>
            <a:ext cx="4937760" cy="5029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Country-context features rebalanced raw risk.</a:t>
            </a:r>
            <a:endParaRPr lang="en-US" sz="1000" dirty="0"/>
          </a:p>
        </p:txBody>
      </p:sp>
      <p:sp>
        <p:nvSpPr>
          <p:cNvPr id="28" name="Text 26"/>
          <p:cNvSpPr/>
          <p:nvPr/>
        </p:nvSpPr>
        <p:spPr>
          <a:xfrm>
            <a:off x="6446520" y="3429000"/>
            <a:ext cx="4937760" cy="27432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Age proxy</a:t>
            </a:r>
            <a:endParaRPr lang="en-US" sz="1300" dirty="0"/>
          </a:p>
        </p:txBody>
      </p:sp>
      <p:sp>
        <p:nvSpPr>
          <p:cNvPr id="29" name="Shape 27"/>
          <p:cNvSpPr/>
          <p:nvPr/>
        </p:nvSpPr>
        <p:spPr>
          <a:xfrm>
            <a:off x="6446520" y="3794760"/>
            <a:ext cx="1371600" cy="365760"/>
          </a:xfrm>
          <a:prstGeom prst="roundRect">
            <a:avLst>
              <a:gd name="adj" fmla="val 20000"/>
            </a:avLst>
          </a:prstGeom>
          <a:solidFill>
            <a:srgbClr val="E63946"/>
          </a:solidFill>
          <a:ln w="12700">
            <a:solidFill>
              <a:srgbClr val="E63946"/>
            </a:solidFill>
            <a:prstDash val="solid"/>
          </a:ln>
        </p:spPr>
        <p:txBody>
          <a:bodyPr/>
          <a:lstStyle/>
          <a:p>
            <a:endParaRPr lang="zh-CN" altLang="en-US"/>
          </a:p>
        </p:txBody>
      </p:sp>
      <p:sp>
        <p:nvSpPr>
          <p:cNvPr id="30" name="Text 28"/>
          <p:cNvSpPr/>
          <p:nvPr/>
        </p:nvSpPr>
        <p:spPr>
          <a:xfrm>
            <a:off x="6446520" y="3794760"/>
            <a:ext cx="13716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Before 0.71</a:t>
            </a:r>
            <a:endParaRPr lang="en-US" sz="1100" dirty="0"/>
          </a:p>
        </p:txBody>
      </p:sp>
      <p:sp>
        <p:nvSpPr>
          <p:cNvPr id="31" name="Text 29"/>
          <p:cNvSpPr/>
          <p:nvPr/>
        </p:nvSpPr>
        <p:spPr>
          <a:xfrm>
            <a:off x="7909560" y="3794760"/>
            <a:ext cx="365760" cy="365760"/>
          </a:xfrm>
          <a:prstGeom prst="rect">
            <a:avLst/>
          </a:prstGeom>
          <a:noFill/>
          <a:ln/>
        </p:spPr>
        <p:txBody>
          <a:bodyPr wrap="square" lIns="0" tIns="0" rIns="0" bIns="0"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-&gt;</a:t>
            </a:r>
            <a:endParaRPr lang="en-US" sz="1600" dirty="0"/>
          </a:p>
        </p:txBody>
      </p:sp>
      <p:sp>
        <p:nvSpPr>
          <p:cNvPr id="32" name="Shape 30"/>
          <p:cNvSpPr/>
          <p:nvPr/>
        </p:nvSpPr>
        <p:spPr>
          <a:xfrm>
            <a:off x="8321040" y="3794760"/>
            <a:ext cx="1371600" cy="365760"/>
          </a:xfrm>
          <a:prstGeom prst="roundRect">
            <a:avLst>
              <a:gd name="adj" fmla="val 20000"/>
            </a:avLst>
          </a:prstGeom>
          <a:solidFill>
            <a:srgbClr val="02C39A"/>
          </a:solidFill>
          <a:ln w="12700">
            <a:solidFill>
              <a:srgbClr val="02C39A"/>
            </a:solidFill>
            <a:prstDash val="solid"/>
          </a:ln>
        </p:spPr>
        <p:txBody>
          <a:bodyPr/>
          <a:lstStyle/>
          <a:p>
            <a:endParaRPr lang="zh-CN" altLang="en-US"/>
          </a:p>
        </p:txBody>
      </p:sp>
      <p:sp>
        <p:nvSpPr>
          <p:cNvPr id="33" name="Text 31"/>
          <p:cNvSpPr/>
          <p:nvPr/>
        </p:nvSpPr>
        <p:spPr>
          <a:xfrm>
            <a:off x="8321040" y="3794760"/>
            <a:ext cx="13716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After 0.95</a:t>
            </a:r>
            <a:endParaRPr lang="en-US" sz="1100" dirty="0"/>
          </a:p>
        </p:txBody>
      </p:sp>
      <p:sp>
        <p:nvSpPr>
          <p:cNvPr id="34" name="Text 32"/>
          <p:cNvSpPr/>
          <p:nvPr/>
        </p:nvSpPr>
        <p:spPr>
          <a:xfrm>
            <a:off x="6446520" y="4206240"/>
            <a:ext cx="4937760" cy="5029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Age-banded to decade ranges (30-39 etc.)</a:t>
            </a:r>
            <a:endParaRPr lang="en-US" sz="1000" dirty="0"/>
          </a:p>
        </p:txBody>
      </p:sp>
      <p:sp>
        <p:nvSpPr>
          <p:cNvPr id="35" name="Text 33"/>
          <p:cNvSpPr/>
          <p:nvPr/>
        </p:nvSpPr>
        <p:spPr>
          <a:xfrm>
            <a:off x="6446520" y="4800600"/>
            <a:ext cx="4937760" cy="27432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Marketing leak</a:t>
            </a:r>
            <a:endParaRPr lang="en-US" sz="1300" dirty="0"/>
          </a:p>
        </p:txBody>
      </p:sp>
      <p:sp>
        <p:nvSpPr>
          <p:cNvPr id="36" name="Shape 34"/>
          <p:cNvSpPr/>
          <p:nvPr/>
        </p:nvSpPr>
        <p:spPr>
          <a:xfrm>
            <a:off x="6446520" y="5166360"/>
            <a:ext cx="1371600" cy="365760"/>
          </a:xfrm>
          <a:prstGeom prst="roundRect">
            <a:avLst>
              <a:gd name="adj" fmla="val 20000"/>
            </a:avLst>
          </a:prstGeom>
          <a:solidFill>
            <a:srgbClr val="E63946"/>
          </a:solidFill>
          <a:ln w="12700">
            <a:solidFill>
              <a:srgbClr val="E63946"/>
            </a:solidFill>
            <a:prstDash val="solid"/>
          </a:ln>
        </p:spPr>
        <p:txBody>
          <a:bodyPr/>
          <a:lstStyle/>
          <a:p>
            <a:endParaRPr lang="zh-CN" altLang="en-US"/>
          </a:p>
        </p:txBody>
      </p:sp>
      <p:sp>
        <p:nvSpPr>
          <p:cNvPr id="37" name="Text 35"/>
          <p:cNvSpPr/>
          <p:nvPr/>
        </p:nvSpPr>
        <p:spPr>
          <a:xfrm>
            <a:off x="6446520" y="5166360"/>
            <a:ext cx="13716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Before 0.55</a:t>
            </a:r>
            <a:endParaRPr lang="en-US" sz="1100" dirty="0"/>
          </a:p>
        </p:txBody>
      </p:sp>
      <p:sp>
        <p:nvSpPr>
          <p:cNvPr id="38" name="Text 36"/>
          <p:cNvSpPr/>
          <p:nvPr/>
        </p:nvSpPr>
        <p:spPr>
          <a:xfrm>
            <a:off x="7909560" y="5166360"/>
            <a:ext cx="365760" cy="365760"/>
          </a:xfrm>
          <a:prstGeom prst="rect">
            <a:avLst/>
          </a:prstGeom>
          <a:noFill/>
          <a:ln/>
        </p:spPr>
        <p:txBody>
          <a:bodyPr wrap="square" lIns="0" tIns="0" rIns="0" bIns="0"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-&gt;</a:t>
            </a:r>
            <a:endParaRPr lang="en-US" sz="1600" dirty="0"/>
          </a:p>
        </p:txBody>
      </p:sp>
      <p:sp>
        <p:nvSpPr>
          <p:cNvPr id="39" name="Shape 37"/>
          <p:cNvSpPr/>
          <p:nvPr/>
        </p:nvSpPr>
        <p:spPr>
          <a:xfrm>
            <a:off x="8321040" y="5166360"/>
            <a:ext cx="1371600" cy="365760"/>
          </a:xfrm>
          <a:prstGeom prst="roundRect">
            <a:avLst>
              <a:gd name="adj" fmla="val 20000"/>
            </a:avLst>
          </a:prstGeom>
          <a:solidFill>
            <a:srgbClr val="02C39A"/>
          </a:solidFill>
          <a:ln w="12700">
            <a:solidFill>
              <a:srgbClr val="02C39A"/>
            </a:solidFill>
            <a:prstDash val="solid"/>
          </a:ln>
        </p:spPr>
        <p:txBody>
          <a:bodyPr/>
          <a:lstStyle/>
          <a:p>
            <a:endParaRPr lang="zh-CN" altLang="en-US"/>
          </a:p>
        </p:txBody>
      </p:sp>
      <p:sp>
        <p:nvSpPr>
          <p:cNvPr id="40" name="Text 38"/>
          <p:cNvSpPr/>
          <p:nvPr/>
        </p:nvSpPr>
        <p:spPr>
          <a:xfrm>
            <a:off x="8321040" y="5166360"/>
            <a:ext cx="13716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After 0.93</a:t>
            </a:r>
            <a:endParaRPr lang="en-US" sz="1100" dirty="0"/>
          </a:p>
        </p:txBody>
      </p:sp>
      <p:sp>
        <p:nvSpPr>
          <p:cNvPr id="41" name="Text 39"/>
          <p:cNvSpPr/>
          <p:nvPr/>
        </p:nvSpPr>
        <p:spPr>
          <a:xfrm>
            <a:off x="6446520" y="5577840"/>
            <a:ext cx="4937760" cy="5029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Removed shared customer_id join in AML pipeline.</a:t>
            </a:r>
            <a:endParaRPr lang="en-US" sz="1000" dirty="0"/>
          </a:p>
        </p:txBody>
      </p:sp>
      <p:sp>
        <p:nvSpPr>
          <p:cNvPr id="42" name="Text 40"/>
          <p:cNvSpPr/>
          <p:nvPr/>
        </p:nvSpPr>
        <p:spPr>
          <a:xfrm>
            <a:off x="548640" y="6355080"/>
            <a:ext cx="11064240" cy="18288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Four-fifths rule (EEOC) - ratio above 0.8 means no disparate impact.</a:t>
            </a:r>
            <a:endParaRPr lang="en-US" sz="1000" dirty="0"/>
          </a:p>
        </p:txBody>
      </p:sp>
      <p:sp>
        <p:nvSpPr>
          <p:cNvPr id="43" name="Shape 41"/>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44" name="Text 42"/>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45" name="Text 43"/>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HOW - ETHICS OPERATIONALIZED</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UNESCO crosswalk - not citation, implementation</a:t>
            </a:r>
            <a:endParaRPr lang="en-US" sz="2800" dirty="0"/>
          </a:p>
        </p:txBody>
      </p:sp>
      <p:sp>
        <p:nvSpPr>
          <p:cNvPr id="5" name="Shape 3"/>
          <p:cNvSpPr/>
          <p:nvPr/>
        </p:nvSpPr>
        <p:spPr>
          <a:xfrm>
            <a:off x="548640" y="1554480"/>
            <a:ext cx="11064240" cy="82296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Text 4"/>
          <p:cNvSpPr/>
          <p:nvPr/>
        </p:nvSpPr>
        <p:spPr>
          <a:xfrm>
            <a:off x="777240" y="1645920"/>
            <a:ext cx="7315200" cy="320040"/>
          </a:xfrm>
          <a:prstGeom prst="rect">
            <a:avLst/>
          </a:prstGeom>
          <a:noFill/>
          <a:ln/>
        </p:spPr>
        <p:txBody>
          <a:bodyPr wrap="square" lIns="0" tIns="0" rIns="0" bIns="0" rtlCol="0" anchor="ctr"/>
          <a:lstStyle/>
          <a:p>
            <a:pPr marL="0" indent="0">
              <a:buNone/>
            </a:pPr>
            <a:r>
              <a:rPr lang="en-US" sz="1400" b="1" dirty="0">
                <a:solidFill>
                  <a:srgbClr val="0B1D3A"/>
                </a:solidFill>
                <a:latin typeface="Calibri" pitchFamily="34" charset="0"/>
                <a:ea typeface="Calibri" pitchFamily="34" charset="-122"/>
                <a:cs typeface="Calibri" pitchFamily="34" charset="-120"/>
              </a:rPr>
              <a:t>UNESCO Recommendation on the Ethics of AI (2021)</a:t>
            </a:r>
            <a:endParaRPr lang="en-US" sz="1400" dirty="0"/>
          </a:p>
        </p:txBody>
      </p:sp>
      <p:sp>
        <p:nvSpPr>
          <p:cNvPr id="7" name="Text 5"/>
          <p:cNvSpPr/>
          <p:nvPr/>
        </p:nvSpPr>
        <p:spPr>
          <a:xfrm>
            <a:off x="777240" y="1965960"/>
            <a:ext cx="731520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Adopted unanimously by 193 member states - the first global standard on AI ethics</a:t>
            </a:r>
            <a:endParaRPr lang="en-US" sz="1100" dirty="0"/>
          </a:p>
        </p:txBody>
      </p:sp>
      <p:sp>
        <p:nvSpPr>
          <p:cNvPr id="8" name="Shape 6"/>
          <p:cNvSpPr/>
          <p:nvPr/>
        </p:nvSpPr>
        <p:spPr>
          <a:xfrm>
            <a:off x="9144000" y="1737360"/>
            <a:ext cx="2377440" cy="457200"/>
          </a:xfrm>
          <a:prstGeom prst="roundRect">
            <a:avLst>
              <a:gd name="adj" fmla="val 16000"/>
            </a:avLst>
          </a:prstGeom>
          <a:solidFill>
            <a:srgbClr val="028090"/>
          </a:solidFill>
          <a:ln w="12700">
            <a:solidFill>
              <a:srgbClr val="028090"/>
            </a:solidFill>
            <a:prstDash val="solid"/>
          </a:ln>
        </p:spPr>
        <p:txBody>
          <a:bodyPr/>
          <a:lstStyle/>
          <a:p>
            <a:endParaRPr lang="zh-CN" altLang="en-US"/>
          </a:p>
        </p:txBody>
      </p:sp>
      <p:sp>
        <p:nvSpPr>
          <p:cNvPr id="9" name="Text 7"/>
          <p:cNvSpPr/>
          <p:nvPr/>
        </p:nvSpPr>
        <p:spPr>
          <a:xfrm>
            <a:off x="9144000" y="1737360"/>
            <a:ext cx="23774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193 member states</a:t>
            </a:r>
            <a:endParaRPr lang="en-US" sz="1100" dirty="0"/>
          </a:p>
        </p:txBody>
      </p:sp>
      <p:sp>
        <p:nvSpPr>
          <p:cNvPr id="10" name="Shape 8"/>
          <p:cNvSpPr/>
          <p:nvPr/>
        </p:nvSpPr>
        <p:spPr>
          <a:xfrm>
            <a:off x="548640" y="2560320"/>
            <a:ext cx="2743200" cy="9144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1" name="Shape 9"/>
          <p:cNvSpPr/>
          <p:nvPr/>
        </p:nvSpPr>
        <p:spPr>
          <a:xfrm>
            <a:off x="548640" y="2560320"/>
            <a:ext cx="73152" cy="914400"/>
          </a:xfrm>
          <a:prstGeom prst="rect">
            <a:avLst/>
          </a:prstGeom>
          <a:solidFill>
            <a:srgbClr val="028090"/>
          </a:solidFill>
          <a:ln w="12700">
            <a:solidFill>
              <a:srgbClr val="028090"/>
            </a:solidFill>
            <a:prstDash val="solid"/>
          </a:ln>
        </p:spPr>
        <p:txBody>
          <a:bodyPr/>
          <a:lstStyle/>
          <a:p>
            <a:endParaRPr lang="zh-CN" altLang="en-US"/>
          </a:p>
        </p:txBody>
      </p:sp>
      <p:sp>
        <p:nvSpPr>
          <p:cNvPr id="12" name="Text 10"/>
          <p:cNvSpPr/>
          <p:nvPr/>
        </p:nvSpPr>
        <p:spPr>
          <a:xfrm>
            <a:off x="777240" y="2651760"/>
            <a:ext cx="24688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10</a:t>
            </a:r>
            <a:endParaRPr lang="en-US" sz="2800" dirty="0"/>
          </a:p>
        </p:txBody>
      </p:sp>
      <p:sp>
        <p:nvSpPr>
          <p:cNvPr id="13" name="Text 11"/>
          <p:cNvSpPr/>
          <p:nvPr/>
        </p:nvSpPr>
        <p:spPr>
          <a:xfrm>
            <a:off x="777240" y="3246120"/>
            <a:ext cx="24688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UNESCO principles</a:t>
            </a:r>
            <a:endParaRPr lang="en-US" sz="1100" dirty="0"/>
          </a:p>
        </p:txBody>
      </p:sp>
      <p:sp>
        <p:nvSpPr>
          <p:cNvPr id="14" name="Shape 12"/>
          <p:cNvSpPr/>
          <p:nvPr/>
        </p:nvSpPr>
        <p:spPr>
          <a:xfrm>
            <a:off x="3429000" y="2560320"/>
            <a:ext cx="2743200" cy="9144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5" name="Shape 13"/>
          <p:cNvSpPr/>
          <p:nvPr/>
        </p:nvSpPr>
        <p:spPr>
          <a:xfrm>
            <a:off x="3429000" y="2560320"/>
            <a:ext cx="73152" cy="914400"/>
          </a:xfrm>
          <a:prstGeom prst="rect">
            <a:avLst/>
          </a:prstGeom>
          <a:solidFill>
            <a:srgbClr val="02C39A"/>
          </a:solidFill>
          <a:ln w="12700">
            <a:solidFill>
              <a:srgbClr val="02C39A"/>
            </a:solidFill>
            <a:prstDash val="solid"/>
          </a:ln>
        </p:spPr>
        <p:txBody>
          <a:bodyPr/>
          <a:lstStyle/>
          <a:p>
            <a:endParaRPr lang="zh-CN" altLang="en-US"/>
          </a:p>
        </p:txBody>
      </p:sp>
      <p:sp>
        <p:nvSpPr>
          <p:cNvPr id="16" name="Text 14"/>
          <p:cNvSpPr/>
          <p:nvPr/>
        </p:nvSpPr>
        <p:spPr>
          <a:xfrm>
            <a:off x="3657600" y="2651760"/>
            <a:ext cx="24688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4</a:t>
            </a:r>
            <a:endParaRPr lang="en-US" sz="2800" dirty="0"/>
          </a:p>
        </p:txBody>
      </p:sp>
      <p:sp>
        <p:nvSpPr>
          <p:cNvPr id="17" name="Text 15"/>
          <p:cNvSpPr/>
          <p:nvPr/>
        </p:nvSpPr>
        <p:spPr>
          <a:xfrm>
            <a:off x="3657600" y="3246120"/>
            <a:ext cx="24688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Foundational values</a:t>
            </a:r>
            <a:endParaRPr lang="en-US" sz="1100" dirty="0"/>
          </a:p>
        </p:txBody>
      </p:sp>
      <p:sp>
        <p:nvSpPr>
          <p:cNvPr id="18" name="Shape 16"/>
          <p:cNvSpPr/>
          <p:nvPr/>
        </p:nvSpPr>
        <p:spPr>
          <a:xfrm>
            <a:off x="6309360" y="2560320"/>
            <a:ext cx="2743200" cy="9144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9" name="Shape 17"/>
          <p:cNvSpPr/>
          <p:nvPr/>
        </p:nvSpPr>
        <p:spPr>
          <a:xfrm>
            <a:off x="6309360" y="2560320"/>
            <a:ext cx="73152" cy="914400"/>
          </a:xfrm>
          <a:prstGeom prst="rect">
            <a:avLst/>
          </a:prstGeom>
          <a:solidFill>
            <a:srgbClr val="F4A261"/>
          </a:solidFill>
          <a:ln w="12700">
            <a:solidFill>
              <a:srgbClr val="F4A261"/>
            </a:solidFill>
            <a:prstDash val="solid"/>
          </a:ln>
        </p:spPr>
        <p:txBody>
          <a:bodyPr/>
          <a:lstStyle/>
          <a:p>
            <a:endParaRPr lang="zh-CN" altLang="en-US"/>
          </a:p>
        </p:txBody>
      </p:sp>
      <p:sp>
        <p:nvSpPr>
          <p:cNvPr id="20" name="Text 18"/>
          <p:cNvSpPr/>
          <p:nvPr/>
        </p:nvSpPr>
        <p:spPr>
          <a:xfrm>
            <a:off x="6537960" y="2651760"/>
            <a:ext cx="24688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30</a:t>
            </a:r>
            <a:endParaRPr lang="en-US" sz="2800" dirty="0"/>
          </a:p>
        </p:txBody>
      </p:sp>
      <p:sp>
        <p:nvSpPr>
          <p:cNvPr id="21" name="Text 19"/>
          <p:cNvSpPr/>
          <p:nvPr/>
        </p:nvSpPr>
        <p:spPr>
          <a:xfrm>
            <a:off x="6537960" y="3246120"/>
            <a:ext cx="24688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FinGuard controls</a:t>
            </a:r>
            <a:endParaRPr lang="en-US" sz="1100" dirty="0"/>
          </a:p>
        </p:txBody>
      </p:sp>
      <p:sp>
        <p:nvSpPr>
          <p:cNvPr id="22" name="Shape 20"/>
          <p:cNvSpPr/>
          <p:nvPr/>
        </p:nvSpPr>
        <p:spPr>
          <a:xfrm>
            <a:off x="9189720" y="2560320"/>
            <a:ext cx="2423160" cy="9144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3" name="Shape 21"/>
          <p:cNvSpPr/>
          <p:nvPr/>
        </p:nvSpPr>
        <p:spPr>
          <a:xfrm>
            <a:off x="9189720" y="2560320"/>
            <a:ext cx="73152" cy="914400"/>
          </a:xfrm>
          <a:prstGeom prst="rect">
            <a:avLst/>
          </a:prstGeom>
          <a:solidFill>
            <a:srgbClr val="E63946"/>
          </a:solidFill>
          <a:ln w="12700">
            <a:solidFill>
              <a:srgbClr val="E63946"/>
            </a:solidFill>
            <a:prstDash val="solid"/>
          </a:ln>
        </p:spPr>
        <p:txBody>
          <a:bodyPr/>
          <a:lstStyle/>
          <a:p>
            <a:endParaRPr lang="zh-CN" altLang="en-US"/>
          </a:p>
        </p:txBody>
      </p:sp>
      <p:sp>
        <p:nvSpPr>
          <p:cNvPr id="24" name="Text 22"/>
          <p:cNvSpPr/>
          <p:nvPr/>
        </p:nvSpPr>
        <p:spPr>
          <a:xfrm>
            <a:off x="9418320" y="2651760"/>
            <a:ext cx="214884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4</a:t>
            </a:r>
            <a:endParaRPr lang="en-US" sz="2800" dirty="0"/>
          </a:p>
        </p:txBody>
      </p:sp>
      <p:sp>
        <p:nvSpPr>
          <p:cNvPr id="25" name="Text 23"/>
          <p:cNvSpPr/>
          <p:nvPr/>
        </p:nvSpPr>
        <p:spPr>
          <a:xfrm>
            <a:off x="9418320" y="3246120"/>
            <a:ext cx="214884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EU AI Act overlap</a:t>
            </a:r>
            <a:endParaRPr lang="en-US" sz="1100" dirty="0"/>
          </a:p>
        </p:txBody>
      </p:sp>
      <p:sp>
        <p:nvSpPr>
          <p:cNvPr id="26" name="Shape 24"/>
          <p:cNvSpPr/>
          <p:nvPr/>
        </p:nvSpPr>
        <p:spPr>
          <a:xfrm>
            <a:off x="548640" y="3657600"/>
            <a:ext cx="11064240" cy="274320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7" name="Text 25"/>
          <p:cNvSpPr/>
          <p:nvPr/>
        </p:nvSpPr>
        <p:spPr>
          <a:xfrm>
            <a:off x="777240" y="3749040"/>
            <a:ext cx="1060704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THREE PRINCIPLES, MAPPED TO CONCRETE CONTROLS</a:t>
            </a:r>
            <a:endParaRPr lang="en-US" sz="1100" dirty="0"/>
          </a:p>
        </p:txBody>
      </p:sp>
      <p:sp>
        <p:nvSpPr>
          <p:cNvPr id="28" name="Shape 26"/>
          <p:cNvSpPr/>
          <p:nvPr/>
        </p:nvSpPr>
        <p:spPr>
          <a:xfrm>
            <a:off x="777240" y="4160520"/>
            <a:ext cx="109728" cy="548640"/>
          </a:xfrm>
          <a:prstGeom prst="rect">
            <a:avLst/>
          </a:prstGeom>
          <a:solidFill>
            <a:srgbClr val="028090"/>
          </a:solidFill>
          <a:ln w="12700">
            <a:solidFill>
              <a:srgbClr val="028090"/>
            </a:solidFill>
            <a:prstDash val="solid"/>
          </a:ln>
        </p:spPr>
        <p:txBody>
          <a:bodyPr/>
          <a:lstStyle/>
          <a:p>
            <a:endParaRPr lang="zh-CN" altLang="en-US"/>
          </a:p>
        </p:txBody>
      </p:sp>
      <p:sp>
        <p:nvSpPr>
          <p:cNvPr id="29" name="Text 27"/>
          <p:cNvSpPr/>
          <p:nvPr/>
        </p:nvSpPr>
        <p:spPr>
          <a:xfrm>
            <a:off x="960120" y="4160520"/>
            <a:ext cx="3108960" cy="5486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#5 Right to privacy</a:t>
            </a:r>
            <a:endParaRPr lang="en-US" sz="1300" dirty="0"/>
          </a:p>
        </p:txBody>
      </p:sp>
      <p:sp>
        <p:nvSpPr>
          <p:cNvPr id="30" name="Text 28"/>
          <p:cNvSpPr/>
          <p:nvPr/>
        </p:nvSpPr>
        <p:spPr>
          <a:xfrm>
            <a:off x="4160520" y="4160520"/>
            <a:ext cx="722376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AES-256-GCM vault + Art. 17 erasure + DPO/CDO-only detokenize</a:t>
            </a:r>
            <a:endParaRPr lang="en-US" sz="1100" dirty="0"/>
          </a:p>
        </p:txBody>
      </p:sp>
      <p:sp>
        <p:nvSpPr>
          <p:cNvPr id="31" name="Shape 29"/>
          <p:cNvSpPr/>
          <p:nvPr/>
        </p:nvSpPr>
        <p:spPr>
          <a:xfrm>
            <a:off x="777240" y="4846320"/>
            <a:ext cx="109728" cy="548640"/>
          </a:xfrm>
          <a:prstGeom prst="rect">
            <a:avLst/>
          </a:prstGeom>
          <a:solidFill>
            <a:srgbClr val="F4A261"/>
          </a:solidFill>
          <a:ln w="12700">
            <a:solidFill>
              <a:srgbClr val="F4A261"/>
            </a:solidFill>
            <a:prstDash val="solid"/>
          </a:ln>
        </p:spPr>
        <p:txBody>
          <a:bodyPr/>
          <a:lstStyle/>
          <a:p>
            <a:endParaRPr lang="zh-CN" altLang="en-US"/>
          </a:p>
        </p:txBody>
      </p:sp>
      <p:sp>
        <p:nvSpPr>
          <p:cNvPr id="32" name="Text 30"/>
          <p:cNvSpPr/>
          <p:nvPr/>
        </p:nvSpPr>
        <p:spPr>
          <a:xfrm>
            <a:off x="960120" y="4846320"/>
            <a:ext cx="3108960" cy="5486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#3 Fairness, non-discrimination</a:t>
            </a:r>
            <a:endParaRPr lang="en-US" sz="1300" dirty="0"/>
          </a:p>
        </p:txBody>
      </p:sp>
      <p:sp>
        <p:nvSpPr>
          <p:cNvPr id="33" name="Text 31"/>
          <p:cNvSpPr/>
          <p:nvPr/>
        </p:nvSpPr>
        <p:spPr>
          <a:xfrm>
            <a:off x="4160520" y="4846320"/>
            <a:ext cx="722376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Week 8 bias work - FATF disparate impact, age-banding</a:t>
            </a:r>
            <a:endParaRPr lang="en-US" sz="1100" dirty="0"/>
          </a:p>
        </p:txBody>
      </p:sp>
      <p:sp>
        <p:nvSpPr>
          <p:cNvPr id="34" name="Shape 32"/>
          <p:cNvSpPr/>
          <p:nvPr/>
        </p:nvSpPr>
        <p:spPr>
          <a:xfrm>
            <a:off x="777240" y="5532120"/>
            <a:ext cx="109728" cy="548640"/>
          </a:xfrm>
          <a:prstGeom prst="rect">
            <a:avLst/>
          </a:prstGeom>
          <a:solidFill>
            <a:srgbClr val="02C39A"/>
          </a:solidFill>
          <a:ln w="12700">
            <a:solidFill>
              <a:srgbClr val="02C39A"/>
            </a:solidFill>
            <a:prstDash val="solid"/>
          </a:ln>
        </p:spPr>
        <p:txBody>
          <a:bodyPr/>
          <a:lstStyle/>
          <a:p>
            <a:endParaRPr lang="zh-CN" altLang="en-US"/>
          </a:p>
        </p:txBody>
      </p:sp>
      <p:sp>
        <p:nvSpPr>
          <p:cNvPr id="35" name="Text 33"/>
          <p:cNvSpPr/>
          <p:nvPr/>
        </p:nvSpPr>
        <p:spPr>
          <a:xfrm>
            <a:off x="960120" y="5532120"/>
            <a:ext cx="3108960" cy="5486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#7 Transparency, explainability</a:t>
            </a:r>
            <a:endParaRPr lang="en-US" sz="1300" dirty="0"/>
          </a:p>
        </p:txBody>
      </p:sp>
      <p:sp>
        <p:nvSpPr>
          <p:cNvPr id="36" name="Text 34"/>
          <p:cNvSpPr/>
          <p:nvPr/>
        </p:nvSpPr>
        <p:spPr>
          <a:xfrm>
            <a:off x="4160520" y="5532120"/>
            <a:ext cx="722376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Catalog + lineage + per-column regulation references</a:t>
            </a:r>
            <a:endParaRPr lang="en-US" sz="1100" dirty="0"/>
          </a:p>
        </p:txBody>
      </p:sp>
      <p:sp>
        <p:nvSpPr>
          <p:cNvPr id="37" name="Shape 35"/>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38" name="Text 36"/>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39" name="Text 37"/>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WHAT - THE LIVE CONSOLE</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FastAPI + React + RBAC, one URL, five tabs</a:t>
            </a:r>
            <a:endParaRPr lang="en-US" sz="2800" dirty="0"/>
          </a:p>
        </p:txBody>
      </p:sp>
      <p:sp>
        <p:nvSpPr>
          <p:cNvPr id="5" name="Shape 3"/>
          <p:cNvSpPr/>
          <p:nvPr/>
        </p:nvSpPr>
        <p:spPr>
          <a:xfrm>
            <a:off x="548640" y="1554480"/>
            <a:ext cx="11064240" cy="466344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Shape 4"/>
          <p:cNvSpPr/>
          <p:nvPr/>
        </p:nvSpPr>
        <p:spPr>
          <a:xfrm>
            <a:off x="548640" y="1554480"/>
            <a:ext cx="11064240" cy="411480"/>
          </a:xfrm>
          <a:prstGeom prst="rect">
            <a:avLst/>
          </a:prstGeom>
          <a:solidFill>
            <a:srgbClr val="0B1D3A"/>
          </a:solidFill>
          <a:ln w="12700">
            <a:solidFill>
              <a:srgbClr val="0B1D3A"/>
            </a:solidFill>
            <a:prstDash val="solid"/>
          </a:ln>
        </p:spPr>
        <p:txBody>
          <a:bodyPr/>
          <a:lstStyle/>
          <a:p>
            <a:endParaRPr lang="zh-CN" altLang="en-US"/>
          </a:p>
        </p:txBody>
      </p:sp>
      <p:sp>
        <p:nvSpPr>
          <p:cNvPr id="7" name="Text 5"/>
          <p:cNvSpPr/>
          <p:nvPr/>
        </p:nvSpPr>
        <p:spPr>
          <a:xfrm>
            <a:off x="777240" y="1600200"/>
            <a:ext cx="8229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FinGuard - Data Catalog &amp; Compliance Console</a:t>
            </a:r>
            <a:endParaRPr lang="en-US" sz="1200" dirty="0"/>
          </a:p>
        </p:txBody>
      </p:sp>
      <p:sp>
        <p:nvSpPr>
          <p:cNvPr id="8" name="Text 6"/>
          <p:cNvSpPr/>
          <p:nvPr/>
        </p:nvSpPr>
        <p:spPr>
          <a:xfrm>
            <a:off x="8686800" y="1600200"/>
            <a:ext cx="2834640" cy="320040"/>
          </a:xfrm>
          <a:prstGeom prst="rect">
            <a:avLst/>
          </a:prstGeom>
          <a:noFill/>
          <a:ln/>
        </p:spPr>
        <p:txBody>
          <a:bodyPr wrap="square" lIns="0" tIns="0" rIns="0" bIns="0" rtlCol="0" anchor="ctr"/>
          <a:lstStyle/>
          <a:p>
            <a:pPr marL="0" indent="0" algn="r">
              <a:buNone/>
            </a:pPr>
            <a:r>
              <a:rPr lang="en-US" sz="1000" dirty="0">
                <a:solidFill>
                  <a:srgbClr val="CBD5E1"/>
                </a:solidFill>
                <a:latin typeface="Calibri" pitchFamily="34" charset="0"/>
                <a:ea typeface="Calibri" pitchFamily="34" charset="-122"/>
                <a:cs typeface="Calibri" pitchFamily="34" charset="-120"/>
              </a:rPr>
              <a:t>Logged in as: Data Analyst (masked)</a:t>
            </a:r>
            <a:endParaRPr lang="en-US" sz="1000" dirty="0"/>
          </a:p>
        </p:txBody>
      </p:sp>
      <p:sp>
        <p:nvSpPr>
          <p:cNvPr id="9" name="Shape 7"/>
          <p:cNvSpPr/>
          <p:nvPr/>
        </p:nvSpPr>
        <p:spPr>
          <a:xfrm>
            <a:off x="777240" y="2103120"/>
            <a:ext cx="1965960" cy="457200"/>
          </a:xfrm>
          <a:prstGeom prst="roundRect">
            <a:avLst>
              <a:gd name="adj" fmla="val 16000"/>
            </a:avLst>
          </a:prstGeom>
          <a:solidFill>
            <a:srgbClr val="028090"/>
          </a:solidFill>
          <a:ln w="12700">
            <a:solidFill>
              <a:srgbClr val="028090"/>
            </a:solidFill>
            <a:prstDash val="solid"/>
          </a:ln>
        </p:spPr>
        <p:txBody>
          <a:bodyPr/>
          <a:lstStyle/>
          <a:p>
            <a:endParaRPr lang="zh-CN" altLang="en-US"/>
          </a:p>
        </p:txBody>
      </p:sp>
      <p:sp>
        <p:nvSpPr>
          <p:cNvPr id="10" name="Text 8"/>
          <p:cNvSpPr/>
          <p:nvPr/>
        </p:nvSpPr>
        <p:spPr>
          <a:xfrm>
            <a:off x="777240" y="210312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 Catalog</a:t>
            </a:r>
            <a:endParaRPr lang="en-US" sz="1100" dirty="0"/>
          </a:p>
        </p:txBody>
      </p:sp>
      <p:sp>
        <p:nvSpPr>
          <p:cNvPr id="11" name="Shape 9"/>
          <p:cNvSpPr/>
          <p:nvPr/>
        </p:nvSpPr>
        <p:spPr>
          <a:xfrm>
            <a:off x="2880360" y="2103120"/>
            <a:ext cx="1965960" cy="457200"/>
          </a:xfrm>
          <a:prstGeom prst="roundRect">
            <a:avLst>
              <a:gd name="adj" fmla="val 16000"/>
            </a:avLst>
          </a:prstGeom>
          <a:solidFill>
            <a:srgbClr val="02C39A"/>
          </a:solidFill>
          <a:ln w="12700">
            <a:solidFill>
              <a:srgbClr val="02C39A"/>
            </a:solidFill>
            <a:prstDash val="solid"/>
          </a:ln>
        </p:spPr>
        <p:txBody>
          <a:bodyPr/>
          <a:lstStyle/>
          <a:p>
            <a:endParaRPr lang="zh-CN" altLang="en-US"/>
          </a:p>
        </p:txBody>
      </p:sp>
      <p:sp>
        <p:nvSpPr>
          <p:cNvPr id="12" name="Text 10"/>
          <p:cNvSpPr/>
          <p:nvPr/>
        </p:nvSpPr>
        <p:spPr>
          <a:xfrm>
            <a:off x="2880360" y="210312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Lineage</a:t>
            </a:r>
            <a:endParaRPr lang="en-US" sz="1100" dirty="0"/>
          </a:p>
        </p:txBody>
      </p:sp>
      <p:sp>
        <p:nvSpPr>
          <p:cNvPr id="13" name="Shape 11"/>
          <p:cNvSpPr/>
          <p:nvPr/>
        </p:nvSpPr>
        <p:spPr>
          <a:xfrm>
            <a:off x="4983480" y="2103120"/>
            <a:ext cx="1965960" cy="457200"/>
          </a:xfrm>
          <a:prstGeom prst="roundRect">
            <a:avLst>
              <a:gd name="adj" fmla="val 16000"/>
            </a:avLst>
          </a:prstGeom>
          <a:solidFill>
            <a:srgbClr val="F4A261"/>
          </a:solidFill>
          <a:ln w="12700">
            <a:solidFill>
              <a:srgbClr val="F4A261"/>
            </a:solidFill>
            <a:prstDash val="solid"/>
          </a:ln>
        </p:spPr>
        <p:txBody>
          <a:bodyPr/>
          <a:lstStyle/>
          <a:p>
            <a:endParaRPr lang="zh-CN" altLang="en-US"/>
          </a:p>
        </p:txBody>
      </p:sp>
      <p:sp>
        <p:nvSpPr>
          <p:cNvPr id="14" name="Text 12"/>
          <p:cNvSpPr/>
          <p:nvPr/>
        </p:nvSpPr>
        <p:spPr>
          <a:xfrm>
            <a:off x="4983480" y="210312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Compliance</a:t>
            </a:r>
            <a:endParaRPr lang="en-US" sz="1100" dirty="0"/>
          </a:p>
        </p:txBody>
      </p:sp>
      <p:sp>
        <p:nvSpPr>
          <p:cNvPr id="15" name="Shape 13"/>
          <p:cNvSpPr/>
          <p:nvPr/>
        </p:nvSpPr>
        <p:spPr>
          <a:xfrm>
            <a:off x="7086600" y="2103120"/>
            <a:ext cx="1965960" cy="457200"/>
          </a:xfrm>
          <a:prstGeom prst="roundRect">
            <a:avLst>
              <a:gd name="adj" fmla="val 16000"/>
            </a:avLst>
          </a:prstGeom>
          <a:solidFill>
            <a:srgbClr val="E63946"/>
          </a:solidFill>
          <a:ln w="12700">
            <a:solidFill>
              <a:srgbClr val="E63946"/>
            </a:solidFill>
            <a:prstDash val="solid"/>
          </a:ln>
        </p:spPr>
        <p:txBody>
          <a:bodyPr/>
          <a:lstStyle/>
          <a:p>
            <a:endParaRPr lang="zh-CN" altLang="en-US"/>
          </a:p>
        </p:txBody>
      </p:sp>
      <p:sp>
        <p:nvSpPr>
          <p:cNvPr id="16" name="Text 14"/>
          <p:cNvSpPr/>
          <p:nvPr/>
        </p:nvSpPr>
        <p:spPr>
          <a:xfrm>
            <a:off x="7086600" y="210312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GDPR Erasure</a:t>
            </a:r>
            <a:endParaRPr lang="en-US" sz="1100" dirty="0"/>
          </a:p>
        </p:txBody>
      </p:sp>
      <p:sp>
        <p:nvSpPr>
          <p:cNvPr id="17" name="Shape 15"/>
          <p:cNvSpPr/>
          <p:nvPr/>
        </p:nvSpPr>
        <p:spPr>
          <a:xfrm>
            <a:off x="9189720" y="2103120"/>
            <a:ext cx="1965960" cy="457200"/>
          </a:xfrm>
          <a:prstGeom prst="roundRect">
            <a:avLst>
              <a:gd name="adj" fmla="val 16000"/>
            </a:avLst>
          </a:prstGeom>
          <a:solidFill>
            <a:srgbClr val="0B1D3A"/>
          </a:solidFill>
          <a:ln w="12700">
            <a:solidFill>
              <a:srgbClr val="0B1D3A"/>
            </a:solidFill>
            <a:prstDash val="solid"/>
          </a:ln>
        </p:spPr>
        <p:txBody>
          <a:bodyPr/>
          <a:lstStyle/>
          <a:p>
            <a:endParaRPr lang="zh-CN" altLang="en-US"/>
          </a:p>
        </p:txBody>
      </p:sp>
      <p:sp>
        <p:nvSpPr>
          <p:cNvPr id="18" name="Text 16"/>
          <p:cNvSpPr/>
          <p:nvPr/>
        </p:nvSpPr>
        <p:spPr>
          <a:xfrm>
            <a:off x="9189720" y="210312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Ethics</a:t>
            </a:r>
            <a:endParaRPr lang="en-US" sz="1100" dirty="0"/>
          </a:p>
        </p:txBody>
      </p:sp>
      <p:sp>
        <p:nvSpPr>
          <p:cNvPr id="19" name="Shape 17"/>
          <p:cNvSpPr/>
          <p:nvPr/>
        </p:nvSpPr>
        <p:spPr>
          <a:xfrm>
            <a:off x="777240" y="2743200"/>
            <a:ext cx="1965960" cy="914400"/>
          </a:xfrm>
          <a:prstGeom prst="rect">
            <a:avLst/>
          </a:prstGeom>
          <a:solidFill>
            <a:srgbClr val="F8FAFC"/>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0" name="Text 18"/>
          <p:cNvSpPr/>
          <p:nvPr/>
        </p:nvSpPr>
        <p:spPr>
          <a:xfrm>
            <a:off x="777240" y="2788920"/>
            <a:ext cx="1965960" cy="502920"/>
          </a:xfrm>
          <a:prstGeom prst="rect">
            <a:avLst/>
          </a:prstGeom>
          <a:noFill/>
          <a:ln/>
        </p:spPr>
        <p:txBody>
          <a:bodyPr wrap="square" lIns="0" tIns="0" rIns="0" bIns="0" rtlCol="0" anchor="ctr"/>
          <a:lstStyle/>
          <a:p>
            <a:pPr marL="0" indent="0" algn="ctr">
              <a:buNone/>
            </a:pPr>
            <a:r>
              <a:rPr lang="en-US" sz="2200" b="1" dirty="0">
                <a:solidFill>
                  <a:srgbClr val="0B1D3A"/>
                </a:solidFill>
                <a:latin typeface="Calibri" pitchFamily="34" charset="0"/>
                <a:ea typeface="Calibri" pitchFamily="34" charset="-122"/>
                <a:cs typeface="Calibri" pitchFamily="34" charset="-120"/>
              </a:rPr>
              <a:t>7</a:t>
            </a:r>
            <a:endParaRPr lang="en-US" sz="2200" dirty="0"/>
          </a:p>
        </p:txBody>
      </p:sp>
      <p:sp>
        <p:nvSpPr>
          <p:cNvPr id="21" name="Text 19"/>
          <p:cNvSpPr/>
          <p:nvPr/>
        </p:nvSpPr>
        <p:spPr>
          <a:xfrm>
            <a:off x="777240" y="3291840"/>
            <a:ext cx="196596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tables</a:t>
            </a:r>
            <a:endParaRPr lang="en-US" sz="1100" dirty="0"/>
          </a:p>
        </p:txBody>
      </p:sp>
      <p:sp>
        <p:nvSpPr>
          <p:cNvPr id="22" name="Shape 20"/>
          <p:cNvSpPr/>
          <p:nvPr/>
        </p:nvSpPr>
        <p:spPr>
          <a:xfrm>
            <a:off x="2916936" y="2743200"/>
            <a:ext cx="1965960" cy="914400"/>
          </a:xfrm>
          <a:prstGeom prst="rect">
            <a:avLst/>
          </a:prstGeom>
          <a:solidFill>
            <a:srgbClr val="F8FAFC"/>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3" name="Text 21"/>
          <p:cNvSpPr/>
          <p:nvPr/>
        </p:nvSpPr>
        <p:spPr>
          <a:xfrm>
            <a:off x="2916936" y="2788920"/>
            <a:ext cx="1965960" cy="502920"/>
          </a:xfrm>
          <a:prstGeom prst="rect">
            <a:avLst/>
          </a:prstGeom>
          <a:noFill/>
          <a:ln/>
        </p:spPr>
        <p:txBody>
          <a:bodyPr wrap="square" lIns="0" tIns="0" rIns="0" bIns="0" rtlCol="0" anchor="ctr"/>
          <a:lstStyle/>
          <a:p>
            <a:pPr marL="0" indent="0" algn="ctr">
              <a:buNone/>
            </a:pPr>
            <a:r>
              <a:rPr lang="en-US" sz="2200" b="1" dirty="0">
                <a:solidFill>
                  <a:srgbClr val="0B1D3A"/>
                </a:solidFill>
                <a:latin typeface="Calibri" pitchFamily="34" charset="0"/>
                <a:ea typeface="Calibri" pitchFamily="34" charset="-122"/>
                <a:cs typeface="Calibri" pitchFamily="34" charset="-120"/>
              </a:rPr>
              <a:t>98</a:t>
            </a:r>
            <a:endParaRPr lang="en-US" sz="2200" dirty="0"/>
          </a:p>
        </p:txBody>
      </p:sp>
      <p:sp>
        <p:nvSpPr>
          <p:cNvPr id="24" name="Text 22"/>
          <p:cNvSpPr/>
          <p:nvPr/>
        </p:nvSpPr>
        <p:spPr>
          <a:xfrm>
            <a:off x="2916936" y="3291840"/>
            <a:ext cx="196596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columns</a:t>
            </a:r>
            <a:endParaRPr lang="en-US" sz="1100" dirty="0"/>
          </a:p>
        </p:txBody>
      </p:sp>
      <p:sp>
        <p:nvSpPr>
          <p:cNvPr id="25" name="Shape 23"/>
          <p:cNvSpPr/>
          <p:nvPr/>
        </p:nvSpPr>
        <p:spPr>
          <a:xfrm>
            <a:off x="5056632" y="2743200"/>
            <a:ext cx="1965960" cy="914400"/>
          </a:xfrm>
          <a:prstGeom prst="rect">
            <a:avLst/>
          </a:prstGeom>
          <a:solidFill>
            <a:srgbClr val="F8FAFC"/>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6" name="Text 24"/>
          <p:cNvSpPr/>
          <p:nvPr/>
        </p:nvSpPr>
        <p:spPr>
          <a:xfrm>
            <a:off x="5056632" y="2788920"/>
            <a:ext cx="1965960" cy="502920"/>
          </a:xfrm>
          <a:prstGeom prst="rect">
            <a:avLst/>
          </a:prstGeom>
          <a:noFill/>
          <a:ln/>
        </p:spPr>
        <p:txBody>
          <a:bodyPr wrap="square" lIns="0" tIns="0" rIns="0" bIns="0" rtlCol="0" anchor="ctr"/>
          <a:lstStyle/>
          <a:p>
            <a:pPr marL="0" indent="0" algn="ctr">
              <a:buNone/>
            </a:pPr>
            <a:r>
              <a:rPr lang="en-US" sz="2200" b="1" dirty="0">
                <a:solidFill>
                  <a:srgbClr val="0B1D3A"/>
                </a:solidFill>
                <a:latin typeface="Calibri" pitchFamily="34" charset="0"/>
                <a:ea typeface="Calibri" pitchFamily="34" charset="-122"/>
                <a:cs typeface="Calibri" pitchFamily="34" charset="-120"/>
              </a:rPr>
              <a:t>26</a:t>
            </a:r>
            <a:endParaRPr lang="en-US" sz="2200" dirty="0"/>
          </a:p>
        </p:txBody>
      </p:sp>
      <p:sp>
        <p:nvSpPr>
          <p:cNvPr id="27" name="Text 25"/>
          <p:cNvSpPr/>
          <p:nvPr/>
        </p:nvSpPr>
        <p:spPr>
          <a:xfrm>
            <a:off x="5056632" y="3291840"/>
            <a:ext cx="196596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PII</a:t>
            </a:r>
            <a:endParaRPr lang="en-US" sz="1100" dirty="0"/>
          </a:p>
        </p:txBody>
      </p:sp>
      <p:sp>
        <p:nvSpPr>
          <p:cNvPr id="28" name="Shape 26"/>
          <p:cNvSpPr/>
          <p:nvPr/>
        </p:nvSpPr>
        <p:spPr>
          <a:xfrm>
            <a:off x="7196328" y="2743200"/>
            <a:ext cx="1965960" cy="914400"/>
          </a:xfrm>
          <a:prstGeom prst="rect">
            <a:avLst/>
          </a:prstGeom>
          <a:solidFill>
            <a:srgbClr val="F8FAFC"/>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29" name="Text 27"/>
          <p:cNvSpPr/>
          <p:nvPr/>
        </p:nvSpPr>
        <p:spPr>
          <a:xfrm>
            <a:off x="7196328" y="2788920"/>
            <a:ext cx="1965960" cy="502920"/>
          </a:xfrm>
          <a:prstGeom prst="rect">
            <a:avLst/>
          </a:prstGeom>
          <a:noFill/>
          <a:ln/>
        </p:spPr>
        <p:txBody>
          <a:bodyPr wrap="square" lIns="0" tIns="0" rIns="0" bIns="0" rtlCol="0" anchor="ctr"/>
          <a:lstStyle/>
          <a:p>
            <a:pPr marL="0" indent="0" algn="ctr">
              <a:buNone/>
            </a:pPr>
            <a:r>
              <a:rPr lang="en-US" sz="2200" b="1" dirty="0">
                <a:solidFill>
                  <a:srgbClr val="0B1D3A"/>
                </a:solidFill>
                <a:latin typeface="Calibri" pitchFamily="34" charset="0"/>
                <a:ea typeface="Calibri" pitchFamily="34" charset="-122"/>
                <a:cs typeface="Calibri" pitchFamily="34" charset="-120"/>
              </a:rPr>
              <a:t>24</a:t>
            </a:r>
            <a:endParaRPr lang="en-US" sz="2200" dirty="0"/>
          </a:p>
        </p:txBody>
      </p:sp>
      <p:sp>
        <p:nvSpPr>
          <p:cNvPr id="30" name="Text 28"/>
          <p:cNvSpPr/>
          <p:nvPr/>
        </p:nvSpPr>
        <p:spPr>
          <a:xfrm>
            <a:off x="7196328" y="3291840"/>
            <a:ext cx="196596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masked</a:t>
            </a:r>
            <a:endParaRPr lang="en-US" sz="1100" dirty="0"/>
          </a:p>
        </p:txBody>
      </p:sp>
      <p:sp>
        <p:nvSpPr>
          <p:cNvPr id="31" name="Shape 29"/>
          <p:cNvSpPr/>
          <p:nvPr/>
        </p:nvSpPr>
        <p:spPr>
          <a:xfrm>
            <a:off x="9336024" y="2743200"/>
            <a:ext cx="1965960" cy="914400"/>
          </a:xfrm>
          <a:prstGeom prst="rect">
            <a:avLst/>
          </a:prstGeom>
          <a:solidFill>
            <a:srgbClr val="F8FAFC"/>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32" name="Text 30"/>
          <p:cNvSpPr/>
          <p:nvPr/>
        </p:nvSpPr>
        <p:spPr>
          <a:xfrm>
            <a:off x="9336024" y="2788920"/>
            <a:ext cx="1965960" cy="502920"/>
          </a:xfrm>
          <a:prstGeom prst="rect">
            <a:avLst/>
          </a:prstGeom>
          <a:noFill/>
          <a:ln/>
        </p:spPr>
        <p:txBody>
          <a:bodyPr wrap="square" lIns="0" tIns="0" rIns="0" bIns="0" rtlCol="0" anchor="ctr"/>
          <a:lstStyle/>
          <a:p>
            <a:pPr marL="0" indent="0" algn="ctr">
              <a:buNone/>
            </a:pPr>
            <a:r>
              <a:rPr lang="en-US" sz="2200" b="1" dirty="0">
                <a:solidFill>
                  <a:srgbClr val="0B1D3A"/>
                </a:solidFill>
                <a:latin typeface="Calibri" pitchFamily="34" charset="0"/>
                <a:ea typeface="Calibri" pitchFamily="34" charset="-122"/>
                <a:cs typeface="Calibri" pitchFamily="34" charset="-120"/>
              </a:rPr>
              <a:t>28,893</a:t>
            </a:r>
            <a:endParaRPr lang="en-US" sz="2200" dirty="0"/>
          </a:p>
        </p:txBody>
      </p:sp>
      <p:sp>
        <p:nvSpPr>
          <p:cNvPr id="33" name="Text 31"/>
          <p:cNvSpPr/>
          <p:nvPr/>
        </p:nvSpPr>
        <p:spPr>
          <a:xfrm>
            <a:off x="9336024" y="3291840"/>
            <a:ext cx="196596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vault entries</a:t>
            </a:r>
            <a:endParaRPr lang="en-US" sz="1100" dirty="0"/>
          </a:p>
        </p:txBody>
      </p:sp>
      <p:sp>
        <p:nvSpPr>
          <p:cNvPr id="34" name="Shape 32"/>
          <p:cNvSpPr/>
          <p:nvPr/>
        </p:nvSpPr>
        <p:spPr>
          <a:xfrm>
            <a:off x="777240" y="3794760"/>
            <a:ext cx="109728" cy="1005840"/>
          </a:xfrm>
          <a:prstGeom prst="rect">
            <a:avLst/>
          </a:prstGeom>
          <a:solidFill>
            <a:srgbClr val="02C39A"/>
          </a:solidFill>
          <a:ln w="12700">
            <a:solidFill>
              <a:srgbClr val="02C39A"/>
            </a:solidFill>
            <a:prstDash val="solid"/>
          </a:ln>
        </p:spPr>
        <p:txBody>
          <a:bodyPr/>
          <a:lstStyle/>
          <a:p>
            <a:endParaRPr lang="zh-CN" altLang="en-US"/>
          </a:p>
        </p:txBody>
      </p:sp>
      <p:sp>
        <p:nvSpPr>
          <p:cNvPr id="35" name="Text 33"/>
          <p:cNvSpPr/>
          <p:nvPr/>
        </p:nvSpPr>
        <p:spPr>
          <a:xfrm>
            <a:off x="1005840" y="3794760"/>
            <a:ext cx="4937760" cy="36576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Role switcher</a:t>
            </a:r>
            <a:endParaRPr lang="en-US" sz="1300" dirty="0"/>
          </a:p>
        </p:txBody>
      </p:sp>
      <p:sp>
        <p:nvSpPr>
          <p:cNvPr id="36" name="Text 34"/>
          <p:cNvSpPr/>
          <p:nvPr/>
        </p:nvSpPr>
        <p:spPr>
          <a:xfrm>
            <a:off x="1005840" y="4160520"/>
            <a:ext cx="493776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Same row, different result, masking enforced live.</a:t>
            </a:r>
            <a:endParaRPr lang="en-US" sz="1100" dirty="0"/>
          </a:p>
        </p:txBody>
      </p:sp>
      <p:sp>
        <p:nvSpPr>
          <p:cNvPr id="37" name="Shape 35"/>
          <p:cNvSpPr/>
          <p:nvPr/>
        </p:nvSpPr>
        <p:spPr>
          <a:xfrm>
            <a:off x="6126480" y="3794760"/>
            <a:ext cx="109728" cy="1005840"/>
          </a:xfrm>
          <a:prstGeom prst="rect">
            <a:avLst/>
          </a:prstGeom>
          <a:solidFill>
            <a:srgbClr val="02C39A"/>
          </a:solidFill>
          <a:ln w="12700">
            <a:solidFill>
              <a:srgbClr val="02C39A"/>
            </a:solidFill>
            <a:prstDash val="solid"/>
          </a:ln>
        </p:spPr>
        <p:txBody>
          <a:bodyPr/>
          <a:lstStyle/>
          <a:p>
            <a:endParaRPr lang="zh-CN" altLang="en-US"/>
          </a:p>
        </p:txBody>
      </p:sp>
      <p:sp>
        <p:nvSpPr>
          <p:cNvPr id="38" name="Text 36"/>
          <p:cNvSpPr/>
          <p:nvPr/>
        </p:nvSpPr>
        <p:spPr>
          <a:xfrm>
            <a:off x="6355080" y="3794760"/>
            <a:ext cx="4937760" cy="36576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AES-256-GCM vault</a:t>
            </a:r>
            <a:endParaRPr lang="en-US" sz="1300" dirty="0"/>
          </a:p>
        </p:txBody>
      </p:sp>
      <p:sp>
        <p:nvSpPr>
          <p:cNvPr id="39" name="Text 37"/>
          <p:cNvSpPr/>
          <p:nvPr/>
        </p:nvSpPr>
        <p:spPr>
          <a:xfrm>
            <a:off x="6355080" y="4160520"/>
            <a:ext cx="493776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/api/vault/stats and /detokenize - 403 vs 200 per role.</a:t>
            </a:r>
            <a:endParaRPr lang="en-US" sz="1100" dirty="0"/>
          </a:p>
        </p:txBody>
      </p:sp>
      <p:sp>
        <p:nvSpPr>
          <p:cNvPr id="40" name="Shape 38"/>
          <p:cNvSpPr/>
          <p:nvPr/>
        </p:nvSpPr>
        <p:spPr>
          <a:xfrm>
            <a:off x="777240" y="4983480"/>
            <a:ext cx="109728" cy="1005840"/>
          </a:xfrm>
          <a:prstGeom prst="rect">
            <a:avLst/>
          </a:prstGeom>
          <a:solidFill>
            <a:srgbClr val="02C39A"/>
          </a:solidFill>
          <a:ln w="12700">
            <a:solidFill>
              <a:srgbClr val="02C39A"/>
            </a:solidFill>
            <a:prstDash val="solid"/>
          </a:ln>
        </p:spPr>
        <p:txBody>
          <a:bodyPr/>
          <a:lstStyle/>
          <a:p>
            <a:endParaRPr lang="zh-CN" altLang="en-US"/>
          </a:p>
        </p:txBody>
      </p:sp>
      <p:sp>
        <p:nvSpPr>
          <p:cNvPr id="41" name="Text 39"/>
          <p:cNvSpPr/>
          <p:nvPr/>
        </p:nvSpPr>
        <p:spPr>
          <a:xfrm>
            <a:off x="1005840" y="4983480"/>
            <a:ext cx="4937760" cy="36576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GDPR Art. 17 cascade</a:t>
            </a:r>
            <a:endParaRPr lang="en-US" sz="1300" dirty="0"/>
          </a:p>
        </p:txBody>
      </p:sp>
      <p:sp>
        <p:nvSpPr>
          <p:cNvPr id="42" name="Text 40"/>
          <p:cNvSpPr/>
          <p:nvPr/>
        </p:nvSpPr>
        <p:spPr>
          <a:xfrm>
            <a:off x="1005840" y="5349240"/>
            <a:ext cx="493776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Cryptographic erasure across vault and tables.</a:t>
            </a:r>
            <a:endParaRPr lang="en-US" sz="1100" dirty="0"/>
          </a:p>
        </p:txBody>
      </p:sp>
      <p:sp>
        <p:nvSpPr>
          <p:cNvPr id="43" name="Shape 41"/>
          <p:cNvSpPr/>
          <p:nvPr/>
        </p:nvSpPr>
        <p:spPr>
          <a:xfrm>
            <a:off x="6126480" y="4983480"/>
            <a:ext cx="109728" cy="1005840"/>
          </a:xfrm>
          <a:prstGeom prst="rect">
            <a:avLst/>
          </a:prstGeom>
          <a:solidFill>
            <a:srgbClr val="02C39A"/>
          </a:solidFill>
          <a:ln w="12700">
            <a:solidFill>
              <a:srgbClr val="02C39A"/>
            </a:solidFill>
            <a:prstDash val="solid"/>
          </a:ln>
        </p:spPr>
        <p:txBody>
          <a:bodyPr/>
          <a:lstStyle/>
          <a:p>
            <a:endParaRPr lang="zh-CN" altLang="en-US"/>
          </a:p>
        </p:txBody>
      </p:sp>
      <p:sp>
        <p:nvSpPr>
          <p:cNvPr id="44" name="Text 42"/>
          <p:cNvSpPr/>
          <p:nvPr/>
        </p:nvSpPr>
        <p:spPr>
          <a:xfrm>
            <a:off x="6355080" y="4983480"/>
            <a:ext cx="4937760" cy="36576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UNESCO crosswalk</a:t>
            </a:r>
            <a:endParaRPr lang="en-US" sz="1300" dirty="0"/>
          </a:p>
        </p:txBody>
      </p:sp>
      <p:sp>
        <p:nvSpPr>
          <p:cNvPr id="45" name="Text 43"/>
          <p:cNvSpPr/>
          <p:nvPr/>
        </p:nvSpPr>
        <p:spPr>
          <a:xfrm>
            <a:off x="6355080" y="5349240"/>
            <a:ext cx="493776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10 principles mapped to 30 FinGuard controls.</a:t>
            </a:r>
            <a:endParaRPr lang="en-US" sz="1100" dirty="0"/>
          </a:p>
        </p:txBody>
      </p:sp>
      <p:sp>
        <p:nvSpPr>
          <p:cNvPr id="46" name="Shape 44"/>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47" name="Text 45"/>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48" name="Text 46"/>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502920"/>
            <a:ext cx="109728" cy="777240"/>
          </a:xfrm>
          <a:prstGeom prst="rect">
            <a:avLst/>
          </a:prstGeom>
          <a:solidFill>
            <a:srgbClr val="028090"/>
          </a:solidFill>
          <a:ln w="12700">
            <a:solidFill>
              <a:srgbClr val="028090"/>
            </a:solidFill>
            <a:prstDash val="solid"/>
          </a:ln>
        </p:spPr>
        <p:txBody>
          <a:bodyPr/>
          <a:lstStyle/>
          <a:p>
            <a:endParaRPr lang="zh-CN" altLang="en-US"/>
          </a:p>
        </p:txBody>
      </p:sp>
      <p:sp>
        <p:nvSpPr>
          <p:cNvPr id="3" name="Text 1"/>
          <p:cNvSpPr/>
          <p:nvPr/>
        </p:nvSpPr>
        <p:spPr>
          <a:xfrm>
            <a:off x="640080" y="502920"/>
            <a:ext cx="10058400" cy="274320"/>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WHAT - LIVE PROOFS</a:t>
            </a:r>
            <a:endParaRPr lang="en-US" sz="1100" dirty="0"/>
          </a:p>
        </p:txBody>
      </p:sp>
      <p:sp>
        <p:nvSpPr>
          <p:cNvPr id="4" name="Text 2"/>
          <p:cNvSpPr/>
          <p:nvPr/>
        </p:nvSpPr>
        <p:spPr>
          <a:xfrm>
            <a:off x="640080" y="777240"/>
            <a:ext cx="11155680" cy="59436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Three moments that turn talk into demonstration</a:t>
            </a:r>
            <a:endParaRPr lang="en-US" sz="2800" dirty="0"/>
          </a:p>
        </p:txBody>
      </p:sp>
      <p:sp>
        <p:nvSpPr>
          <p:cNvPr id="5" name="Shape 3"/>
          <p:cNvSpPr/>
          <p:nvPr/>
        </p:nvSpPr>
        <p:spPr>
          <a:xfrm>
            <a:off x="548640" y="1600200"/>
            <a:ext cx="11064240" cy="141732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6" name="Shape 4"/>
          <p:cNvSpPr/>
          <p:nvPr/>
        </p:nvSpPr>
        <p:spPr>
          <a:xfrm>
            <a:off x="548640" y="1600200"/>
            <a:ext cx="164592" cy="1417320"/>
          </a:xfrm>
          <a:prstGeom prst="rect">
            <a:avLst/>
          </a:prstGeom>
          <a:solidFill>
            <a:srgbClr val="028090"/>
          </a:solidFill>
          <a:ln w="12700">
            <a:solidFill>
              <a:srgbClr val="028090"/>
            </a:solidFill>
            <a:prstDash val="solid"/>
          </a:ln>
        </p:spPr>
        <p:txBody>
          <a:bodyPr/>
          <a:lstStyle/>
          <a:p>
            <a:endParaRPr lang="zh-CN" altLang="en-US"/>
          </a:p>
        </p:txBody>
      </p:sp>
      <p:sp>
        <p:nvSpPr>
          <p:cNvPr id="7" name="Text 5"/>
          <p:cNvSpPr/>
          <p:nvPr/>
        </p:nvSpPr>
        <p:spPr>
          <a:xfrm>
            <a:off x="868680" y="1691640"/>
            <a:ext cx="10515600" cy="365760"/>
          </a:xfrm>
          <a:prstGeom prst="rect">
            <a:avLst/>
          </a:prstGeom>
          <a:noFill/>
          <a:ln/>
        </p:spPr>
        <p:txBody>
          <a:bodyPr wrap="square" lIns="0" tIns="0" rIns="0" bIns="0" rtlCol="0" anchor="ctr"/>
          <a:lstStyle/>
          <a:p>
            <a:pPr marL="0" indent="0">
              <a:buNone/>
            </a:pPr>
            <a:r>
              <a:rPr lang="en-US" sz="1500" b="1" dirty="0">
                <a:solidFill>
                  <a:srgbClr val="0B1D3A"/>
                </a:solidFill>
                <a:latin typeface="Calibri" pitchFamily="34" charset="0"/>
                <a:ea typeface="Calibri" pitchFamily="34" charset="-122"/>
                <a:cs typeface="Calibri" pitchFamily="34" charset="-120"/>
              </a:rPr>
              <a:t>Role swap on the same row</a:t>
            </a:r>
            <a:endParaRPr lang="en-US" sz="1500" dirty="0"/>
          </a:p>
        </p:txBody>
      </p:sp>
      <p:sp>
        <p:nvSpPr>
          <p:cNvPr id="8" name="Text 6"/>
          <p:cNvSpPr/>
          <p:nvPr/>
        </p:nvSpPr>
        <p:spPr>
          <a:xfrm>
            <a:off x="868680" y="2103120"/>
            <a:ext cx="10515600" cy="320040"/>
          </a:xfrm>
          <a:prstGeom prst="rect">
            <a:avLst/>
          </a:prstGeom>
          <a:noFill/>
          <a:ln/>
        </p:spPr>
        <p:txBody>
          <a:bodyPr wrap="square" lIns="0" tIns="0" rIns="0" bIns="0" rtlCol="0" anchor="ctr"/>
          <a:lstStyle/>
          <a:p>
            <a:pPr marL="0" indent="0">
              <a:buNone/>
            </a:pPr>
            <a:r>
              <a:rPr lang="en-US" sz="1100" dirty="0">
                <a:solidFill>
                  <a:srgbClr val="028090"/>
                </a:solidFill>
                <a:latin typeface="Consolas" pitchFamily="34" charset="0"/>
                <a:ea typeface="Consolas" pitchFamily="34" charset="-122"/>
                <a:cs typeface="Consolas" pitchFamily="34" charset="-120"/>
              </a:rPr>
              <a:t>GET /api/tables/aml_transactions/sample?role=data_analyst</a:t>
            </a:r>
            <a:endParaRPr lang="en-US" sz="1100" dirty="0"/>
          </a:p>
        </p:txBody>
      </p:sp>
      <p:sp>
        <p:nvSpPr>
          <p:cNvPr id="9" name="Text 7"/>
          <p:cNvSpPr/>
          <p:nvPr/>
        </p:nvSpPr>
        <p:spPr>
          <a:xfrm>
            <a:off x="868680" y="2468880"/>
            <a:ext cx="10515600" cy="5029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masked: NAME_20CCDFBE  -&gt;  switch role  -&gt;  raw: Donato Godoy-Chaparro</a:t>
            </a:r>
            <a:endParaRPr lang="en-US" sz="1100" dirty="0"/>
          </a:p>
        </p:txBody>
      </p:sp>
      <p:sp>
        <p:nvSpPr>
          <p:cNvPr id="10" name="Shape 8"/>
          <p:cNvSpPr/>
          <p:nvPr/>
        </p:nvSpPr>
        <p:spPr>
          <a:xfrm>
            <a:off x="548640" y="3154680"/>
            <a:ext cx="11064240" cy="141732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1" name="Shape 9"/>
          <p:cNvSpPr/>
          <p:nvPr/>
        </p:nvSpPr>
        <p:spPr>
          <a:xfrm>
            <a:off x="548640" y="3154680"/>
            <a:ext cx="164592" cy="1417320"/>
          </a:xfrm>
          <a:prstGeom prst="rect">
            <a:avLst/>
          </a:prstGeom>
          <a:solidFill>
            <a:srgbClr val="F4A261"/>
          </a:solidFill>
          <a:ln w="12700">
            <a:solidFill>
              <a:srgbClr val="F4A261"/>
            </a:solidFill>
            <a:prstDash val="solid"/>
          </a:ln>
        </p:spPr>
        <p:txBody>
          <a:bodyPr/>
          <a:lstStyle/>
          <a:p>
            <a:endParaRPr lang="zh-CN" altLang="en-US"/>
          </a:p>
        </p:txBody>
      </p:sp>
      <p:sp>
        <p:nvSpPr>
          <p:cNvPr id="12" name="Text 10"/>
          <p:cNvSpPr/>
          <p:nvPr/>
        </p:nvSpPr>
        <p:spPr>
          <a:xfrm>
            <a:off x="868680" y="3246120"/>
            <a:ext cx="10515600" cy="365760"/>
          </a:xfrm>
          <a:prstGeom prst="rect">
            <a:avLst/>
          </a:prstGeom>
          <a:noFill/>
          <a:ln/>
        </p:spPr>
        <p:txBody>
          <a:bodyPr wrap="square" lIns="0" tIns="0" rIns="0" bIns="0" rtlCol="0" anchor="ctr"/>
          <a:lstStyle/>
          <a:p>
            <a:pPr marL="0" indent="0">
              <a:buNone/>
            </a:pPr>
            <a:r>
              <a:rPr lang="en-US" sz="1500" b="1" dirty="0">
                <a:solidFill>
                  <a:srgbClr val="0B1D3A"/>
                </a:solidFill>
                <a:latin typeface="Calibri" pitchFamily="34" charset="0"/>
                <a:ea typeface="Calibri" pitchFamily="34" charset="-122"/>
                <a:cs typeface="Calibri" pitchFamily="34" charset="-120"/>
              </a:rPr>
              <a:t>AES-256-GCM detokenize, role-gated</a:t>
            </a:r>
            <a:endParaRPr lang="en-US" sz="1500" dirty="0"/>
          </a:p>
        </p:txBody>
      </p:sp>
      <p:sp>
        <p:nvSpPr>
          <p:cNvPr id="13" name="Text 11"/>
          <p:cNvSpPr/>
          <p:nvPr/>
        </p:nvSpPr>
        <p:spPr>
          <a:xfrm>
            <a:off x="868680" y="3657600"/>
            <a:ext cx="10515600" cy="320040"/>
          </a:xfrm>
          <a:prstGeom prst="rect">
            <a:avLst/>
          </a:prstGeom>
          <a:noFill/>
          <a:ln/>
        </p:spPr>
        <p:txBody>
          <a:bodyPr wrap="square" lIns="0" tIns="0" rIns="0" bIns="0" rtlCol="0" anchor="ctr"/>
          <a:lstStyle/>
          <a:p>
            <a:pPr marL="0" indent="0">
              <a:buNone/>
            </a:pPr>
            <a:r>
              <a:rPr lang="en-US" sz="1100" dirty="0">
                <a:solidFill>
                  <a:srgbClr val="F4A261"/>
                </a:solidFill>
                <a:latin typeface="Consolas" pitchFamily="34" charset="0"/>
                <a:ea typeface="Consolas" pitchFamily="34" charset="-122"/>
                <a:cs typeface="Consolas" pitchFamily="34" charset="-120"/>
              </a:rPr>
              <a:t>POST /api/vault/detokenize  { token, role }</a:t>
            </a:r>
            <a:endParaRPr lang="en-US" sz="1100" dirty="0"/>
          </a:p>
        </p:txBody>
      </p:sp>
      <p:sp>
        <p:nvSpPr>
          <p:cNvPr id="14" name="Text 12"/>
          <p:cNvSpPr/>
          <p:nvPr/>
        </p:nvSpPr>
        <p:spPr>
          <a:xfrm>
            <a:off x="868680" y="4023360"/>
            <a:ext cx="10515600" cy="5029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role=data_analyst -&gt; HTTP 403   |   role=dpo -&gt; HTTP 200 + plaintext</a:t>
            </a:r>
            <a:endParaRPr lang="en-US" sz="1100" dirty="0"/>
          </a:p>
        </p:txBody>
      </p:sp>
      <p:sp>
        <p:nvSpPr>
          <p:cNvPr id="15" name="Shape 13"/>
          <p:cNvSpPr/>
          <p:nvPr/>
        </p:nvSpPr>
        <p:spPr>
          <a:xfrm>
            <a:off x="548640" y="4709160"/>
            <a:ext cx="11064240" cy="1417320"/>
          </a:xfrm>
          <a:prstGeom prst="rect">
            <a:avLst/>
          </a:prstGeom>
          <a:solidFill>
            <a:srgbClr val="FFFFFF"/>
          </a:solidFill>
          <a:ln w="12700">
            <a:solidFill>
              <a:srgbClr val="E2E8F0"/>
            </a:solidFill>
            <a:prstDash val="solid"/>
          </a:ln>
          <a:effectLst>
            <a:outerShdw blurRad="101600" dist="25400" dir="16200000" algn="bl" rotWithShape="0">
              <a:srgbClr val="000000">
                <a:alpha val="10000"/>
              </a:srgbClr>
            </a:outerShdw>
          </a:effectLst>
        </p:spPr>
        <p:txBody>
          <a:bodyPr/>
          <a:lstStyle/>
          <a:p>
            <a:endParaRPr lang="zh-CN" altLang="en-US"/>
          </a:p>
        </p:txBody>
      </p:sp>
      <p:sp>
        <p:nvSpPr>
          <p:cNvPr id="16" name="Shape 14"/>
          <p:cNvSpPr/>
          <p:nvPr/>
        </p:nvSpPr>
        <p:spPr>
          <a:xfrm>
            <a:off x="548640" y="4709160"/>
            <a:ext cx="164592" cy="1417320"/>
          </a:xfrm>
          <a:prstGeom prst="rect">
            <a:avLst/>
          </a:prstGeom>
          <a:solidFill>
            <a:srgbClr val="E63946"/>
          </a:solidFill>
          <a:ln w="12700">
            <a:solidFill>
              <a:srgbClr val="E63946"/>
            </a:solidFill>
            <a:prstDash val="solid"/>
          </a:ln>
        </p:spPr>
        <p:txBody>
          <a:bodyPr/>
          <a:lstStyle/>
          <a:p>
            <a:endParaRPr lang="zh-CN" altLang="en-US"/>
          </a:p>
        </p:txBody>
      </p:sp>
      <p:sp>
        <p:nvSpPr>
          <p:cNvPr id="17" name="Text 15"/>
          <p:cNvSpPr/>
          <p:nvPr/>
        </p:nvSpPr>
        <p:spPr>
          <a:xfrm>
            <a:off x="868680" y="4800600"/>
            <a:ext cx="10515600" cy="365760"/>
          </a:xfrm>
          <a:prstGeom prst="rect">
            <a:avLst/>
          </a:prstGeom>
          <a:noFill/>
          <a:ln/>
        </p:spPr>
        <p:txBody>
          <a:bodyPr wrap="square" lIns="0" tIns="0" rIns="0" bIns="0" rtlCol="0" anchor="ctr"/>
          <a:lstStyle/>
          <a:p>
            <a:pPr marL="0" indent="0">
              <a:buNone/>
            </a:pPr>
            <a:r>
              <a:rPr lang="en-US" sz="1500" b="1" dirty="0">
                <a:solidFill>
                  <a:srgbClr val="0B1D3A"/>
                </a:solidFill>
                <a:latin typeface="Calibri" pitchFamily="34" charset="0"/>
                <a:ea typeface="Calibri" pitchFamily="34" charset="-122"/>
                <a:cs typeface="Calibri" pitchFamily="34" charset="-120"/>
              </a:rPr>
              <a:t>GDPR Art. 17 cascade</a:t>
            </a:r>
            <a:endParaRPr lang="en-US" sz="1500" dirty="0"/>
          </a:p>
        </p:txBody>
      </p:sp>
      <p:sp>
        <p:nvSpPr>
          <p:cNvPr id="18" name="Text 16"/>
          <p:cNvSpPr/>
          <p:nvPr/>
        </p:nvSpPr>
        <p:spPr>
          <a:xfrm>
            <a:off x="868680" y="5212080"/>
            <a:ext cx="10515600" cy="320040"/>
          </a:xfrm>
          <a:prstGeom prst="rect">
            <a:avLst/>
          </a:prstGeom>
          <a:noFill/>
          <a:ln/>
        </p:spPr>
        <p:txBody>
          <a:bodyPr wrap="square" lIns="0" tIns="0" rIns="0" bIns="0" rtlCol="0" anchor="ctr"/>
          <a:lstStyle/>
          <a:p>
            <a:pPr marL="0" indent="0">
              <a:buNone/>
            </a:pPr>
            <a:r>
              <a:rPr lang="en-US" sz="1100" dirty="0">
                <a:solidFill>
                  <a:srgbClr val="E63946"/>
                </a:solidFill>
                <a:latin typeface="Consolas" pitchFamily="34" charset="0"/>
                <a:ea typeface="Consolas" pitchFamily="34" charset="-122"/>
                <a:cs typeface="Consolas" pitchFamily="34" charset="-120"/>
              </a:rPr>
              <a:t>POST /api/compliance/erasure  { customer_id, role=dpo }</a:t>
            </a:r>
            <a:endParaRPr lang="en-US" sz="1100" dirty="0"/>
          </a:p>
        </p:txBody>
      </p:sp>
      <p:sp>
        <p:nvSpPr>
          <p:cNvPr id="19" name="Text 17"/>
          <p:cNvSpPr/>
          <p:nvPr/>
        </p:nvSpPr>
        <p:spPr>
          <a:xfrm>
            <a:off x="868680" y="5577840"/>
            <a:ext cx="10515600" cy="5029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cascade across tables + vault unmap + audit log entry, within 72h SLA</a:t>
            </a:r>
            <a:endParaRPr lang="en-US" sz="1100" dirty="0"/>
          </a:p>
        </p:txBody>
      </p:sp>
      <p:sp>
        <p:nvSpPr>
          <p:cNvPr id="20" name="Shape 18"/>
          <p:cNvSpPr/>
          <p:nvPr/>
        </p:nvSpPr>
        <p:spPr>
          <a:xfrm>
            <a:off x="0" y="6537960"/>
            <a:ext cx="12161520" cy="320040"/>
          </a:xfrm>
          <a:prstGeom prst="rect">
            <a:avLst/>
          </a:prstGeom>
          <a:solidFill>
            <a:srgbClr val="0B1D3A"/>
          </a:solidFill>
          <a:ln w="12700">
            <a:solidFill>
              <a:srgbClr val="0B1D3A"/>
            </a:solidFill>
            <a:prstDash val="solid"/>
          </a:ln>
        </p:spPr>
        <p:txBody>
          <a:bodyPr/>
          <a:lstStyle/>
          <a:p>
            <a:endParaRPr lang="zh-CN" altLang="en-US"/>
          </a:p>
        </p:txBody>
      </p:sp>
      <p:sp>
        <p:nvSpPr>
          <p:cNvPr id="21" name="Text 19"/>
          <p:cNvSpPr/>
          <p:nvPr/>
        </p:nvSpPr>
        <p:spPr>
          <a:xfrm>
            <a:off x="365760" y="6565392"/>
            <a:ext cx="1005840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FinGuard - Borderless Banking - Project Recap</a:t>
            </a:r>
            <a:endParaRPr lang="en-US" sz="900" dirty="0"/>
          </a:p>
        </p:txBody>
      </p:sp>
      <p:sp>
        <p:nvSpPr>
          <p:cNvPr id="22" name="Text 20"/>
          <p:cNvSpPr/>
          <p:nvPr/>
        </p:nvSpPr>
        <p:spPr>
          <a:xfrm>
            <a:off x="11521440" y="6565392"/>
            <a:ext cx="365760" cy="274320"/>
          </a:xfrm>
          <a:prstGeom prst="rect">
            <a:avLst/>
          </a:prstGeom>
          <a:noFill/>
          <a:ln/>
        </p:spPr>
        <p:txBody>
          <a:bodyPr wrap="square" lIns="0" tIns="0" rIns="0" bIns="0" rtlCol="0" anchor="ctr"/>
          <a:lstStyle/>
          <a:p>
            <a:pPr marL="0" indent="0" algn="r">
              <a:buNone/>
            </a:pPr>
            <a:r>
              <a:rPr lang="en-US" sz="900" dirty="0">
                <a:solidFill>
                  <a:srgbClr val="02C39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962</TotalTime>
  <Words>2648</Words>
  <Application>Microsoft Macintosh PowerPoint</Application>
  <PresentationFormat>Widescreen</PresentationFormat>
  <Paragraphs>363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FinGuard - Project Recap (trimmed)</dc:title>
  <dc:subject>PptxGenJS Presentation</dc:subject>
  <dc:creator>FinGuard Team</dc:creator>
  <cp:lastModifiedBy>selin altiparmak</cp:lastModifiedBy>
  <cp:revision>7</cp:revision>
  <dcterms:created xsi:type="dcterms:W3CDTF">2026-06-02T00:32:33Z</dcterms:created>
  <dcterms:modified xsi:type="dcterms:W3CDTF">2026-06-02T16:48:54Z</dcterms:modified>
</cp:coreProperties>
</file>