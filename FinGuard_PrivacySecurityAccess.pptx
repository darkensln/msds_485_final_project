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04"/>
    <p:restoredTop sz="72439"/>
  </p:normalViewPr>
  <p:slideViewPr>
    <p:cSldViewPr snapToGrid="0" snapToObjects="1">
      <p:cViewPr varScale="1">
        <p:scale>
          <a:sx n="151" d="100"/>
          <a:sy n="151" d="100"/>
        </p:scale>
        <p:origin x="36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5848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CONTENT: Cover slide — FinGuard brand, deck title "Privacy, Security &amp; Access", subtitle listing the six topics we will cover, our use case (US fintech launching in EU), and presenter names.]
[PRESENTER 1 — opens, ~30 seconds]
Good morning everyone. We are the FinGuard team. Today we are combining two weeks of work into one walkthrough: Week 6 on privacy and data masking, and Week 7 on security, classification, and access control.
A quick reminder of our use case for our guests Eric and Professor Syamala: FinGuard is a US-based fintech unicorn launching its "Borderless Banking" app in the European Union. To get an EU banking license we need to satisfy GDPR's Right to be Forgotten and pass strict AML audits. A single PII leak could cost millions in fines.
We have ten minutes and three presenters. I will cover the data quality, PII, and classification work. Presenter 2 takes the masking methods and the before-and-after data demos. Presenter 3 closes with the RACI matrix, RBAC architecture, and the live PostgreSQL implementation. Let us begin.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CONTENT: An 8-card grid showing the headline numbers from both weeks. Top row Week 6 work — 98 columns, 24 PII fields, 10 DQ issue types, 4 classification tiers. Bottom row Week 6 + 7 — 6 masking methods, 28,893 reversible mappings, 8 RBAC roles, 4 schemas.]
[PRESENTER 1 — ~40 seconds]
Here is the scoreboard for both weeks. Over Week 6 we cataloged 98 columns across seven tables, flagged 24 personally identifiable fields, identified ten distinct data quality issue types, and assigned every column to one of four classification tiers.
We then applied six different masking methods, generating 28,893 reversible mapping entries that are stored in an encrypted vault.
In Week 7 we built the access layer on top of all that, eight role-based access roles mapped to eight users across four schemas, one schema per classification tier. The rest of the deck walks through how we did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CONTENT: Six cards covering the data quality issues we identified — missing values, invalid data, inconsistent format, duplicates, out of range, and format errors. Each card shows the issue name, what it means, and a real example from our datasets with the percentage of rows affected. Bottom caption notes that every column is flagged Y/N in our catalog spreadsheet.]
[PRESENTER 1 — ~45 seconds]
Before we could mask anything we had to know what was wrong with the data. We built a spreadsheet listing all 98 columns and flagged each one yes or no against ten standard data quality dimensions from the Northwestern framework.
This slide shows the six that fired. Missing values were the biggest — 20 percent of beneficiary names in our AML data were null. Invalid data, like negative transaction amounts. Inconsistent date formats. Duplicate customer IDs with different names. Out-of-range ages including zero and 999. And structural format errors in filing dates.
We fixed each one before masking began. You cannot tokenize garbage, because then you preserve the garbage forever. The Y/N flag column becomes the input to an automated quality gate.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CONTENT: Top half shows three category cards — Direct PII with 11 fields, Quasi PII with 8 fields, Sensitive PII with 5 fields — each with definition and examples. Bottom half breaks the 24 PII fields down by dataset: 11 in AML Transactions, 8 in Bank Marketing, 3 in SEC EDGAR, 2 in PaySim.]
[PRESENTER 1 — ~55 seconds]
We then flagged every column for personally identifiable information using the standard NIST and GDPR taxonomy. Twenty-four columns total, across three categories.
Direct PII — eleven fields — these identify a person on their own. Full names, personal emails, phone numbers, dates of birth, home addresses, IBAN account numbers.
Quasi PII — eight fields — they only identify when combined with other data. Things like customer ID, IP address, device ID, ZIP code, country. By themselves harmless, but join two of them together and you can re-identify someone.
Sensitive PII — five fields — financial identifiers under stricter laws like the Gramm-Leach-Bliley Act and EU PSD2. IBAN account numbers and EINs.
The bottom of the slide shows which dataset carries the risk. AML transactions are the worst — eleven PII fields in one table. Bank marketing has the full customer profile. SEC EDGAR is mostly public corporate filings so only three. And PaySim, by design, only has anonymized account IDs. Every flag is captured in our column-level catalog spreadsheet.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CONTENT: Four classification tier rows — Public, Internal, Confidential, Restricted. Each row shows the tier name with column count on the left, then on the right: business impact, access policy, the specific regulations that apply, and example fields from our actual datasets.]
[PRESENTER 1 — ~50 seconds]
Every one of our 98 columns now sits in one of four tiers, using the Northwestern IT classification standard.
Public — 35 columns. ECB exchange rates, FATF country lists, World Bank indicators. Zero impact if disclosed, no regulatory restriction.
Internal — 27 columns. Transaction types, job codes, dates. Minor business impact only, covered by internal policy.
Confidential — 21 columns. Account balances, AML risk scores, IP addresses. Significant impact if leaked. Governed by the Gramm-Leach-Bliley Act, Sarbanes-Oxley, and the EU's sixth AML Directive.
Restricted — 15 columns. This is the raw PII. Names, emails, IBANs, dates of birth. Severe impact under GDPR articles 5 and 9, HIPAA, and GLBA. Only the DPO and CDO can touch raw values, and every access is logged.
This classification is what drives every privacy method and every permission in the rest of this deck. Handing to Presenter 2 for the masking work.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CONTENT: A 7-row table with five columns — masking method, which fields it was applied to, plain-English explanation of how it works, whether it is reversible (green YES, yellow VIA MAP, red NO LOSSY), and the count of fields. Bottom caption notes 28,893 mapping entries in the encrypted vault, supporting GDPR Right to Erasure.]
[PRESENTER 2 — ~45 seconds]
Thank you. We chose six different masking techniques, because no single method fits every kind of PII. The table shows what we applied where and whether each is reversible.
Pseudonymization — names and customer IDs become TOKEN_000001 and so on. Fully reversible through the vault.
SHA-256 hashing on emails and device IDs, partial masking on phones to show only the last four digits. Both reversible through the mapping vault, not by reversing the hash itself.
Generalization on addresses — city plus country only, lossy and irreversible. Age-banding on dates of birth — decade ranges, irreversible. FPE tokenization on IBANs — keeps a valid IBAN structure for downstream validators, but the content is encrypted. And truncation on IPs and ZIPs — last octet or last two digits removed.
All reversible mappings sit in an AES-256 encrypted vault, 28,893 entries total. This is what lets us satisfy GDPR Right to Erasure on the next slide but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CONTENT: Side-by-side comparison of the same two AML transaction rows. Top "BEFORE" block in red shows raw PII as ingested — real-looking names, emails, phone numbers, dates of birth, and IBANs. Middle row of arrows lists which masking method was applied to each column. Bottom "AFTER" block in teal shows the same two rows post-masking, with TOKEN replacements, hashed emails, partial phones, age bands, FPE-tokenized IBANs, and truncated IPs. Data is real, pulled from our masked CSVs.]
[PRESENTER 2 — ~55 seconds]
This is the actual proof. Two real rows from our AML transactions table, before and after. Top half in red — what we ingest. Donato Godoy-Chaparro, his real name, real email, real phone, his date of birth, his IBAN, his IP address. Under GDPR this is a reportable breach the second it leaks.
The arrow row shows which masking method was applied to each column.
Bottom half in teal — what actually lives in our production warehouse. The names became TOKEN_000001 and TOKEN_000002, the emails became 16-character hashes, the phones show only last four digits, dates of birth collapsed to decade bands, the IBAN was re-encrypted while keeping a valid IBAN format, and the IP address has its last octet truncated.
Same two rows, same business value preserved — we can still group by country, by decade, by IBAN prefix — but no individual is identifiable. This data could be exported to a vendor tomorrow without a privacy review.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CONTENT: Two more before/after demos. Top half: Bank Marketing customers showing names becoming tokens, emails hashed, phones partially masked, addresses generalized to city level, dates of birth converted to age bands. Bottom half: SEC EDGAR filings showing CEO names tokenized, addresses generalized, and EINs replaced via format-preserving encryption while still looking like valid EINs.]
[PRESENTER 2 — ~40 seconds]
Two more datasets, same pattern. On top, Bank Marketing customers. Trinidad Bou Carrión becomes TOKEN_000001, her email becomes a hash, phone shows only last four digits, her street address collapses to just the city — Mahe — and her exact date of birth becomes the band 40-49.
On the bottom, SEC EDGAR filings. CEO names become tokens. Addresses generalize to city and country. EINs use format-preserving encryption — the result still looks like a valid EIN with the dash in the right place, but the actual identifier has been swapped.
Key takeaway — masking is not deletion. Every column retains analytical value. Marketing can still segment by age band. Compliance can still run AML rules on IBAN country prefixes. We just removed the path back to a specific individual.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CONTENT: Top half shows a four-stage pipeline diagram — Source Data → Masking Engine → Masked Data → Mapping Vault, with a dashed red reverse arrow flowing back to indicate the path used for GDPR erasure. Bottom half has three cards explaining the three uses of the vault: forward mapping for ingestion, reverse mapping for lineage and erasure, and the GDPR erasure workflow that cascades deletes across tables.]
[PRESENTER 2 — ~50 seconds]
This is what ties the masking work to compliance. The vault is not a side artifact, it is the core control.
The pipeline at the top — raw PII enters from the left, runs through our masking engine, and the production warehouse only ever sees the masked output on the right. Meanwhile every original-to-token pair is stored in the encrypted mapping vault.
The dashed red arrow is what makes us GDPR-compliant. When a customer in the EU exercises their Right to be Forgotten under Article 17, here is the workflow shown on the bottom-right card. We reverse-lookup their token in the vault, find every masked record across every table — AML transactions, bank marketing, audit logs — cascade-delete all of them, and record the entire operation in the audit log. End to end, the whole process is repeatable and verifiable.
This is also our data lineage foundation. Any masked value can be traced back to its source for audit purposes, which is what Week 9 will build on.
Handing to Presenter 3 for the security and access 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CONTENT: An 8-row by 6-role RACI matrix. Rows are governance activities — data quality, PII identification, masking, GDPR erasure, AML investigation, RBAC role assignment, audit log review, external audit response. Columns are the six roles. Each cell is color-coded: red A for Accountable, teal R for Responsible, yellow C for Consulted, gray I for Informed. The DPO column is mostly red Accountable. The External Auditor column is mostly Informed except for the external audit response row.]
[PRESENTER 3 — ~55 seconds]
Thanks. This RACI matrix is the people side of governance. Eight activities, six roles. Legend up top — Responsible does the work, Accountable signs off, Consulted gives input, Informed gets a notification.
A few callouts. The DPO column — Data Protection Officer — is mostly red Accountable. That is a direct GDPR Article 39 requirement: every data controller must have a single named DPO with end-to-end accountability for privacy.
The CDO — Chief Data Officer — owns data quality and the RBAC assignments themselves. Compliance is Responsible for masking execution, GDPR erasure, and AML investigations because they touch the data day-to-day.
Look at the External Auditor column on the far right. They are Responsible for one thing — the external audit response. They are Informed of most other activities. That clean separation is exactly what auditors check for.
Notice every row has exactly one A. No diffuse accountability. That is the single point of failure problem our exec team was terrified about, solved on paper.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CONTENT: Three vertical cards showing the RBAC model in three layers. Left card lists eight users — alice_dpo, bob_cdo, etc. Middle card lists eight group roles, one per job function. Right card lists the permissions, granted by schema where each schema maps to one classification tier, plus column-level denies, row-level security, and audit logging. Arrows between the cards show the flow. Bottom caption summarizes effective access per role.]
[PRESENTER 3 — ~45 seconds]
This is the RBAC model, following the NIST INCITS 359 standard. Three layers.
Left — eight users, real humans or service accounts. Middle — eight group roles, one per job function. In PostgreSQL these are NOLOGIN roles, pure permission containers. Users are assigned to roles, never given direct grants.
Right — permissions. We grant at the schema level, and our four schemas mirror our four classification tiers exactly. raw_pii schema equals RESTRICTED. masked schema equals CONFIDENTIAL. On top we layer column-level denies, row-level security policies, and audit logging.
The bottom caption summarizes effective access. The DPO and CDO can read everything. Compliance gets PUBLIC and INTERNAL fully, but only flagged rows in CONFIDENTIAL. Data analysts cannot see IP addresses at all, and cannot reach raw PII. Marketing gets a narrow view. External auditors see PUBLIC only.
This is least privilege done in code, not policy.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CONTENT: Left side shows the actual PostgreSQL SQL — create role, create user, grant schema access, REVOKE column-level access on ip_address, and a CREATE POLICY statement for row-level security on flagged AML transactions. Right side shows the demo: same user Eve runs two queries. The first fails with "permission denied for column ip_address". The second, which avoids restricted columns, returns three masked rows successfully. Real SQL, real result.]
[PRESENTER 3 — ~55 seconds]
This is the implementation. Real PostgreSQL, real SQL.
On the left, four numbered steps. Step 1, create the role as NOLOGIN and create the user inside that role. Step 2, grant at the schema level — one statement covers every table in the CONFIDENTIAL tier. Step 3, REVOKE access on ip_address and device_id columns for the analyst role specifically. Step 4, create a row-level security policy so that when the compliance role runs SELECT star, PostgreSQL silently filters to only the flagged rows.
On the right, the proof. Same user Eve, two queries. The first one tries to read ip_address. PostgreSQL rejects it at parse time — she literally cannot compile the query. The second query avoids the restricted column, and she gets three tokenized rows back: TOKEN_000001, amount 78,422 euros. She can do her job, find high-value transactions, without ever seeing the underlying customer name.
That is what "privacy by design" looks like at the database layer. The control is not a policy document — it is the database saying no.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CONTENT: Left side shows six compliance pillars, each mapping our actual controls to a specific regulation — GDPR articles 5, 17, 32, and 39, plus EU AMLD6/FATF and GLBA/FFIEC/SOX. Right side is a dark "Our Next Steps" panel listing the three remaining areas of work: bias and fairness audit, data lineage visualization, and the data catalog with web UI. Bottom: "Thank you — Questions?"]
[PRESENTER 3 — close, ~45 seconds]
To close out — every control we showed today maps to a specific regulation. GDPR Article 5 demands integrity and confidentiality; we have RBAC, row-level security, and audit logging. Article 17 demands erasure; we have the mapping vault with reverse-lookup and cascade delete. Article 32 demands security of processing; schema isolation and column denies cover that. Article 39 demands a named DPO; one accountable name in every RACI row.
On the AML side, the EU's sixth AML Directive and FATF guidance both require need-to-know access for investigators — that is our row-level security on flagged transactions. And on the US side, GLBA, FFIEC, and SOX all want least privilege and segregation of duties, enforced in code.
The right panel is what is still ahead. Bias and fairness — auditing whether our AML risk scores discriminate based on FATF country lists, and whether our marketing campaigns skew demographically. Data lineage — visualizing the full path from source CSV through masking to the RBAC-controlled view, column by column. And the data catalog — a web UI where any authorized user can search any column and see its tier, its owner, its masking method, and its lineage.
We are getting close to project finish. Thank you.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5029200" y="-1828800"/>
            <a:ext cx="5029200" cy="5029200"/>
          </a:xfrm>
          <a:prstGeom prst="ellipse">
            <a:avLst/>
          </a:prstGeom>
          <a:solidFill>
            <a:srgbClr val="081730"/>
          </a:solidFill>
          <a:ln w="12700">
            <a:solidFill>
              <a:srgbClr val="081730"/>
            </a:solidFill>
            <a:prstDash val="solid"/>
          </a:ln>
        </p:spPr>
      </p:sp>
      <p:sp>
        <p:nvSpPr>
          <p:cNvPr id="3" name="Shape 1"/>
          <p:cNvSpPr/>
          <p:nvPr/>
        </p:nvSpPr>
        <p:spPr>
          <a:xfrm>
            <a:off x="7132320" y="2743200"/>
            <a:ext cx="3200400" cy="3200400"/>
          </a:xfrm>
          <a:prstGeom prst="ellipse">
            <a:avLst/>
          </a:prstGeom>
          <a:solidFill>
            <a:srgbClr val="0F2C4A"/>
          </a:solidFill>
          <a:ln w="12700">
            <a:solidFill>
              <a:srgbClr val="0F2C4A"/>
            </a:solidFill>
            <a:prstDash val="solid"/>
          </a:ln>
        </p:spPr>
      </p:sp>
      <p:sp>
        <p:nvSpPr>
          <p:cNvPr id="4" name="Text 2"/>
          <p:cNvSpPr/>
          <p:nvPr/>
        </p:nvSpPr>
        <p:spPr>
          <a:xfrm>
            <a:off x="457200" y="502920"/>
            <a:ext cx="3657600" cy="365760"/>
          </a:xfrm>
          <a:prstGeom prst="rect">
            <a:avLst/>
          </a:prstGeom>
          <a:noFill/>
          <a:ln/>
        </p:spPr>
        <p:txBody>
          <a:bodyPr wrap="square" lIns="0" tIns="0" rIns="0" bIns="0" rtlCol="0" anchor="ctr"/>
          <a:lstStyle/>
          <a:p>
            <a:pPr marL="0" indent="0">
              <a:buNone/>
            </a:pPr>
            <a:r>
              <a:rPr lang="en-US" sz="1600" b="1" kern="0" spc="800" dirty="0">
                <a:solidFill>
                  <a:srgbClr val="14B8A6"/>
                </a:solidFill>
                <a:latin typeface="Calibri" pitchFamily="34" charset="0"/>
                <a:ea typeface="Calibri" pitchFamily="34" charset="-122"/>
                <a:cs typeface="Calibri" pitchFamily="34" charset="-120"/>
              </a:rPr>
              <a:t>FINGUARD</a:t>
            </a:r>
            <a:endParaRPr lang="en-US" sz="1600" dirty="0"/>
          </a:p>
        </p:txBody>
      </p:sp>
      <p:sp>
        <p:nvSpPr>
          <p:cNvPr id="5" name="Text 3"/>
          <p:cNvSpPr/>
          <p:nvPr/>
        </p:nvSpPr>
        <p:spPr>
          <a:xfrm>
            <a:off x="457200" y="1188720"/>
            <a:ext cx="8229600" cy="1188720"/>
          </a:xfrm>
          <a:prstGeom prst="rect">
            <a:avLst/>
          </a:prstGeom>
          <a:noFill/>
          <a:ln/>
        </p:spPr>
        <p:txBody>
          <a:bodyPr wrap="square" lIns="0" tIns="0" rIns="0" bIns="0" rtlCol="0" anchor="ctr"/>
          <a:lstStyle/>
          <a:p>
            <a:pPr marL="0" indent="0">
              <a:buNone/>
            </a:pPr>
            <a:r>
              <a:rPr lang="en-US" sz="4600" b="1" dirty="0">
                <a:solidFill>
                  <a:srgbClr val="FFFFFF"/>
                </a:solidFill>
                <a:latin typeface="Georgia" pitchFamily="34" charset="0"/>
                <a:ea typeface="Georgia" pitchFamily="34" charset="-122"/>
                <a:cs typeface="Georgia" pitchFamily="34" charset="-120"/>
              </a:rPr>
              <a:t>Privacy, Security &amp; Access</a:t>
            </a:r>
            <a:endParaRPr lang="en-US" sz="4600" dirty="0"/>
          </a:p>
        </p:txBody>
      </p:sp>
      <p:sp>
        <p:nvSpPr>
          <p:cNvPr id="6" name="Text 4"/>
          <p:cNvSpPr/>
          <p:nvPr/>
        </p:nvSpPr>
        <p:spPr>
          <a:xfrm>
            <a:off x="457200" y="2514600"/>
            <a:ext cx="8229600" cy="365760"/>
          </a:xfrm>
          <a:prstGeom prst="rect">
            <a:avLst/>
          </a:prstGeom>
          <a:noFill/>
          <a:ln/>
        </p:spPr>
        <p:txBody>
          <a:bodyPr wrap="square" lIns="0" tIns="0" rIns="0" bIns="0" rtlCol="0" anchor="ctr"/>
          <a:lstStyle/>
          <a:p>
            <a:pPr marL="0" indent="0">
              <a:buNone/>
            </a:pPr>
            <a:r>
              <a:rPr lang="en-US" sz="1400" dirty="0">
                <a:solidFill>
                  <a:srgbClr val="B8C5D6"/>
                </a:solidFill>
                <a:latin typeface="Calibri" pitchFamily="34" charset="0"/>
                <a:ea typeface="Calibri" pitchFamily="34" charset="-122"/>
                <a:cs typeface="Calibri" pitchFamily="34" charset="-120"/>
              </a:rPr>
              <a:t>Data Quality  •  PII  •  Masking  •  Classification  •  RACI  •  RBAC</a:t>
            </a:r>
            <a:endParaRPr lang="en-US" sz="1400" dirty="0"/>
          </a:p>
        </p:txBody>
      </p:sp>
      <p:sp>
        <p:nvSpPr>
          <p:cNvPr id="7" name="Shape 5"/>
          <p:cNvSpPr/>
          <p:nvPr/>
        </p:nvSpPr>
        <p:spPr>
          <a:xfrm>
            <a:off x="457200" y="3017520"/>
            <a:ext cx="1097280" cy="36576"/>
          </a:xfrm>
          <a:prstGeom prst="rect">
            <a:avLst/>
          </a:prstGeom>
          <a:solidFill>
            <a:srgbClr val="14B8A6"/>
          </a:solidFill>
          <a:ln w="12700">
            <a:solidFill>
              <a:srgbClr val="14B8A6"/>
            </a:solidFill>
            <a:prstDash val="solid"/>
          </a:ln>
        </p:spPr>
      </p:sp>
      <p:sp>
        <p:nvSpPr>
          <p:cNvPr id="8" name="Text 6"/>
          <p:cNvSpPr/>
          <p:nvPr/>
        </p:nvSpPr>
        <p:spPr>
          <a:xfrm>
            <a:off x="457200" y="3154680"/>
            <a:ext cx="5486400" cy="320040"/>
          </a:xfrm>
          <a:prstGeom prst="rect">
            <a:avLst/>
          </a:prstGeom>
          <a:noFill/>
          <a:ln/>
        </p:spPr>
        <p:txBody>
          <a:bodyPr wrap="square" lIns="0" tIns="0" rIns="0" bIns="0" rtlCol="0" anchor="ctr"/>
          <a:lstStyle/>
          <a:p>
            <a:pPr marL="0" indent="0">
              <a:buNone/>
            </a:pPr>
            <a:r>
              <a:rPr lang="en-US" sz="1200" dirty="0">
                <a:solidFill>
                  <a:srgbClr val="8FA1B8"/>
                </a:solidFill>
                <a:latin typeface="Calibri" pitchFamily="34" charset="0"/>
                <a:ea typeface="Calibri" pitchFamily="34" charset="-122"/>
                <a:cs typeface="Calibri" pitchFamily="34" charset="-120"/>
              </a:rPr>
              <a:t>Weeks 6 + 7 Combined Deliverable  •  Spring 2026</a:t>
            </a:r>
            <a:endParaRPr lang="en-US" sz="1200" dirty="0"/>
          </a:p>
        </p:txBody>
      </p:sp>
      <p:sp>
        <p:nvSpPr>
          <p:cNvPr id="9" name="Text 7"/>
          <p:cNvSpPr/>
          <p:nvPr/>
        </p:nvSpPr>
        <p:spPr>
          <a:xfrm>
            <a:off x="457200" y="3474720"/>
            <a:ext cx="8229600" cy="274320"/>
          </a:xfrm>
          <a:prstGeom prst="rect">
            <a:avLst/>
          </a:prstGeom>
          <a:noFill/>
          <a:ln/>
        </p:spPr>
        <p:txBody>
          <a:bodyPr wrap="square" lIns="0" tIns="0" rIns="0" bIns="0" rtlCol="0" anchor="ctr"/>
          <a:lstStyle/>
          <a:p>
            <a:pPr marL="0" indent="0">
              <a:buNone/>
            </a:pPr>
            <a:r>
              <a:rPr lang="en-US" sz="1100" i="1" dirty="0">
                <a:solidFill>
                  <a:srgbClr val="8FA1B8"/>
                </a:solidFill>
                <a:latin typeface="Calibri" pitchFamily="34" charset="0"/>
                <a:ea typeface="Calibri" pitchFamily="34" charset="-122"/>
                <a:cs typeface="Calibri" pitchFamily="34" charset="-120"/>
              </a:rPr>
              <a:t>Use Case: FinGuard Neo-Bank — US fintech launching in the EU</a:t>
            </a:r>
            <a:endParaRPr lang="en-US" sz="1100" dirty="0"/>
          </a:p>
        </p:txBody>
      </p:sp>
      <p:sp>
        <p:nvSpPr>
          <p:cNvPr id="10" name="Text 8"/>
          <p:cNvSpPr/>
          <p:nvPr/>
        </p:nvSpPr>
        <p:spPr>
          <a:xfrm>
            <a:off x="457200" y="4434840"/>
            <a:ext cx="8229600" cy="274320"/>
          </a:xfrm>
          <a:prstGeom prst="rect">
            <a:avLst/>
          </a:prstGeom>
          <a:noFill/>
          <a:ln/>
        </p:spPr>
        <p:txBody>
          <a:bodyPr wrap="square" lIns="0" tIns="0" rIns="0" bIns="0" rtlCol="0" anchor="ctr"/>
          <a:lstStyle/>
          <a:p>
            <a:pPr marL="0" indent="0">
              <a:buNone/>
            </a:pPr>
            <a:r>
              <a:rPr lang="en-US" sz="1000" i="1" dirty="0">
                <a:solidFill>
                  <a:srgbClr val="8FA1B8"/>
                </a:solidFill>
                <a:latin typeface="Calibri" pitchFamily="34" charset="0"/>
                <a:ea typeface="Calibri" pitchFamily="34" charset="-122"/>
                <a:cs typeface="Calibri" pitchFamily="34" charset="-120"/>
              </a:rPr>
              <a:t>Presenters:  Presenter 1   •   Presenter 2   •   Presenter 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400" b="1" dirty="0">
                <a:solidFill>
                  <a:srgbClr val="1A2E4A"/>
                </a:solidFill>
                <a:latin typeface="Georgia" pitchFamily="34" charset="0"/>
                <a:ea typeface="Georgia" pitchFamily="34" charset="-122"/>
                <a:cs typeface="Georgia" pitchFamily="34" charset="-120"/>
              </a:rPr>
              <a:t>What We Delivered</a:t>
            </a:r>
            <a:endParaRPr lang="en-US" sz="2400" dirty="0"/>
          </a:p>
        </p:txBody>
      </p:sp>
      <p:sp>
        <p:nvSpPr>
          <p:cNvPr id="3" name="Shape 1"/>
          <p:cNvSpPr/>
          <p:nvPr/>
        </p:nvSpPr>
        <p:spPr>
          <a:xfrm>
            <a:off x="457200" y="804672"/>
            <a:ext cx="640080" cy="36576"/>
          </a:xfrm>
          <a:prstGeom prst="rect">
            <a:avLst/>
          </a:prstGeom>
          <a:solidFill>
            <a:srgbClr val="14B8A6"/>
          </a:solidFill>
          <a:ln w="12700">
            <a:solidFill>
              <a:srgbClr val="14B8A6"/>
            </a:solidFill>
            <a:prstDash val="solid"/>
          </a:ln>
        </p:spPr>
      </p:sp>
      <p:sp>
        <p:nvSpPr>
          <p:cNvPr id="4" name="Shape 2"/>
          <p:cNvSpPr/>
          <p:nvPr/>
        </p:nvSpPr>
        <p:spPr>
          <a:xfrm>
            <a:off x="0" y="4800600"/>
            <a:ext cx="9144000" cy="342900"/>
          </a:xfrm>
          <a:prstGeom prst="rect">
            <a:avLst/>
          </a:prstGeom>
          <a:solidFill>
            <a:srgbClr val="0B1F3A"/>
          </a:solidFill>
          <a:ln w="12700">
            <a:solidFill>
              <a:srgbClr val="0B1F3A"/>
            </a:solidFill>
            <a:prstDash val="solid"/>
          </a:ln>
        </p:spPr>
      </p:sp>
      <p:sp>
        <p:nvSpPr>
          <p:cNvPr id="5" name="Text 3"/>
          <p:cNvSpPr/>
          <p:nvPr/>
        </p:nvSpPr>
        <p:spPr>
          <a:xfrm>
            <a:off x="365760" y="4818888"/>
            <a:ext cx="548640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Combined output of Weeks 6 + 7</a:t>
            </a:r>
            <a:endParaRPr lang="en-US" sz="900" dirty="0"/>
          </a:p>
        </p:txBody>
      </p:sp>
      <p:sp>
        <p:nvSpPr>
          <p:cNvPr id="6" name="Text 4"/>
          <p:cNvSpPr/>
          <p:nvPr/>
        </p:nvSpPr>
        <p:spPr>
          <a:xfrm>
            <a:off x="5486400" y="4818888"/>
            <a:ext cx="3291840" cy="30175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FinGuard  •  Weeks 6 + 7</a:t>
            </a:r>
            <a:endParaRPr lang="en-US" sz="900" dirty="0"/>
          </a:p>
        </p:txBody>
      </p:sp>
      <p:sp>
        <p:nvSpPr>
          <p:cNvPr id="7" name="Shape 5"/>
          <p:cNvSpPr/>
          <p:nvPr/>
        </p:nvSpPr>
        <p:spPr>
          <a:xfrm>
            <a:off x="365760" y="1097280"/>
            <a:ext cx="1993392" cy="1600200"/>
          </a:xfrm>
          <a:prstGeom prst="rect">
            <a:avLst/>
          </a:prstGeom>
          <a:solidFill>
            <a:srgbClr val="FFFFFF"/>
          </a:solidFill>
          <a:ln w="12700">
            <a:solidFill>
              <a:srgbClr val="E5E7EB"/>
            </a:solidFill>
            <a:prstDash val="solid"/>
          </a:ln>
        </p:spPr>
      </p:sp>
      <p:sp>
        <p:nvSpPr>
          <p:cNvPr id="8" name="Shape 6"/>
          <p:cNvSpPr/>
          <p:nvPr/>
        </p:nvSpPr>
        <p:spPr>
          <a:xfrm>
            <a:off x="365760" y="1097280"/>
            <a:ext cx="1993392" cy="73152"/>
          </a:xfrm>
          <a:prstGeom prst="rect">
            <a:avLst/>
          </a:prstGeom>
          <a:solidFill>
            <a:srgbClr val="0D9488"/>
          </a:solidFill>
          <a:ln w="12700">
            <a:solidFill>
              <a:srgbClr val="0D9488"/>
            </a:solidFill>
            <a:prstDash val="solid"/>
          </a:ln>
        </p:spPr>
      </p:sp>
      <p:sp>
        <p:nvSpPr>
          <p:cNvPr id="9" name="Text 7"/>
          <p:cNvSpPr/>
          <p:nvPr/>
        </p:nvSpPr>
        <p:spPr>
          <a:xfrm>
            <a:off x="365760" y="1207008"/>
            <a:ext cx="1993392" cy="640080"/>
          </a:xfrm>
          <a:prstGeom prst="rect">
            <a:avLst/>
          </a:prstGeom>
          <a:noFill/>
          <a:ln/>
        </p:spPr>
        <p:txBody>
          <a:bodyPr wrap="square" lIns="0" tIns="0" rIns="0" bIns="0" rtlCol="0" anchor="ctr"/>
          <a:lstStyle/>
          <a:p>
            <a:pPr marL="0" indent="0" algn="ctr">
              <a:buNone/>
            </a:pPr>
            <a:r>
              <a:rPr lang="en-US" sz="3600" b="1" dirty="0">
                <a:solidFill>
                  <a:srgbClr val="0D9488"/>
                </a:solidFill>
                <a:latin typeface="Georgia" pitchFamily="34" charset="0"/>
                <a:ea typeface="Georgia" pitchFamily="34" charset="-122"/>
                <a:cs typeface="Georgia" pitchFamily="34" charset="-120"/>
              </a:rPr>
              <a:t>98</a:t>
            </a:r>
            <a:endParaRPr lang="en-US" sz="3600" dirty="0"/>
          </a:p>
        </p:txBody>
      </p:sp>
      <p:sp>
        <p:nvSpPr>
          <p:cNvPr id="10" name="Text 8"/>
          <p:cNvSpPr/>
          <p:nvPr/>
        </p:nvSpPr>
        <p:spPr>
          <a:xfrm>
            <a:off x="365760" y="1901952"/>
            <a:ext cx="1993392" cy="320040"/>
          </a:xfrm>
          <a:prstGeom prst="rect">
            <a:avLst/>
          </a:prstGeom>
          <a:noFill/>
          <a:ln/>
        </p:spPr>
        <p:txBody>
          <a:bodyPr wrap="square" lIns="0" tIns="0" rIns="0" bIns="0" rtlCol="0" anchor="ctr"/>
          <a:lstStyle/>
          <a:p>
            <a:pPr marL="0" indent="0" algn="ctr">
              <a:buNone/>
            </a:pPr>
            <a:r>
              <a:rPr lang="en-US" sz="1200" b="1" dirty="0">
                <a:solidFill>
                  <a:srgbClr val="1A2E4A"/>
                </a:solidFill>
                <a:latin typeface="Calibri" pitchFamily="34" charset="0"/>
                <a:ea typeface="Calibri" pitchFamily="34" charset="-122"/>
                <a:cs typeface="Calibri" pitchFamily="34" charset="-120"/>
              </a:rPr>
              <a:t>Columns Cataloged</a:t>
            </a:r>
            <a:endParaRPr lang="en-US" sz="1200" dirty="0"/>
          </a:p>
        </p:txBody>
      </p:sp>
      <p:sp>
        <p:nvSpPr>
          <p:cNvPr id="11" name="Text 9"/>
          <p:cNvSpPr/>
          <p:nvPr/>
        </p:nvSpPr>
        <p:spPr>
          <a:xfrm>
            <a:off x="365760" y="2212848"/>
            <a:ext cx="1993392"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Across 7 tables</a:t>
            </a:r>
            <a:endParaRPr lang="en-US" sz="1000" dirty="0"/>
          </a:p>
        </p:txBody>
      </p:sp>
      <p:sp>
        <p:nvSpPr>
          <p:cNvPr id="12" name="Shape 10"/>
          <p:cNvSpPr/>
          <p:nvPr/>
        </p:nvSpPr>
        <p:spPr>
          <a:xfrm>
            <a:off x="2487168" y="1097280"/>
            <a:ext cx="1993392" cy="1600200"/>
          </a:xfrm>
          <a:prstGeom prst="rect">
            <a:avLst/>
          </a:prstGeom>
          <a:solidFill>
            <a:srgbClr val="FFFFFF"/>
          </a:solidFill>
          <a:ln w="12700">
            <a:solidFill>
              <a:srgbClr val="E5E7EB"/>
            </a:solidFill>
            <a:prstDash val="solid"/>
          </a:ln>
        </p:spPr>
      </p:sp>
      <p:sp>
        <p:nvSpPr>
          <p:cNvPr id="13" name="Shape 11"/>
          <p:cNvSpPr/>
          <p:nvPr/>
        </p:nvSpPr>
        <p:spPr>
          <a:xfrm>
            <a:off x="2487168" y="1097280"/>
            <a:ext cx="1993392" cy="73152"/>
          </a:xfrm>
          <a:prstGeom prst="rect">
            <a:avLst/>
          </a:prstGeom>
          <a:solidFill>
            <a:srgbClr val="DC2626"/>
          </a:solidFill>
          <a:ln w="12700">
            <a:solidFill>
              <a:srgbClr val="DC2626"/>
            </a:solidFill>
            <a:prstDash val="solid"/>
          </a:ln>
        </p:spPr>
      </p:sp>
      <p:sp>
        <p:nvSpPr>
          <p:cNvPr id="14" name="Text 12"/>
          <p:cNvSpPr/>
          <p:nvPr/>
        </p:nvSpPr>
        <p:spPr>
          <a:xfrm>
            <a:off x="2487168" y="1207008"/>
            <a:ext cx="1993392" cy="640080"/>
          </a:xfrm>
          <a:prstGeom prst="rect">
            <a:avLst/>
          </a:prstGeom>
          <a:noFill/>
          <a:ln/>
        </p:spPr>
        <p:txBody>
          <a:bodyPr wrap="square" lIns="0" tIns="0" rIns="0" bIns="0" rtlCol="0" anchor="ctr"/>
          <a:lstStyle/>
          <a:p>
            <a:pPr marL="0" indent="0" algn="ctr">
              <a:buNone/>
            </a:pPr>
            <a:r>
              <a:rPr lang="en-US" sz="3600" b="1" dirty="0">
                <a:solidFill>
                  <a:srgbClr val="DC2626"/>
                </a:solidFill>
                <a:latin typeface="Georgia" pitchFamily="34" charset="0"/>
                <a:ea typeface="Georgia" pitchFamily="34" charset="-122"/>
                <a:cs typeface="Georgia" pitchFamily="34" charset="-120"/>
              </a:rPr>
              <a:t>24</a:t>
            </a:r>
            <a:endParaRPr lang="en-US" sz="3600" dirty="0"/>
          </a:p>
        </p:txBody>
      </p:sp>
      <p:sp>
        <p:nvSpPr>
          <p:cNvPr id="15" name="Text 13"/>
          <p:cNvSpPr/>
          <p:nvPr/>
        </p:nvSpPr>
        <p:spPr>
          <a:xfrm>
            <a:off x="2487168" y="1901952"/>
            <a:ext cx="1993392" cy="320040"/>
          </a:xfrm>
          <a:prstGeom prst="rect">
            <a:avLst/>
          </a:prstGeom>
          <a:noFill/>
          <a:ln/>
        </p:spPr>
        <p:txBody>
          <a:bodyPr wrap="square" lIns="0" tIns="0" rIns="0" bIns="0" rtlCol="0" anchor="ctr"/>
          <a:lstStyle/>
          <a:p>
            <a:pPr marL="0" indent="0" algn="ctr">
              <a:buNone/>
            </a:pPr>
            <a:r>
              <a:rPr lang="en-US" sz="1200" b="1" dirty="0">
                <a:solidFill>
                  <a:srgbClr val="1A2E4A"/>
                </a:solidFill>
                <a:latin typeface="Calibri" pitchFamily="34" charset="0"/>
                <a:ea typeface="Calibri" pitchFamily="34" charset="-122"/>
                <a:cs typeface="Calibri" pitchFamily="34" charset="-120"/>
              </a:rPr>
              <a:t>PII Fields Found</a:t>
            </a:r>
            <a:endParaRPr lang="en-US" sz="1200" dirty="0"/>
          </a:p>
        </p:txBody>
      </p:sp>
      <p:sp>
        <p:nvSpPr>
          <p:cNvPr id="16" name="Text 14"/>
          <p:cNvSpPr/>
          <p:nvPr/>
        </p:nvSpPr>
        <p:spPr>
          <a:xfrm>
            <a:off x="2487168" y="2212848"/>
            <a:ext cx="1993392"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Direct + Quasi + Sensitive</a:t>
            </a:r>
            <a:endParaRPr lang="en-US" sz="1000" dirty="0"/>
          </a:p>
        </p:txBody>
      </p:sp>
      <p:sp>
        <p:nvSpPr>
          <p:cNvPr id="17" name="Shape 15"/>
          <p:cNvSpPr/>
          <p:nvPr/>
        </p:nvSpPr>
        <p:spPr>
          <a:xfrm>
            <a:off x="4608576" y="1097280"/>
            <a:ext cx="1993392" cy="1600200"/>
          </a:xfrm>
          <a:prstGeom prst="rect">
            <a:avLst/>
          </a:prstGeom>
          <a:solidFill>
            <a:srgbClr val="FFFFFF"/>
          </a:solidFill>
          <a:ln w="12700">
            <a:solidFill>
              <a:srgbClr val="E5E7EB"/>
            </a:solidFill>
            <a:prstDash val="solid"/>
          </a:ln>
        </p:spPr>
      </p:sp>
      <p:sp>
        <p:nvSpPr>
          <p:cNvPr id="18" name="Shape 16"/>
          <p:cNvSpPr/>
          <p:nvPr/>
        </p:nvSpPr>
        <p:spPr>
          <a:xfrm>
            <a:off x="4608576" y="1097280"/>
            <a:ext cx="1993392" cy="73152"/>
          </a:xfrm>
          <a:prstGeom prst="rect">
            <a:avLst/>
          </a:prstGeom>
          <a:solidFill>
            <a:srgbClr val="F59E0B"/>
          </a:solidFill>
          <a:ln w="12700">
            <a:solidFill>
              <a:srgbClr val="F59E0B"/>
            </a:solidFill>
            <a:prstDash val="solid"/>
          </a:ln>
        </p:spPr>
      </p:sp>
      <p:sp>
        <p:nvSpPr>
          <p:cNvPr id="19" name="Text 17"/>
          <p:cNvSpPr/>
          <p:nvPr/>
        </p:nvSpPr>
        <p:spPr>
          <a:xfrm>
            <a:off x="4608576" y="1207008"/>
            <a:ext cx="1993392" cy="640080"/>
          </a:xfrm>
          <a:prstGeom prst="rect">
            <a:avLst/>
          </a:prstGeom>
          <a:noFill/>
          <a:ln/>
        </p:spPr>
        <p:txBody>
          <a:bodyPr wrap="square" lIns="0" tIns="0" rIns="0" bIns="0" rtlCol="0" anchor="ctr"/>
          <a:lstStyle/>
          <a:p>
            <a:pPr marL="0" indent="0" algn="ctr">
              <a:buNone/>
            </a:pPr>
            <a:r>
              <a:rPr lang="en-US" sz="3600" b="1" dirty="0">
                <a:solidFill>
                  <a:srgbClr val="F59E0B"/>
                </a:solidFill>
                <a:latin typeface="Georgia" pitchFamily="34" charset="0"/>
                <a:ea typeface="Georgia" pitchFamily="34" charset="-122"/>
                <a:cs typeface="Georgia" pitchFamily="34" charset="-120"/>
              </a:rPr>
              <a:t>10</a:t>
            </a:r>
            <a:endParaRPr lang="en-US" sz="3600" dirty="0"/>
          </a:p>
        </p:txBody>
      </p:sp>
      <p:sp>
        <p:nvSpPr>
          <p:cNvPr id="20" name="Text 18"/>
          <p:cNvSpPr/>
          <p:nvPr/>
        </p:nvSpPr>
        <p:spPr>
          <a:xfrm>
            <a:off x="4608576" y="1901952"/>
            <a:ext cx="1993392" cy="320040"/>
          </a:xfrm>
          <a:prstGeom prst="rect">
            <a:avLst/>
          </a:prstGeom>
          <a:noFill/>
          <a:ln/>
        </p:spPr>
        <p:txBody>
          <a:bodyPr wrap="square" lIns="0" tIns="0" rIns="0" bIns="0" rtlCol="0" anchor="ctr"/>
          <a:lstStyle/>
          <a:p>
            <a:pPr marL="0" indent="0" algn="ctr">
              <a:buNone/>
            </a:pPr>
            <a:r>
              <a:rPr lang="en-US" sz="1200" b="1" dirty="0">
                <a:solidFill>
                  <a:srgbClr val="1A2E4A"/>
                </a:solidFill>
                <a:latin typeface="Calibri" pitchFamily="34" charset="0"/>
                <a:ea typeface="Calibri" pitchFamily="34" charset="-122"/>
                <a:cs typeface="Calibri" pitchFamily="34" charset="-120"/>
              </a:rPr>
              <a:t>DQ Issue Types</a:t>
            </a:r>
            <a:endParaRPr lang="en-US" sz="1200" dirty="0"/>
          </a:p>
        </p:txBody>
      </p:sp>
      <p:sp>
        <p:nvSpPr>
          <p:cNvPr id="21" name="Text 19"/>
          <p:cNvSpPr/>
          <p:nvPr/>
        </p:nvSpPr>
        <p:spPr>
          <a:xfrm>
            <a:off x="4608576" y="2212848"/>
            <a:ext cx="1993392"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Flagged per column</a:t>
            </a:r>
            <a:endParaRPr lang="en-US" sz="1000" dirty="0"/>
          </a:p>
        </p:txBody>
      </p:sp>
      <p:sp>
        <p:nvSpPr>
          <p:cNvPr id="22" name="Shape 20"/>
          <p:cNvSpPr/>
          <p:nvPr/>
        </p:nvSpPr>
        <p:spPr>
          <a:xfrm>
            <a:off x="6729984" y="1097280"/>
            <a:ext cx="1993392" cy="1600200"/>
          </a:xfrm>
          <a:prstGeom prst="rect">
            <a:avLst/>
          </a:prstGeom>
          <a:solidFill>
            <a:srgbClr val="FFFFFF"/>
          </a:solidFill>
          <a:ln w="12700">
            <a:solidFill>
              <a:srgbClr val="E5E7EB"/>
            </a:solidFill>
            <a:prstDash val="solid"/>
          </a:ln>
        </p:spPr>
      </p:sp>
      <p:sp>
        <p:nvSpPr>
          <p:cNvPr id="23" name="Shape 21"/>
          <p:cNvSpPr/>
          <p:nvPr/>
        </p:nvSpPr>
        <p:spPr>
          <a:xfrm>
            <a:off x="6729984" y="1097280"/>
            <a:ext cx="1993392" cy="73152"/>
          </a:xfrm>
          <a:prstGeom prst="rect">
            <a:avLst/>
          </a:prstGeom>
          <a:solidFill>
            <a:srgbClr val="0B1F3A"/>
          </a:solidFill>
          <a:ln w="12700">
            <a:solidFill>
              <a:srgbClr val="0B1F3A"/>
            </a:solidFill>
            <a:prstDash val="solid"/>
          </a:ln>
        </p:spPr>
      </p:sp>
      <p:sp>
        <p:nvSpPr>
          <p:cNvPr id="24" name="Text 22"/>
          <p:cNvSpPr/>
          <p:nvPr/>
        </p:nvSpPr>
        <p:spPr>
          <a:xfrm>
            <a:off x="6729984" y="1207008"/>
            <a:ext cx="1993392" cy="640080"/>
          </a:xfrm>
          <a:prstGeom prst="rect">
            <a:avLst/>
          </a:prstGeom>
          <a:noFill/>
          <a:ln/>
        </p:spPr>
        <p:txBody>
          <a:bodyPr wrap="square" lIns="0" tIns="0" rIns="0" bIns="0" rtlCol="0" anchor="ctr"/>
          <a:lstStyle/>
          <a:p>
            <a:pPr marL="0" indent="0" algn="ctr">
              <a:buNone/>
            </a:pPr>
            <a:r>
              <a:rPr lang="en-US" sz="3600" b="1" dirty="0">
                <a:solidFill>
                  <a:srgbClr val="0B1F3A"/>
                </a:solidFill>
                <a:latin typeface="Georgia" pitchFamily="34" charset="0"/>
                <a:ea typeface="Georgia" pitchFamily="34" charset="-122"/>
                <a:cs typeface="Georgia" pitchFamily="34" charset="-120"/>
              </a:rPr>
              <a:t>4</a:t>
            </a:r>
            <a:endParaRPr lang="en-US" sz="3600" dirty="0"/>
          </a:p>
        </p:txBody>
      </p:sp>
      <p:sp>
        <p:nvSpPr>
          <p:cNvPr id="25" name="Text 23"/>
          <p:cNvSpPr/>
          <p:nvPr/>
        </p:nvSpPr>
        <p:spPr>
          <a:xfrm>
            <a:off x="6729984" y="1901952"/>
            <a:ext cx="1993392" cy="320040"/>
          </a:xfrm>
          <a:prstGeom prst="rect">
            <a:avLst/>
          </a:prstGeom>
          <a:noFill/>
          <a:ln/>
        </p:spPr>
        <p:txBody>
          <a:bodyPr wrap="square" lIns="0" tIns="0" rIns="0" bIns="0" rtlCol="0" anchor="ctr"/>
          <a:lstStyle/>
          <a:p>
            <a:pPr marL="0" indent="0" algn="ctr">
              <a:buNone/>
            </a:pPr>
            <a:r>
              <a:rPr lang="en-US" sz="1200" b="1" dirty="0">
                <a:solidFill>
                  <a:srgbClr val="1A2E4A"/>
                </a:solidFill>
                <a:latin typeface="Calibri" pitchFamily="34" charset="0"/>
                <a:ea typeface="Calibri" pitchFamily="34" charset="-122"/>
                <a:cs typeface="Calibri" pitchFamily="34" charset="-120"/>
              </a:rPr>
              <a:t>Classification Tiers</a:t>
            </a:r>
            <a:endParaRPr lang="en-US" sz="1200" dirty="0"/>
          </a:p>
        </p:txBody>
      </p:sp>
      <p:sp>
        <p:nvSpPr>
          <p:cNvPr id="26" name="Text 24"/>
          <p:cNvSpPr/>
          <p:nvPr/>
        </p:nvSpPr>
        <p:spPr>
          <a:xfrm>
            <a:off x="6729984" y="2212848"/>
            <a:ext cx="1993392"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Public → Restricted</a:t>
            </a:r>
            <a:endParaRPr lang="en-US" sz="1000" dirty="0"/>
          </a:p>
        </p:txBody>
      </p:sp>
      <p:sp>
        <p:nvSpPr>
          <p:cNvPr id="27" name="Shape 25"/>
          <p:cNvSpPr/>
          <p:nvPr/>
        </p:nvSpPr>
        <p:spPr>
          <a:xfrm>
            <a:off x="365760" y="2880360"/>
            <a:ext cx="1993392" cy="1600200"/>
          </a:xfrm>
          <a:prstGeom prst="rect">
            <a:avLst/>
          </a:prstGeom>
          <a:solidFill>
            <a:srgbClr val="FFFFFF"/>
          </a:solidFill>
          <a:ln w="12700">
            <a:solidFill>
              <a:srgbClr val="E5E7EB"/>
            </a:solidFill>
            <a:prstDash val="solid"/>
          </a:ln>
        </p:spPr>
      </p:sp>
      <p:sp>
        <p:nvSpPr>
          <p:cNvPr id="28" name="Shape 26"/>
          <p:cNvSpPr/>
          <p:nvPr/>
        </p:nvSpPr>
        <p:spPr>
          <a:xfrm>
            <a:off x="365760" y="2880360"/>
            <a:ext cx="1993392" cy="73152"/>
          </a:xfrm>
          <a:prstGeom prst="rect">
            <a:avLst/>
          </a:prstGeom>
          <a:solidFill>
            <a:srgbClr val="0D9488"/>
          </a:solidFill>
          <a:ln w="12700">
            <a:solidFill>
              <a:srgbClr val="0D9488"/>
            </a:solidFill>
            <a:prstDash val="solid"/>
          </a:ln>
        </p:spPr>
      </p:sp>
      <p:sp>
        <p:nvSpPr>
          <p:cNvPr id="29" name="Text 27"/>
          <p:cNvSpPr/>
          <p:nvPr/>
        </p:nvSpPr>
        <p:spPr>
          <a:xfrm>
            <a:off x="365760" y="2990088"/>
            <a:ext cx="1993392" cy="640080"/>
          </a:xfrm>
          <a:prstGeom prst="rect">
            <a:avLst/>
          </a:prstGeom>
          <a:noFill/>
          <a:ln/>
        </p:spPr>
        <p:txBody>
          <a:bodyPr wrap="square" lIns="0" tIns="0" rIns="0" bIns="0" rtlCol="0" anchor="ctr"/>
          <a:lstStyle/>
          <a:p>
            <a:pPr marL="0" indent="0" algn="ctr">
              <a:buNone/>
            </a:pPr>
            <a:r>
              <a:rPr lang="en-US" sz="3600" b="1" dirty="0">
                <a:solidFill>
                  <a:srgbClr val="0D9488"/>
                </a:solidFill>
                <a:latin typeface="Georgia" pitchFamily="34" charset="0"/>
                <a:ea typeface="Georgia" pitchFamily="34" charset="-122"/>
                <a:cs typeface="Georgia" pitchFamily="34" charset="-120"/>
              </a:rPr>
              <a:t>6</a:t>
            </a:r>
            <a:endParaRPr lang="en-US" sz="3600" dirty="0"/>
          </a:p>
        </p:txBody>
      </p:sp>
      <p:sp>
        <p:nvSpPr>
          <p:cNvPr id="30" name="Text 28"/>
          <p:cNvSpPr/>
          <p:nvPr/>
        </p:nvSpPr>
        <p:spPr>
          <a:xfrm>
            <a:off x="365760" y="3685032"/>
            <a:ext cx="1993392" cy="320040"/>
          </a:xfrm>
          <a:prstGeom prst="rect">
            <a:avLst/>
          </a:prstGeom>
          <a:noFill/>
          <a:ln/>
        </p:spPr>
        <p:txBody>
          <a:bodyPr wrap="square" lIns="0" tIns="0" rIns="0" bIns="0" rtlCol="0" anchor="ctr"/>
          <a:lstStyle/>
          <a:p>
            <a:pPr marL="0" indent="0" algn="ctr">
              <a:buNone/>
            </a:pPr>
            <a:r>
              <a:rPr lang="en-US" sz="1200" b="1" dirty="0">
                <a:solidFill>
                  <a:srgbClr val="1A2E4A"/>
                </a:solidFill>
                <a:latin typeface="Calibri" pitchFamily="34" charset="0"/>
                <a:ea typeface="Calibri" pitchFamily="34" charset="-122"/>
                <a:cs typeface="Calibri" pitchFamily="34" charset="-120"/>
              </a:rPr>
              <a:t>Masking Methods</a:t>
            </a:r>
            <a:endParaRPr lang="en-US" sz="1200" dirty="0"/>
          </a:p>
        </p:txBody>
      </p:sp>
      <p:sp>
        <p:nvSpPr>
          <p:cNvPr id="31" name="Text 29"/>
          <p:cNvSpPr/>
          <p:nvPr/>
        </p:nvSpPr>
        <p:spPr>
          <a:xfrm>
            <a:off x="365760" y="3995928"/>
            <a:ext cx="1993392"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Applied to all PII</a:t>
            </a:r>
            <a:endParaRPr lang="en-US" sz="1000" dirty="0"/>
          </a:p>
        </p:txBody>
      </p:sp>
      <p:sp>
        <p:nvSpPr>
          <p:cNvPr id="32" name="Shape 30"/>
          <p:cNvSpPr/>
          <p:nvPr/>
        </p:nvSpPr>
        <p:spPr>
          <a:xfrm>
            <a:off x="2487168" y="2880360"/>
            <a:ext cx="1993392" cy="1600200"/>
          </a:xfrm>
          <a:prstGeom prst="rect">
            <a:avLst/>
          </a:prstGeom>
          <a:solidFill>
            <a:srgbClr val="FFFFFF"/>
          </a:solidFill>
          <a:ln w="12700">
            <a:solidFill>
              <a:srgbClr val="E5E7EB"/>
            </a:solidFill>
            <a:prstDash val="solid"/>
          </a:ln>
        </p:spPr>
      </p:sp>
      <p:sp>
        <p:nvSpPr>
          <p:cNvPr id="33" name="Shape 31"/>
          <p:cNvSpPr/>
          <p:nvPr/>
        </p:nvSpPr>
        <p:spPr>
          <a:xfrm>
            <a:off x="2487168" y="2880360"/>
            <a:ext cx="1993392" cy="73152"/>
          </a:xfrm>
          <a:prstGeom prst="rect">
            <a:avLst/>
          </a:prstGeom>
          <a:solidFill>
            <a:srgbClr val="0EA5E9"/>
          </a:solidFill>
          <a:ln w="12700">
            <a:solidFill>
              <a:srgbClr val="0EA5E9"/>
            </a:solidFill>
            <a:prstDash val="solid"/>
          </a:ln>
        </p:spPr>
      </p:sp>
      <p:sp>
        <p:nvSpPr>
          <p:cNvPr id="34" name="Text 32"/>
          <p:cNvSpPr/>
          <p:nvPr/>
        </p:nvSpPr>
        <p:spPr>
          <a:xfrm>
            <a:off x="2487168" y="2990088"/>
            <a:ext cx="1993392" cy="640080"/>
          </a:xfrm>
          <a:prstGeom prst="rect">
            <a:avLst/>
          </a:prstGeom>
          <a:noFill/>
          <a:ln/>
        </p:spPr>
        <p:txBody>
          <a:bodyPr wrap="square" lIns="0" tIns="0" rIns="0" bIns="0" rtlCol="0" anchor="ctr"/>
          <a:lstStyle/>
          <a:p>
            <a:pPr marL="0" indent="0" algn="ctr">
              <a:buNone/>
            </a:pPr>
            <a:r>
              <a:rPr lang="en-US" sz="3600" b="1" dirty="0">
                <a:solidFill>
                  <a:srgbClr val="0EA5E9"/>
                </a:solidFill>
                <a:latin typeface="Georgia" pitchFamily="34" charset="0"/>
                <a:ea typeface="Georgia" pitchFamily="34" charset="-122"/>
                <a:cs typeface="Georgia" pitchFamily="34" charset="-120"/>
              </a:rPr>
              <a:t>28,893</a:t>
            </a:r>
            <a:endParaRPr lang="en-US" sz="3600" dirty="0"/>
          </a:p>
        </p:txBody>
      </p:sp>
      <p:sp>
        <p:nvSpPr>
          <p:cNvPr id="35" name="Text 33"/>
          <p:cNvSpPr/>
          <p:nvPr/>
        </p:nvSpPr>
        <p:spPr>
          <a:xfrm>
            <a:off x="2487168" y="3685032"/>
            <a:ext cx="1993392" cy="320040"/>
          </a:xfrm>
          <a:prstGeom prst="rect">
            <a:avLst/>
          </a:prstGeom>
          <a:noFill/>
          <a:ln/>
        </p:spPr>
        <p:txBody>
          <a:bodyPr wrap="square" lIns="0" tIns="0" rIns="0" bIns="0" rtlCol="0" anchor="ctr"/>
          <a:lstStyle/>
          <a:p>
            <a:pPr marL="0" indent="0" algn="ctr">
              <a:buNone/>
            </a:pPr>
            <a:r>
              <a:rPr lang="en-US" sz="1200" b="1" dirty="0">
                <a:solidFill>
                  <a:srgbClr val="1A2E4A"/>
                </a:solidFill>
                <a:latin typeface="Calibri" pitchFamily="34" charset="0"/>
                <a:ea typeface="Calibri" pitchFamily="34" charset="-122"/>
                <a:cs typeface="Calibri" pitchFamily="34" charset="-120"/>
              </a:rPr>
              <a:t>Mapping Entries</a:t>
            </a:r>
            <a:endParaRPr lang="en-US" sz="1200" dirty="0"/>
          </a:p>
        </p:txBody>
      </p:sp>
      <p:sp>
        <p:nvSpPr>
          <p:cNvPr id="36" name="Text 34"/>
          <p:cNvSpPr/>
          <p:nvPr/>
        </p:nvSpPr>
        <p:spPr>
          <a:xfrm>
            <a:off x="2487168" y="3995928"/>
            <a:ext cx="1993392"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Reversible for lineage</a:t>
            </a:r>
            <a:endParaRPr lang="en-US" sz="1000" dirty="0"/>
          </a:p>
        </p:txBody>
      </p:sp>
      <p:sp>
        <p:nvSpPr>
          <p:cNvPr id="37" name="Shape 35"/>
          <p:cNvSpPr/>
          <p:nvPr/>
        </p:nvSpPr>
        <p:spPr>
          <a:xfrm>
            <a:off x="4608576" y="2880360"/>
            <a:ext cx="1993392" cy="1600200"/>
          </a:xfrm>
          <a:prstGeom prst="rect">
            <a:avLst/>
          </a:prstGeom>
          <a:solidFill>
            <a:srgbClr val="FFFFFF"/>
          </a:solidFill>
          <a:ln w="12700">
            <a:solidFill>
              <a:srgbClr val="E5E7EB"/>
            </a:solidFill>
            <a:prstDash val="solid"/>
          </a:ln>
        </p:spPr>
      </p:sp>
      <p:sp>
        <p:nvSpPr>
          <p:cNvPr id="38" name="Shape 36"/>
          <p:cNvSpPr/>
          <p:nvPr/>
        </p:nvSpPr>
        <p:spPr>
          <a:xfrm>
            <a:off x="4608576" y="2880360"/>
            <a:ext cx="1993392" cy="73152"/>
          </a:xfrm>
          <a:prstGeom prst="rect">
            <a:avLst/>
          </a:prstGeom>
          <a:solidFill>
            <a:srgbClr val="F59E0B"/>
          </a:solidFill>
          <a:ln w="12700">
            <a:solidFill>
              <a:srgbClr val="F59E0B"/>
            </a:solidFill>
            <a:prstDash val="solid"/>
          </a:ln>
        </p:spPr>
      </p:sp>
      <p:sp>
        <p:nvSpPr>
          <p:cNvPr id="39" name="Text 37"/>
          <p:cNvSpPr/>
          <p:nvPr/>
        </p:nvSpPr>
        <p:spPr>
          <a:xfrm>
            <a:off x="4608576" y="2990088"/>
            <a:ext cx="1993392" cy="640080"/>
          </a:xfrm>
          <a:prstGeom prst="rect">
            <a:avLst/>
          </a:prstGeom>
          <a:noFill/>
          <a:ln/>
        </p:spPr>
        <p:txBody>
          <a:bodyPr wrap="square" lIns="0" tIns="0" rIns="0" bIns="0" rtlCol="0" anchor="ctr"/>
          <a:lstStyle/>
          <a:p>
            <a:pPr marL="0" indent="0" algn="ctr">
              <a:buNone/>
            </a:pPr>
            <a:r>
              <a:rPr lang="en-US" sz="3600" b="1" dirty="0">
                <a:solidFill>
                  <a:srgbClr val="F59E0B"/>
                </a:solidFill>
                <a:latin typeface="Georgia" pitchFamily="34" charset="0"/>
                <a:ea typeface="Georgia" pitchFamily="34" charset="-122"/>
                <a:cs typeface="Georgia" pitchFamily="34" charset="-120"/>
              </a:rPr>
              <a:t>8</a:t>
            </a:r>
            <a:endParaRPr lang="en-US" sz="3600" dirty="0"/>
          </a:p>
        </p:txBody>
      </p:sp>
      <p:sp>
        <p:nvSpPr>
          <p:cNvPr id="40" name="Text 38"/>
          <p:cNvSpPr/>
          <p:nvPr/>
        </p:nvSpPr>
        <p:spPr>
          <a:xfrm>
            <a:off x="4608576" y="3685032"/>
            <a:ext cx="1993392" cy="320040"/>
          </a:xfrm>
          <a:prstGeom prst="rect">
            <a:avLst/>
          </a:prstGeom>
          <a:noFill/>
          <a:ln/>
        </p:spPr>
        <p:txBody>
          <a:bodyPr wrap="square" lIns="0" tIns="0" rIns="0" bIns="0" rtlCol="0" anchor="ctr"/>
          <a:lstStyle/>
          <a:p>
            <a:pPr marL="0" indent="0" algn="ctr">
              <a:buNone/>
            </a:pPr>
            <a:r>
              <a:rPr lang="en-US" sz="1200" b="1" dirty="0">
                <a:solidFill>
                  <a:srgbClr val="1A2E4A"/>
                </a:solidFill>
                <a:latin typeface="Calibri" pitchFamily="34" charset="0"/>
                <a:ea typeface="Calibri" pitchFamily="34" charset="-122"/>
                <a:cs typeface="Calibri" pitchFamily="34" charset="-120"/>
              </a:rPr>
              <a:t>RBAC Roles</a:t>
            </a:r>
            <a:endParaRPr lang="en-US" sz="1200" dirty="0"/>
          </a:p>
        </p:txBody>
      </p:sp>
      <p:sp>
        <p:nvSpPr>
          <p:cNvPr id="41" name="Text 39"/>
          <p:cNvSpPr/>
          <p:nvPr/>
        </p:nvSpPr>
        <p:spPr>
          <a:xfrm>
            <a:off x="4608576" y="3995928"/>
            <a:ext cx="1993392"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+ 8 users mapped</a:t>
            </a:r>
            <a:endParaRPr lang="en-US" sz="1000" dirty="0"/>
          </a:p>
        </p:txBody>
      </p:sp>
      <p:sp>
        <p:nvSpPr>
          <p:cNvPr id="42" name="Shape 40"/>
          <p:cNvSpPr/>
          <p:nvPr/>
        </p:nvSpPr>
        <p:spPr>
          <a:xfrm>
            <a:off x="6729984" y="2880360"/>
            <a:ext cx="1993392" cy="1600200"/>
          </a:xfrm>
          <a:prstGeom prst="rect">
            <a:avLst/>
          </a:prstGeom>
          <a:solidFill>
            <a:srgbClr val="FFFFFF"/>
          </a:solidFill>
          <a:ln w="12700">
            <a:solidFill>
              <a:srgbClr val="E5E7EB"/>
            </a:solidFill>
            <a:prstDash val="solid"/>
          </a:ln>
        </p:spPr>
      </p:sp>
      <p:sp>
        <p:nvSpPr>
          <p:cNvPr id="43" name="Shape 41"/>
          <p:cNvSpPr/>
          <p:nvPr/>
        </p:nvSpPr>
        <p:spPr>
          <a:xfrm>
            <a:off x="6729984" y="2880360"/>
            <a:ext cx="1993392" cy="73152"/>
          </a:xfrm>
          <a:prstGeom prst="rect">
            <a:avLst/>
          </a:prstGeom>
          <a:solidFill>
            <a:srgbClr val="16A34A"/>
          </a:solidFill>
          <a:ln w="12700">
            <a:solidFill>
              <a:srgbClr val="16A34A"/>
            </a:solidFill>
            <a:prstDash val="solid"/>
          </a:ln>
        </p:spPr>
      </p:sp>
      <p:sp>
        <p:nvSpPr>
          <p:cNvPr id="44" name="Text 42"/>
          <p:cNvSpPr/>
          <p:nvPr/>
        </p:nvSpPr>
        <p:spPr>
          <a:xfrm>
            <a:off x="6729984" y="2990088"/>
            <a:ext cx="1993392" cy="640080"/>
          </a:xfrm>
          <a:prstGeom prst="rect">
            <a:avLst/>
          </a:prstGeom>
          <a:noFill/>
          <a:ln/>
        </p:spPr>
        <p:txBody>
          <a:bodyPr wrap="square" lIns="0" tIns="0" rIns="0" bIns="0" rtlCol="0" anchor="ctr"/>
          <a:lstStyle/>
          <a:p>
            <a:pPr marL="0" indent="0" algn="ctr">
              <a:buNone/>
            </a:pPr>
            <a:r>
              <a:rPr lang="en-US" sz="3600" b="1" dirty="0">
                <a:solidFill>
                  <a:srgbClr val="16A34A"/>
                </a:solidFill>
                <a:latin typeface="Georgia" pitchFamily="34" charset="0"/>
                <a:ea typeface="Georgia" pitchFamily="34" charset="-122"/>
                <a:cs typeface="Georgia" pitchFamily="34" charset="-120"/>
              </a:rPr>
              <a:t>4</a:t>
            </a:r>
            <a:endParaRPr lang="en-US" sz="3600" dirty="0"/>
          </a:p>
        </p:txBody>
      </p:sp>
      <p:sp>
        <p:nvSpPr>
          <p:cNvPr id="45" name="Text 43"/>
          <p:cNvSpPr/>
          <p:nvPr/>
        </p:nvSpPr>
        <p:spPr>
          <a:xfrm>
            <a:off x="6729984" y="3685032"/>
            <a:ext cx="1993392" cy="320040"/>
          </a:xfrm>
          <a:prstGeom prst="rect">
            <a:avLst/>
          </a:prstGeom>
          <a:noFill/>
          <a:ln/>
        </p:spPr>
        <p:txBody>
          <a:bodyPr wrap="square" lIns="0" tIns="0" rIns="0" bIns="0" rtlCol="0" anchor="ctr"/>
          <a:lstStyle/>
          <a:p>
            <a:pPr marL="0" indent="0" algn="ctr">
              <a:buNone/>
            </a:pPr>
            <a:r>
              <a:rPr lang="en-US" sz="1200" b="1" dirty="0">
                <a:solidFill>
                  <a:srgbClr val="1A2E4A"/>
                </a:solidFill>
                <a:latin typeface="Calibri" pitchFamily="34" charset="0"/>
                <a:ea typeface="Calibri" pitchFamily="34" charset="-122"/>
                <a:cs typeface="Calibri" pitchFamily="34" charset="-120"/>
              </a:rPr>
              <a:t>Schemas Created</a:t>
            </a:r>
            <a:endParaRPr lang="en-US" sz="1200" dirty="0"/>
          </a:p>
        </p:txBody>
      </p:sp>
      <p:sp>
        <p:nvSpPr>
          <p:cNvPr id="46" name="Text 44"/>
          <p:cNvSpPr/>
          <p:nvPr/>
        </p:nvSpPr>
        <p:spPr>
          <a:xfrm>
            <a:off x="6729984" y="3995928"/>
            <a:ext cx="1993392"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One per data tier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400" b="1" dirty="0">
                <a:solidFill>
                  <a:srgbClr val="1A2E4A"/>
                </a:solidFill>
                <a:latin typeface="Georgia" pitchFamily="34" charset="0"/>
                <a:ea typeface="Georgia" pitchFamily="34" charset="-122"/>
                <a:cs typeface="Georgia" pitchFamily="34" charset="-120"/>
              </a:rPr>
              <a:t>Data Quality — 10 Issue Types Flagged</a:t>
            </a:r>
            <a:endParaRPr lang="en-US" sz="2400" dirty="0"/>
          </a:p>
        </p:txBody>
      </p:sp>
      <p:sp>
        <p:nvSpPr>
          <p:cNvPr id="3" name="Shape 1"/>
          <p:cNvSpPr/>
          <p:nvPr/>
        </p:nvSpPr>
        <p:spPr>
          <a:xfrm>
            <a:off x="457200" y="804672"/>
            <a:ext cx="640080" cy="36576"/>
          </a:xfrm>
          <a:prstGeom prst="rect">
            <a:avLst/>
          </a:prstGeom>
          <a:solidFill>
            <a:srgbClr val="14B8A6"/>
          </a:solidFill>
          <a:ln w="12700">
            <a:solidFill>
              <a:srgbClr val="14B8A6"/>
            </a:solidFill>
            <a:prstDash val="solid"/>
          </a:ln>
        </p:spPr>
      </p:sp>
      <p:sp>
        <p:nvSpPr>
          <p:cNvPr id="4" name="Shape 2"/>
          <p:cNvSpPr/>
          <p:nvPr/>
        </p:nvSpPr>
        <p:spPr>
          <a:xfrm>
            <a:off x="0" y="4800600"/>
            <a:ext cx="9144000" cy="342900"/>
          </a:xfrm>
          <a:prstGeom prst="rect">
            <a:avLst/>
          </a:prstGeom>
          <a:solidFill>
            <a:srgbClr val="0B1F3A"/>
          </a:solidFill>
          <a:ln w="12700">
            <a:solidFill>
              <a:srgbClr val="0B1F3A"/>
            </a:solidFill>
            <a:prstDash val="solid"/>
          </a:ln>
        </p:spPr>
      </p:sp>
      <p:sp>
        <p:nvSpPr>
          <p:cNvPr id="5" name="Text 3"/>
          <p:cNvSpPr/>
          <p:nvPr/>
        </p:nvSpPr>
        <p:spPr>
          <a:xfrm>
            <a:off x="365760" y="4818888"/>
            <a:ext cx="548640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Week 6 — DQ identification per Northwestern DQ framework</a:t>
            </a:r>
            <a:endParaRPr lang="en-US" sz="900" dirty="0"/>
          </a:p>
        </p:txBody>
      </p:sp>
      <p:sp>
        <p:nvSpPr>
          <p:cNvPr id="6" name="Text 4"/>
          <p:cNvSpPr/>
          <p:nvPr/>
        </p:nvSpPr>
        <p:spPr>
          <a:xfrm>
            <a:off x="5486400" y="4818888"/>
            <a:ext cx="3291840" cy="30175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FinGuard  •  Weeks 6 + 7</a:t>
            </a:r>
            <a:endParaRPr lang="en-US" sz="900" dirty="0"/>
          </a:p>
        </p:txBody>
      </p:sp>
      <p:sp>
        <p:nvSpPr>
          <p:cNvPr id="7" name="Shape 5"/>
          <p:cNvSpPr/>
          <p:nvPr/>
        </p:nvSpPr>
        <p:spPr>
          <a:xfrm>
            <a:off x="365760" y="1051560"/>
            <a:ext cx="4206240" cy="960120"/>
          </a:xfrm>
          <a:prstGeom prst="rect">
            <a:avLst/>
          </a:prstGeom>
          <a:solidFill>
            <a:srgbClr val="FFFFFF"/>
          </a:solidFill>
          <a:ln w="12700">
            <a:solidFill>
              <a:srgbClr val="E5E7EB"/>
            </a:solidFill>
            <a:prstDash val="solid"/>
          </a:ln>
        </p:spPr>
      </p:sp>
      <p:sp>
        <p:nvSpPr>
          <p:cNvPr id="8" name="Shape 6"/>
          <p:cNvSpPr/>
          <p:nvPr/>
        </p:nvSpPr>
        <p:spPr>
          <a:xfrm>
            <a:off x="365760" y="1051560"/>
            <a:ext cx="73152" cy="960120"/>
          </a:xfrm>
          <a:prstGeom prst="rect">
            <a:avLst/>
          </a:prstGeom>
          <a:solidFill>
            <a:srgbClr val="F59E0B"/>
          </a:solidFill>
          <a:ln w="12700">
            <a:solidFill>
              <a:srgbClr val="F59E0B"/>
            </a:solidFill>
            <a:prstDash val="solid"/>
          </a:ln>
        </p:spPr>
      </p:sp>
      <p:sp>
        <p:nvSpPr>
          <p:cNvPr id="9" name="Text 7"/>
          <p:cNvSpPr/>
          <p:nvPr/>
        </p:nvSpPr>
        <p:spPr>
          <a:xfrm>
            <a:off x="548640" y="1097280"/>
            <a:ext cx="3931920" cy="292608"/>
          </a:xfrm>
          <a:prstGeom prst="rect">
            <a:avLst/>
          </a:prstGeom>
          <a:noFill/>
          <a:ln/>
        </p:spPr>
        <p:txBody>
          <a:bodyPr wrap="square" lIns="0" tIns="0" rIns="0" bIns="0"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Missing Values</a:t>
            </a:r>
            <a:endParaRPr lang="en-US" sz="1300" dirty="0"/>
          </a:p>
        </p:txBody>
      </p:sp>
      <p:sp>
        <p:nvSpPr>
          <p:cNvPr id="10" name="Text 8"/>
          <p:cNvSpPr/>
          <p:nvPr/>
        </p:nvSpPr>
        <p:spPr>
          <a:xfrm>
            <a:off x="548640" y="1399032"/>
            <a:ext cx="3931920" cy="256032"/>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Null or empty in required columns</a:t>
            </a:r>
            <a:endParaRPr lang="en-US" sz="1000" dirty="0"/>
          </a:p>
        </p:txBody>
      </p:sp>
      <p:sp>
        <p:nvSpPr>
          <p:cNvPr id="11" name="Text 9"/>
          <p:cNvSpPr/>
          <p:nvPr/>
        </p:nvSpPr>
        <p:spPr>
          <a:xfrm>
            <a:off x="548640" y="1645920"/>
            <a:ext cx="3931920" cy="292608"/>
          </a:xfrm>
          <a:prstGeom prst="rect">
            <a:avLst/>
          </a:prstGeom>
          <a:noFill/>
          <a:ln/>
        </p:spPr>
        <p:txBody>
          <a:bodyPr wrap="square" lIns="0" tIns="0" rIns="0" bIns="0" rtlCol="0" anchor="ctr"/>
          <a:lstStyle/>
          <a:p>
            <a:pPr marL="0" indent="0">
              <a:buNone/>
            </a:pPr>
            <a:r>
              <a:rPr lang="en-US" sz="900" i="1" dirty="0">
                <a:solidFill>
                  <a:srgbClr val="0D9488"/>
                </a:solidFill>
                <a:latin typeface="Consolas" pitchFamily="34" charset="0"/>
                <a:ea typeface="Consolas" pitchFamily="34" charset="-122"/>
                <a:cs typeface="Consolas" pitchFamily="34" charset="-120"/>
              </a:rPr>
              <a:t>beneficiary_name 20%, dob 7%, balance 5%</a:t>
            </a:r>
            <a:endParaRPr lang="en-US" sz="900" dirty="0"/>
          </a:p>
        </p:txBody>
      </p:sp>
      <p:sp>
        <p:nvSpPr>
          <p:cNvPr id="12" name="Shape 10"/>
          <p:cNvSpPr/>
          <p:nvPr/>
        </p:nvSpPr>
        <p:spPr>
          <a:xfrm>
            <a:off x="4663440" y="1051560"/>
            <a:ext cx="4206240" cy="960120"/>
          </a:xfrm>
          <a:prstGeom prst="rect">
            <a:avLst/>
          </a:prstGeom>
          <a:solidFill>
            <a:srgbClr val="FFFFFF"/>
          </a:solidFill>
          <a:ln w="12700">
            <a:solidFill>
              <a:srgbClr val="E5E7EB"/>
            </a:solidFill>
            <a:prstDash val="solid"/>
          </a:ln>
        </p:spPr>
      </p:sp>
      <p:sp>
        <p:nvSpPr>
          <p:cNvPr id="13" name="Shape 11"/>
          <p:cNvSpPr/>
          <p:nvPr/>
        </p:nvSpPr>
        <p:spPr>
          <a:xfrm>
            <a:off x="4663440" y="1051560"/>
            <a:ext cx="73152" cy="960120"/>
          </a:xfrm>
          <a:prstGeom prst="rect">
            <a:avLst/>
          </a:prstGeom>
          <a:solidFill>
            <a:srgbClr val="F59E0B"/>
          </a:solidFill>
          <a:ln w="12700">
            <a:solidFill>
              <a:srgbClr val="F59E0B"/>
            </a:solidFill>
            <a:prstDash val="solid"/>
          </a:ln>
        </p:spPr>
      </p:sp>
      <p:sp>
        <p:nvSpPr>
          <p:cNvPr id="14" name="Text 12"/>
          <p:cNvSpPr/>
          <p:nvPr/>
        </p:nvSpPr>
        <p:spPr>
          <a:xfrm>
            <a:off x="4846320" y="1097280"/>
            <a:ext cx="3931920" cy="292608"/>
          </a:xfrm>
          <a:prstGeom prst="rect">
            <a:avLst/>
          </a:prstGeom>
          <a:noFill/>
          <a:ln/>
        </p:spPr>
        <p:txBody>
          <a:bodyPr wrap="square" lIns="0" tIns="0" rIns="0" bIns="0"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Invalid Data</a:t>
            </a:r>
            <a:endParaRPr lang="en-US" sz="1300" dirty="0"/>
          </a:p>
        </p:txBody>
      </p:sp>
      <p:sp>
        <p:nvSpPr>
          <p:cNvPr id="15" name="Text 13"/>
          <p:cNvSpPr/>
          <p:nvPr/>
        </p:nvSpPr>
        <p:spPr>
          <a:xfrm>
            <a:off x="4846320" y="1399032"/>
            <a:ext cx="3931920" cy="256032"/>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Values outside valid domain or type</a:t>
            </a:r>
            <a:endParaRPr lang="en-US" sz="1000" dirty="0"/>
          </a:p>
        </p:txBody>
      </p:sp>
      <p:sp>
        <p:nvSpPr>
          <p:cNvPr id="16" name="Text 14"/>
          <p:cNvSpPr/>
          <p:nvPr/>
        </p:nvSpPr>
        <p:spPr>
          <a:xfrm>
            <a:off x="4846320" y="1645920"/>
            <a:ext cx="3931920" cy="292608"/>
          </a:xfrm>
          <a:prstGeom prst="rect">
            <a:avLst/>
          </a:prstGeom>
          <a:noFill/>
          <a:ln/>
        </p:spPr>
        <p:txBody>
          <a:bodyPr wrap="square" lIns="0" tIns="0" rIns="0" bIns="0" rtlCol="0" anchor="ctr"/>
          <a:lstStyle/>
          <a:p>
            <a:pPr marL="0" indent="0">
              <a:buNone/>
            </a:pPr>
            <a:r>
              <a:rPr lang="en-US" sz="900" i="1" dirty="0">
                <a:solidFill>
                  <a:srgbClr val="0D9488"/>
                </a:solidFill>
                <a:latin typeface="Consolas" pitchFamily="34" charset="0"/>
                <a:ea typeface="Consolas" pitchFamily="34" charset="-122"/>
                <a:cs typeface="Consolas" pitchFamily="34" charset="-120"/>
              </a:rPr>
              <a:t>Negative amounts in AML, negative balances</a:t>
            </a:r>
            <a:endParaRPr lang="en-US" sz="900" dirty="0"/>
          </a:p>
        </p:txBody>
      </p:sp>
      <p:sp>
        <p:nvSpPr>
          <p:cNvPr id="17" name="Shape 15"/>
          <p:cNvSpPr/>
          <p:nvPr/>
        </p:nvSpPr>
        <p:spPr>
          <a:xfrm>
            <a:off x="365760" y="2130552"/>
            <a:ext cx="4206240" cy="960120"/>
          </a:xfrm>
          <a:prstGeom prst="rect">
            <a:avLst/>
          </a:prstGeom>
          <a:solidFill>
            <a:srgbClr val="FFFFFF"/>
          </a:solidFill>
          <a:ln w="12700">
            <a:solidFill>
              <a:srgbClr val="E5E7EB"/>
            </a:solidFill>
            <a:prstDash val="solid"/>
          </a:ln>
        </p:spPr>
      </p:sp>
      <p:sp>
        <p:nvSpPr>
          <p:cNvPr id="18" name="Shape 16"/>
          <p:cNvSpPr/>
          <p:nvPr/>
        </p:nvSpPr>
        <p:spPr>
          <a:xfrm>
            <a:off x="365760" y="2130552"/>
            <a:ext cx="73152" cy="960120"/>
          </a:xfrm>
          <a:prstGeom prst="rect">
            <a:avLst/>
          </a:prstGeom>
          <a:solidFill>
            <a:srgbClr val="F59E0B"/>
          </a:solidFill>
          <a:ln w="12700">
            <a:solidFill>
              <a:srgbClr val="F59E0B"/>
            </a:solidFill>
            <a:prstDash val="solid"/>
          </a:ln>
        </p:spPr>
      </p:sp>
      <p:sp>
        <p:nvSpPr>
          <p:cNvPr id="19" name="Text 17"/>
          <p:cNvSpPr/>
          <p:nvPr/>
        </p:nvSpPr>
        <p:spPr>
          <a:xfrm>
            <a:off x="548640" y="2176272"/>
            <a:ext cx="3931920" cy="292608"/>
          </a:xfrm>
          <a:prstGeom prst="rect">
            <a:avLst/>
          </a:prstGeom>
          <a:noFill/>
          <a:ln/>
        </p:spPr>
        <p:txBody>
          <a:bodyPr wrap="square" lIns="0" tIns="0" rIns="0" bIns="0"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Inconsistent Format</a:t>
            </a:r>
            <a:endParaRPr lang="en-US" sz="1300" dirty="0"/>
          </a:p>
        </p:txBody>
      </p:sp>
      <p:sp>
        <p:nvSpPr>
          <p:cNvPr id="20" name="Text 18"/>
          <p:cNvSpPr/>
          <p:nvPr/>
        </p:nvSpPr>
        <p:spPr>
          <a:xfrm>
            <a:off x="548640" y="2478024"/>
            <a:ext cx="3931920" cy="256032"/>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Same field, different formats</a:t>
            </a:r>
            <a:endParaRPr lang="en-US" sz="1000" dirty="0"/>
          </a:p>
        </p:txBody>
      </p:sp>
      <p:sp>
        <p:nvSpPr>
          <p:cNvPr id="21" name="Text 19"/>
          <p:cNvSpPr/>
          <p:nvPr/>
        </p:nvSpPr>
        <p:spPr>
          <a:xfrm>
            <a:off x="548640" y="2724912"/>
            <a:ext cx="3931920" cy="292608"/>
          </a:xfrm>
          <a:prstGeom prst="rect">
            <a:avLst/>
          </a:prstGeom>
          <a:noFill/>
          <a:ln/>
        </p:spPr>
        <p:txBody>
          <a:bodyPr wrap="square" lIns="0" tIns="0" rIns="0" bIns="0" rtlCol="0" anchor="ctr"/>
          <a:lstStyle/>
          <a:p>
            <a:pPr marL="0" indent="0">
              <a:buNone/>
            </a:pPr>
            <a:r>
              <a:rPr lang="en-US" sz="900" i="1" dirty="0">
                <a:solidFill>
                  <a:srgbClr val="0D9488"/>
                </a:solidFill>
                <a:latin typeface="Consolas" pitchFamily="34" charset="0"/>
                <a:ea typeface="Consolas" pitchFamily="34" charset="-122"/>
                <a:cs typeface="Consolas" pitchFamily="34" charset="-120"/>
              </a:rPr>
              <a:t>transaction_date: ISO vs MM/DD/YYYY (5%)</a:t>
            </a:r>
            <a:endParaRPr lang="en-US" sz="900" dirty="0"/>
          </a:p>
        </p:txBody>
      </p:sp>
      <p:sp>
        <p:nvSpPr>
          <p:cNvPr id="22" name="Shape 20"/>
          <p:cNvSpPr/>
          <p:nvPr/>
        </p:nvSpPr>
        <p:spPr>
          <a:xfrm>
            <a:off x="4663440" y="2130552"/>
            <a:ext cx="4206240" cy="960120"/>
          </a:xfrm>
          <a:prstGeom prst="rect">
            <a:avLst/>
          </a:prstGeom>
          <a:solidFill>
            <a:srgbClr val="FFFFFF"/>
          </a:solidFill>
          <a:ln w="12700">
            <a:solidFill>
              <a:srgbClr val="E5E7EB"/>
            </a:solidFill>
            <a:prstDash val="solid"/>
          </a:ln>
        </p:spPr>
      </p:sp>
      <p:sp>
        <p:nvSpPr>
          <p:cNvPr id="23" name="Shape 21"/>
          <p:cNvSpPr/>
          <p:nvPr/>
        </p:nvSpPr>
        <p:spPr>
          <a:xfrm>
            <a:off x="4663440" y="2130552"/>
            <a:ext cx="73152" cy="960120"/>
          </a:xfrm>
          <a:prstGeom prst="rect">
            <a:avLst/>
          </a:prstGeom>
          <a:solidFill>
            <a:srgbClr val="F59E0B"/>
          </a:solidFill>
          <a:ln w="12700">
            <a:solidFill>
              <a:srgbClr val="F59E0B"/>
            </a:solidFill>
            <a:prstDash val="solid"/>
          </a:ln>
        </p:spPr>
      </p:sp>
      <p:sp>
        <p:nvSpPr>
          <p:cNvPr id="24" name="Text 22"/>
          <p:cNvSpPr/>
          <p:nvPr/>
        </p:nvSpPr>
        <p:spPr>
          <a:xfrm>
            <a:off x="4846320" y="2176272"/>
            <a:ext cx="3931920" cy="292608"/>
          </a:xfrm>
          <a:prstGeom prst="rect">
            <a:avLst/>
          </a:prstGeom>
          <a:noFill/>
          <a:ln/>
        </p:spPr>
        <p:txBody>
          <a:bodyPr wrap="square" lIns="0" tIns="0" rIns="0" bIns="0"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Duplicates</a:t>
            </a:r>
            <a:endParaRPr lang="en-US" sz="1300" dirty="0"/>
          </a:p>
        </p:txBody>
      </p:sp>
      <p:sp>
        <p:nvSpPr>
          <p:cNvPr id="25" name="Text 23"/>
          <p:cNvSpPr/>
          <p:nvPr/>
        </p:nvSpPr>
        <p:spPr>
          <a:xfrm>
            <a:off x="4846320" y="2478024"/>
            <a:ext cx="3931920" cy="256032"/>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Same key, conflicting data</a:t>
            </a:r>
            <a:endParaRPr lang="en-US" sz="1000" dirty="0"/>
          </a:p>
        </p:txBody>
      </p:sp>
      <p:sp>
        <p:nvSpPr>
          <p:cNvPr id="26" name="Text 24"/>
          <p:cNvSpPr/>
          <p:nvPr/>
        </p:nvSpPr>
        <p:spPr>
          <a:xfrm>
            <a:off x="4846320" y="2724912"/>
            <a:ext cx="3931920" cy="292608"/>
          </a:xfrm>
          <a:prstGeom prst="rect">
            <a:avLst/>
          </a:prstGeom>
          <a:noFill/>
          <a:ln/>
        </p:spPr>
        <p:txBody>
          <a:bodyPr wrap="square" lIns="0" tIns="0" rIns="0" bIns="0" rtlCol="0" anchor="ctr"/>
          <a:lstStyle/>
          <a:p>
            <a:pPr marL="0" indent="0">
              <a:buNone/>
            </a:pPr>
            <a:r>
              <a:rPr lang="en-US" sz="900" i="1" dirty="0">
                <a:solidFill>
                  <a:srgbClr val="0D9488"/>
                </a:solidFill>
                <a:latin typeface="Consolas" pitchFamily="34" charset="0"/>
                <a:ea typeface="Consolas" pitchFamily="34" charset="-122"/>
                <a:cs typeface="Consolas" pitchFamily="34" charset="-120"/>
              </a:rPr>
              <a:t>customer_id reused across names (4%)</a:t>
            </a:r>
            <a:endParaRPr lang="en-US" sz="900" dirty="0"/>
          </a:p>
        </p:txBody>
      </p:sp>
      <p:sp>
        <p:nvSpPr>
          <p:cNvPr id="27" name="Shape 25"/>
          <p:cNvSpPr/>
          <p:nvPr/>
        </p:nvSpPr>
        <p:spPr>
          <a:xfrm>
            <a:off x="365760" y="3209544"/>
            <a:ext cx="4206240" cy="960120"/>
          </a:xfrm>
          <a:prstGeom prst="rect">
            <a:avLst/>
          </a:prstGeom>
          <a:solidFill>
            <a:srgbClr val="FFFFFF"/>
          </a:solidFill>
          <a:ln w="12700">
            <a:solidFill>
              <a:srgbClr val="E5E7EB"/>
            </a:solidFill>
            <a:prstDash val="solid"/>
          </a:ln>
        </p:spPr>
      </p:sp>
      <p:sp>
        <p:nvSpPr>
          <p:cNvPr id="28" name="Shape 26"/>
          <p:cNvSpPr/>
          <p:nvPr/>
        </p:nvSpPr>
        <p:spPr>
          <a:xfrm>
            <a:off x="365760" y="3209544"/>
            <a:ext cx="73152" cy="960120"/>
          </a:xfrm>
          <a:prstGeom prst="rect">
            <a:avLst/>
          </a:prstGeom>
          <a:solidFill>
            <a:srgbClr val="F59E0B"/>
          </a:solidFill>
          <a:ln w="12700">
            <a:solidFill>
              <a:srgbClr val="F59E0B"/>
            </a:solidFill>
            <a:prstDash val="solid"/>
          </a:ln>
        </p:spPr>
      </p:sp>
      <p:sp>
        <p:nvSpPr>
          <p:cNvPr id="29" name="Text 27"/>
          <p:cNvSpPr/>
          <p:nvPr/>
        </p:nvSpPr>
        <p:spPr>
          <a:xfrm>
            <a:off x="548640" y="3255264"/>
            <a:ext cx="3931920" cy="292608"/>
          </a:xfrm>
          <a:prstGeom prst="rect">
            <a:avLst/>
          </a:prstGeom>
          <a:noFill/>
          <a:ln/>
        </p:spPr>
        <p:txBody>
          <a:bodyPr wrap="square" lIns="0" tIns="0" rIns="0" bIns="0"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Out of Range</a:t>
            </a:r>
            <a:endParaRPr lang="en-US" sz="1300" dirty="0"/>
          </a:p>
        </p:txBody>
      </p:sp>
      <p:sp>
        <p:nvSpPr>
          <p:cNvPr id="30" name="Text 28"/>
          <p:cNvSpPr/>
          <p:nvPr/>
        </p:nvSpPr>
        <p:spPr>
          <a:xfrm>
            <a:off x="548640" y="3557016"/>
            <a:ext cx="3931920" cy="256032"/>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Values exceeding valid boundaries</a:t>
            </a:r>
            <a:endParaRPr lang="en-US" sz="1000" dirty="0"/>
          </a:p>
        </p:txBody>
      </p:sp>
      <p:sp>
        <p:nvSpPr>
          <p:cNvPr id="31" name="Text 29"/>
          <p:cNvSpPr/>
          <p:nvPr/>
        </p:nvSpPr>
        <p:spPr>
          <a:xfrm>
            <a:off x="548640" y="3803904"/>
            <a:ext cx="3931920" cy="292608"/>
          </a:xfrm>
          <a:prstGeom prst="rect">
            <a:avLst/>
          </a:prstGeom>
          <a:noFill/>
          <a:ln/>
        </p:spPr>
        <p:txBody>
          <a:bodyPr wrap="square" lIns="0" tIns="0" rIns="0" bIns="0" rtlCol="0" anchor="ctr"/>
          <a:lstStyle/>
          <a:p>
            <a:pPr marL="0" indent="0">
              <a:buNone/>
            </a:pPr>
            <a:r>
              <a:rPr lang="en-US" sz="900" i="1" dirty="0">
                <a:solidFill>
                  <a:srgbClr val="0D9488"/>
                </a:solidFill>
                <a:latin typeface="Consolas" pitchFamily="34" charset="0"/>
                <a:ea typeface="Consolas" pitchFamily="34" charset="-122"/>
                <a:cs typeface="Consolas" pitchFamily="34" charset="-120"/>
              </a:rPr>
              <a:t>age = 0, -5, 150, 999 in Bank Marketing (2%)</a:t>
            </a:r>
            <a:endParaRPr lang="en-US" sz="900" dirty="0"/>
          </a:p>
        </p:txBody>
      </p:sp>
      <p:sp>
        <p:nvSpPr>
          <p:cNvPr id="32" name="Shape 30"/>
          <p:cNvSpPr/>
          <p:nvPr/>
        </p:nvSpPr>
        <p:spPr>
          <a:xfrm>
            <a:off x="4663440" y="3209544"/>
            <a:ext cx="4206240" cy="960120"/>
          </a:xfrm>
          <a:prstGeom prst="rect">
            <a:avLst/>
          </a:prstGeom>
          <a:solidFill>
            <a:srgbClr val="FFFFFF"/>
          </a:solidFill>
          <a:ln w="12700">
            <a:solidFill>
              <a:srgbClr val="E5E7EB"/>
            </a:solidFill>
            <a:prstDash val="solid"/>
          </a:ln>
        </p:spPr>
      </p:sp>
      <p:sp>
        <p:nvSpPr>
          <p:cNvPr id="33" name="Shape 31"/>
          <p:cNvSpPr/>
          <p:nvPr/>
        </p:nvSpPr>
        <p:spPr>
          <a:xfrm>
            <a:off x="4663440" y="3209544"/>
            <a:ext cx="73152" cy="960120"/>
          </a:xfrm>
          <a:prstGeom prst="rect">
            <a:avLst/>
          </a:prstGeom>
          <a:solidFill>
            <a:srgbClr val="F59E0B"/>
          </a:solidFill>
          <a:ln w="12700">
            <a:solidFill>
              <a:srgbClr val="F59E0B"/>
            </a:solidFill>
            <a:prstDash val="solid"/>
          </a:ln>
        </p:spPr>
      </p:sp>
      <p:sp>
        <p:nvSpPr>
          <p:cNvPr id="34" name="Text 32"/>
          <p:cNvSpPr/>
          <p:nvPr/>
        </p:nvSpPr>
        <p:spPr>
          <a:xfrm>
            <a:off x="4846320" y="3255264"/>
            <a:ext cx="3931920" cy="292608"/>
          </a:xfrm>
          <a:prstGeom prst="rect">
            <a:avLst/>
          </a:prstGeom>
          <a:noFill/>
          <a:ln/>
        </p:spPr>
        <p:txBody>
          <a:bodyPr wrap="square" lIns="0" tIns="0" rIns="0" bIns="0"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Format Errors</a:t>
            </a:r>
            <a:endParaRPr lang="en-US" sz="1300" dirty="0"/>
          </a:p>
        </p:txBody>
      </p:sp>
      <p:sp>
        <p:nvSpPr>
          <p:cNvPr id="35" name="Text 33"/>
          <p:cNvSpPr/>
          <p:nvPr/>
        </p:nvSpPr>
        <p:spPr>
          <a:xfrm>
            <a:off x="4846320" y="3557016"/>
            <a:ext cx="3931920" cy="256032"/>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Structural formatting violations</a:t>
            </a:r>
            <a:endParaRPr lang="en-US" sz="1000" dirty="0"/>
          </a:p>
        </p:txBody>
      </p:sp>
      <p:sp>
        <p:nvSpPr>
          <p:cNvPr id="36" name="Text 34"/>
          <p:cNvSpPr/>
          <p:nvPr/>
        </p:nvSpPr>
        <p:spPr>
          <a:xfrm>
            <a:off x="4846320" y="3803904"/>
            <a:ext cx="3931920" cy="292608"/>
          </a:xfrm>
          <a:prstGeom prst="rect">
            <a:avLst/>
          </a:prstGeom>
          <a:noFill/>
          <a:ln/>
        </p:spPr>
        <p:txBody>
          <a:bodyPr wrap="square" lIns="0" tIns="0" rIns="0" bIns="0" rtlCol="0" anchor="ctr"/>
          <a:lstStyle/>
          <a:p>
            <a:pPr marL="0" indent="0">
              <a:buNone/>
            </a:pPr>
            <a:r>
              <a:rPr lang="en-US" sz="900" i="1" dirty="0">
                <a:solidFill>
                  <a:srgbClr val="0D9488"/>
                </a:solidFill>
                <a:latin typeface="Consolas" pitchFamily="34" charset="0"/>
                <a:ea typeface="Consolas" pitchFamily="34" charset="-122"/>
                <a:cs typeface="Consolas" pitchFamily="34" charset="-120"/>
              </a:rPr>
              <a:t>filing_date mixing ISO + DD-Mon-YYYY (6%)</a:t>
            </a:r>
            <a:endParaRPr lang="en-US" sz="900" dirty="0"/>
          </a:p>
        </p:txBody>
      </p:sp>
      <p:sp>
        <p:nvSpPr>
          <p:cNvPr id="37" name="Text 35"/>
          <p:cNvSpPr/>
          <p:nvPr/>
        </p:nvSpPr>
        <p:spPr>
          <a:xfrm>
            <a:off x="365760" y="4434840"/>
            <a:ext cx="8412480" cy="274320"/>
          </a:xfrm>
          <a:prstGeom prst="rect">
            <a:avLst/>
          </a:prstGeom>
          <a:noFill/>
          <a:ln/>
        </p:spPr>
        <p:txBody>
          <a:bodyPr wrap="square" lIns="0" tIns="0" rIns="0" bIns="0" rtlCol="0" anchor="ctr"/>
          <a:lstStyle/>
          <a:p>
            <a:pPr marL="0" indent="0" algn="ctr">
              <a:buNone/>
            </a:pPr>
            <a:r>
              <a:rPr lang="en-US" sz="1000" i="1" dirty="0">
                <a:solidFill>
                  <a:srgbClr val="475569"/>
                </a:solidFill>
                <a:latin typeface="Calibri" pitchFamily="34" charset="0"/>
                <a:ea typeface="Calibri" pitchFamily="34" charset="-122"/>
                <a:cs typeface="Calibri" pitchFamily="34" charset="-120"/>
              </a:rPr>
              <a:t>Every column in our catalog is flagged Y/N for each DQ dimension → enables automated quality gates before masking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400" b="1" dirty="0">
                <a:solidFill>
                  <a:srgbClr val="1A2E4A"/>
                </a:solidFill>
                <a:latin typeface="Georgia" pitchFamily="34" charset="0"/>
                <a:ea typeface="Georgia" pitchFamily="34" charset="-122"/>
                <a:cs typeface="Georgia" pitchFamily="34" charset="-120"/>
              </a:rPr>
              <a:t>PII Identification — 24 Fields</a:t>
            </a:r>
            <a:endParaRPr lang="en-US" sz="2400" dirty="0"/>
          </a:p>
        </p:txBody>
      </p:sp>
      <p:sp>
        <p:nvSpPr>
          <p:cNvPr id="3" name="Shape 1"/>
          <p:cNvSpPr/>
          <p:nvPr/>
        </p:nvSpPr>
        <p:spPr>
          <a:xfrm>
            <a:off x="457200" y="804672"/>
            <a:ext cx="640080" cy="36576"/>
          </a:xfrm>
          <a:prstGeom prst="rect">
            <a:avLst/>
          </a:prstGeom>
          <a:solidFill>
            <a:srgbClr val="14B8A6"/>
          </a:solidFill>
          <a:ln w="12700">
            <a:solidFill>
              <a:srgbClr val="14B8A6"/>
            </a:solidFill>
            <a:prstDash val="solid"/>
          </a:ln>
        </p:spPr>
      </p:sp>
      <p:sp>
        <p:nvSpPr>
          <p:cNvPr id="4" name="Shape 2"/>
          <p:cNvSpPr/>
          <p:nvPr/>
        </p:nvSpPr>
        <p:spPr>
          <a:xfrm>
            <a:off x="0" y="4800600"/>
            <a:ext cx="9144000" cy="342900"/>
          </a:xfrm>
          <a:prstGeom prst="rect">
            <a:avLst/>
          </a:prstGeom>
          <a:solidFill>
            <a:srgbClr val="0B1F3A"/>
          </a:solidFill>
          <a:ln w="12700">
            <a:solidFill>
              <a:srgbClr val="0B1F3A"/>
            </a:solidFill>
            <a:prstDash val="solid"/>
          </a:ln>
        </p:spPr>
      </p:sp>
      <p:sp>
        <p:nvSpPr>
          <p:cNvPr id="5" name="Text 3"/>
          <p:cNvSpPr/>
          <p:nvPr/>
        </p:nvSpPr>
        <p:spPr>
          <a:xfrm>
            <a:off x="365760" y="4818888"/>
            <a:ext cx="548640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Week 6 — PII categorization per NIST + GDPR taxonomy</a:t>
            </a:r>
            <a:endParaRPr lang="en-US" sz="900" dirty="0"/>
          </a:p>
        </p:txBody>
      </p:sp>
      <p:sp>
        <p:nvSpPr>
          <p:cNvPr id="6" name="Text 4"/>
          <p:cNvSpPr/>
          <p:nvPr/>
        </p:nvSpPr>
        <p:spPr>
          <a:xfrm>
            <a:off x="5486400" y="4818888"/>
            <a:ext cx="3291840" cy="30175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FinGuard  •  Weeks 6 + 7</a:t>
            </a:r>
            <a:endParaRPr lang="en-US" sz="900" dirty="0"/>
          </a:p>
        </p:txBody>
      </p:sp>
      <p:sp>
        <p:nvSpPr>
          <p:cNvPr id="7" name="Shape 5"/>
          <p:cNvSpPr/>
          <p:nvPr/>
        </p:nvSpPr>
        <p:spPr>
          <a:xfrm>
            <a:off x="365760" y="1051560"/>
            <a:ext cx="2670048" cy="1600200"/>
          </a:xfrm>
          <a:prstGeom prst="rect">
            <a:avLst/>
          </a:prstGeom>
          <a:solidFill>
            <a:srgbClr val="FFFFFF"/>
          </a:solidFill>
          <a:ln w="12700">
            <a:solidFill>
              <a:srgbClr val="E5E7EB"/>
            </a:solidFill>
            <a:prstDash val="solid"/>
          </a:ln>
        </p:spPr>
      </p:sp>
      <p:sp>
        <p:nvSpPr>
          <p:cNvPr id="8" name="Shape 6"/>
          <p:cNvSpPr/>
          <p:nvPr/>
        </p:nvSpPr>
        <p:spPr>
          <a:xfrm>
            <a:off x="365760" y="1051560"/>
            <a:ext cx="2670048" cy="91440"/>
          </a:xfrm>
          <a:prstGeom prst="rect">
            <a:avLst/>
          </a:prstGeom>
          <a:solidFill>
            <a:srgbClr val="DC2626"/>
          </a:solidFill>
          <a:ln w="12700">
            <a:solidFill>
              <a:srgbClr val="DC2626"/>
            </a:solidFill>
            <a:prstDash val="solid"/>
          </a:ln>
        </p:spPr>
      </p:sp>
      <p:sp>
        <p:nvSpPr>
          <p:cNvPr id="9" name="Text 7"/>
          <p:cNvSpPr/>
          <p:nvPr/>
        </p:nvSpPr>
        <p:spPr>
          <a:xfrm>
            <a:off x="548640" y="1207008"/>
            <a:ext cx="1828800" cy="292608"/>
          </a:xfrm>
          <a:prstGeom prst="rect">
            <a:avLst/>
          </a:prstGeom>
          <a:noFill/>
          <a:ln/>
        </p:spPr>
        <p:txBody>
          <a:bodyPr wrap="square" lIns="0" tIns="0" rIns="0" bIns="0" rtlCol="0" anchor="ctr"/>
          <a:lstStyle/>
          <a:p>
            <a:pPr marL="0" indent="0">
              <a:buNone/>
            </a:pPr>
            <a:r>
              <a:rPr lang="en-US" sz="1100" b="1" kern="0" spc="300" dirty="0">
                <a:solidFill>
                  <a:srgbClr val="DC2626"/>
                </a:solidFill>
                <a:latin typeface="Calibri" pitchFamily="34" charset="0"/>
                <a:ea typeface="Calibri" pitchFamily="34" charset="-122"/>
                <a:cs typeface="Calibri" pitchFamily="34" charset="-120"/>
              </a:rPr>
              <a:t>DIRECT PII</a:t>
            </a:r>
            <a:endParaRPr lang="en-US" sz="1100" dirty="0"/>
          </a:p>
        </p:txBody>
      </p:sp>
      <p:sp>
        <p:nvSpPr>
          <p:cNvPr id="10" name="Text 8"/>
          <p:cNvSpPr/>
          <p:nvPr/>
        </p:nvSpPr>
        <p:spPr>
          <a:xfrm>
            <a:off x="2377440" y="1188720"/>
            <a:ext cx="594360" cy="502920"/>
          </a:xfrm>
          <a:prstGeom prst="rect">
            <a:avLst/>
          </a:prstGeom>
          <a:noFill/>
          <a:ln/>
        </p:spPr>
        <p:txBody>
          <a:bodyPr wrap="square" lIns="0" tIns="0" rIns="0" bIns="0" rtlCol="0" anchor="ctr"/>
          <a:lstStyle/>
          <a:p>
            <a:pPr marL="0" indent="0" algn="r">
              <a:buNone/>
            </a:pPr>
            <a:r>
              <a:rPr lang="en-US" sz="2800" b="1" dirty="0">
                <a:solidFill>
                  <a:srgbClr val="DC2626"/>
                </a:solidFill>
                <a:latin typeface="Georgia" pitchFamily="34" charset="0"/>
                <a:ea typeface="Georgia" pitchFamily="34" charset="-122"/>
                <a:cs typeface="Georgia" pitchFamily="34" charset="-120"/>
              </a:rPr>
              <a:t>11</a:t>
            </a:r>
            <a:endParaRPr lang="en-US" sz="2800" dirty="0"/>
          </a:p>
        </p:txBody>
      </p:sp>
      <p:sp>
        <p:nvSpPr>
          <p:cNvPr id="11" name="Text 9"/>
          <p:cNvSpPr/>
          <p:nvPr/>
        </p:nvSpPr>
        <p:spPr>
          <a:xfrm>
            <a:off x="548640" y="1691640"/>
            <a:ext cx="2331720" cy="365760"/>
          </a:xfrm>
          <a:prstGeom prst="rect">
            <a:avLst/>
          </a:prstGeom>
          <a:noFill/>
          <a:ln/>
        </p:spPr>
        <p:txBody>
          <a:bodyPr wrap="square" lIns="0" tIns="0" rIns="0" bIns="0" rtlCol="0" anchor="ctr"/>
          <a:lstStyle/>
          <a:p>
            <a:pPr marL="0" indent="0">
              <a:buNone/>
            </a:pPr>
            <a:r>
              <a:rPr lang="en-US" sz="1100" dirty="0">
                <a:solidFill>
                  <a:srgbClr val="1A2E4A"/>
                </a:solidFill>
                <a:latin typeface="Calibri" pitchFamily="34" charset="0"/>
                <a:ea typeface="Calibri" pitchFamily="34" charset="-122"/>
                <a:cs typeface="Calibri" pitchFamily="34" charset="-120"/>
              </a:rPr>
              <a:t>Identifies an individual on its own</a:t>
            </a:r>
            <a:endParaRPr lang="en-US" sz="1100" dirty="0"/>
          </a:p>
        </p:txBody>
      </p:sp>
      <p:sp>
        <p:nvSpPr>
          <p:cNvPr id="12" name="Text 10"/>
          <p:cNvSpPr/>
          <p:nvPr/>
        </p:nvSpPr>
        <p:spPr>
          <a:xfrm>
            <a:off x="548640" y="2103120"/>
            <a:ext cx="2331720" cy="50292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Names, emails, phones, DOB, addresses, IBANs</a:t>
            </a:r>
            <a:endParaRPr lang="en-US" sz="1000" dirty="0"/>
          </a:p>
        </p:txBody>
      </p:sp>
      <p:sp>
        <p:nvSpPr>
          <p:cNvPr id="13" name="Shape 11"/>
          <p:cNvSpPr/>
          <p:nvPr/>
        </p:nvSpPr>
        <p:spPr>
          <a:xfrm>
            <a:off x="3182112" y="1051560"/>
            <a:ext cx="2670048" cy="1600200"/>
          </a:xfrm>
          <a:prstGeom prst="rect">
            <a:avLst/>
          </a:prstGeom>
          <a:solidFill>
            <a:srgbClr val="FFFFFF"/>
          </a:solidFill>
          <a:ln w="12700">
            <a:solidFill>
              <a:srgbClr val="E5E7EB"/>
            </a:solidFill>
            <a:prstDash val="solid"/>
          </a:ln>
        </p:spPr>
      </p:sp>
      <p:sp>
        <p:nvSpPr>
          <p:cNvPr id="14" name="Shape 12"/>
          <p:cNvSpPr/>
          <p:nvPr/>
        </p:nvSpPr>
        <p:spPr>
          <a:xfrm>
            <a:off x="3182112" y="1051560"/>
            <a:ext cx="2670048" cy="91440"/>
          </a:xfrm>
          <a:prstGeom prst="rect">
            <a:avLst/>
          </a:prstGeom>
          <a:solidFill>
            <a:srgbClr val="F59E0B"/>
          </a:solidFill>
          <a:ln w="12700">
            <a:solidFill>
              <a:srgbClr val="F59E0B"/>
            </a:solidFill>
            <a:prstDash val="solid"/>
          </a:ln>
        </p:spPr>
      </p:sp>
      <p:sp>
        <p:nvSpPr>
          <p:cNvPr id="15" name="Text 13"/>
          <p:cNvSpPr/>
          <p:nvPr/>
        </p:nvSpPr>
        <p:spPr>
          <a:xfrm>
            <a:off x="3364992" y="1207008"/>
            <a:ext cx="1828800" cy="292608"/>
          </a:xfrm>
          <a:prstGeom prst="rect">
            <a:avLst/>
          </a:prstGeom>
          <a:noFill/>
          <a:ln/>
        </p:spPr>
        <p:txBody>
          <a:bodyPr wrap="square" lIns="0" tIns="0" rIns="0" bIns="0" rtlCol="0" anchor="ctr"/>
          <a:lstStyle/>
          <a:p>
            <a:pPr marL="0" indent="0">
              <a:buNone/>
            </a:pPr>
            <a:r>
              <a:rPr lang="en-US" sz="1100" b="1" kern="0" spc="300" dirty="0">
                <a:solidFill>
                  <a:srgbClr val="F59E0B"/>
                </a:solidFill>
                <a:latin typeface="Calibri" pitchFamily="34" charset="0"/>
                <a:ea typeface="Calibri" pitchFamily="34" charset="-122"/>
                <a:cs typeface="Calibri" pitchFamily="34" charset="-120"/>
              </a:rPr>
              <a:t>QUASI PII</a:t>
            </a:r>
            <a:endParaRPr lang="en-US" sz="1100" dirty="0"/>
          </a:p>
        </p:txBody>
      </p:sp>
      <p:sp>
        <p:nvSpPr>
          <p:cNvPr id="16" name="Text 14"/>
          <p:cNvSpPr/>
          <p:nvPr/>
        </p:nvSpPr>
        <p:spPr>
          <a:xfrm>
            <a:off x="5193792" y="1188720"/>
            <a:ext cx="594360" cy="502920"/>
          </a:xfrm>
          <a:prstGeom prst="rect">
            <a:avLst/>
          </a:prstGeom>
          <a:noFill/>
          <a:ln/>
        </p:spPr>
        <p:txBody>
          <a:bodyPr wrap="square" lIns="0" tIns="0" rIns="0" bIns="0" rtlCol="0" anchor="ctr"/>
          <a:lstStyle/>
          <a:p>
            <a:pPr marL="0" indent="0" algn="r">
              <a:buNone/>
            </a:pPr>
            <a:r>
              <a:rPr lang="en-US" sz="2800" b="1" dirty="0">
                <a:solidFill>
                  <a:srgbClr val="F59E0B"/>
                </a:solidFill>
                <a:latin typeface="Georgia" pitchFamily="34" charset="0"/>
                <a:ea typeface="Georgia" pitchFamily="34" charset="-122"/>
                <a:cs typeface="Georgia" pitchFamily="34" charset="-120"/>
              </a:rPr>
              <a:t>8</a:t>
            </a:r>
            <a:endParaRPr lang="en-US" sz="2800" dirty="0"/>
          </a:p>
        </p:txBody>
      </p:sp>
      <p:sp>
        <p:nvSpPr>
          <p:cNvPr id="17" name="Text 15"/>
          <p:cNvSpPr/>
          <p:nvPr/>
        </p:nvSpPr>
        <p:spPr>
          <a:xfrm>
            <a:off x="3364992" y="1691640"/>
            <a:ext cx="2331720" cy="365760"/>
          </a:xfrm>
          <a:prstGeom prst="rect">
            <a:avLst/>
          </a:prstGeom>
          <a:noFill/>
          <a:ln/>
        </p:spPr>
        <p:txBody>
          <a:bodyPr wrap="square" lIns="0" tIns="0" rIns="0" bIns="0" rtlCol="0" anchor="ctr"/>
          <a:lstStyle/>
          <a:p>
            <a:pPr marL="0" indent="0">
              <a:buNone/>
            </a:pPr>
            <a:r>
              <a:rPr lang="en-US" sz="1100" dirty="0">
                <a:solidFill>
                  <a:srgbClr val="1A2E4A"/>
                </a:solidFill>
                <a:latin typeface="Calibri" pitchFamily="34" charset="0"/>
                <a:ea typeface="Calibri" pitchFamily="34" charset="-122"/>
                <a:cs typeface="Calibri" pitchFamily="34" charset="-120"/>
              </a:rPr>
              <a:t>Identifies when combined with others</a:t>
            </a:r>
            <a:endParaRPr lang="en-US" sz="1100" dirty="0"/>
          </a:p>
        </p:txBody>
      </p:sp>
      <p:sp>
        <p:nvSpPr>
          <p:cNvPr id="18" name="Text 16"/>
          <p:cNvSpPr/>
          <p:nvPr/>
        </p:nvSpPr>
        <p:spPr>
          <a:xfrm>
            <a:off x="3364992" y="2103120"/>
            <a:ext cx="2331720" cy="50292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Customer ID, IP address, device ID, ZIP, country</a:t>
            </a:r>
            <a:endParaRPr lang="en-US" sz="1000" dirty="0"/>
          </a:p>
        </p:txBody>
      </p:sp>
      <p:sp>
        <p:nvSpPr>
          <p:cNvPr id="19" name="Shape 17"/>
          <p:cNvSpPr/>
          <p:nvPr/>
        </p:nvSpPr>
        <p:spPr>
          <a:xfrm>
            <a:off x="5998464" y="1051560"/>
            <a:ext cx="2670048" cy="1600200"/>
          </a:xfrm>
          <a:prstGeom prst="rect">
            <a:avLst/>
          </a:prstGeom>
          <a:solidFill>
            <a:srgbClr val="FFFFFF"/>
          </a:solidFill>
          <a:ln w="12700">
            <a:solidFill>
              <a:srgbClr val="E5E7EB"/>
            </a:solidFill>
            <a:prstDash val="solid"/>
          </a:ln>
        </p:spPr>
      </p:sp>
      <p:sp>
        <p:nvSpPr>
          <p:cNvPr id="20" name="Shape 18"/>
          <p:cNvSpPr/>
          <p:nvPr/>
        </p:nvSpPr>
        <p:spPr>
          <a:xfrm>
            <a:off x="5998464" y="1051560"/>
            <a:ext cx="2670048" cy="91440"/>
          </a:xfrm>
          <a:prstGeom prst="rect">
            <a:avLst/>
          </a:prstGeom>
          <a:solidFill>
            <a:srgbClr val="0B1F3A"/>
          </a:solidFill>
          <a:ln w="12700">
            <a:solidFill>
              <a:srgbClr val="0B1F3A"/>
            </a:solidFill>
            <a:prstDash val="solid"/>
          </a:ln>
        </p:spPr>
      </p:sp>
      <p:sp>
        <p:nvSpPr>
          <p:cNvPr id="21" name="Text 19"/>
          <p:cNvSpPr/>
          <p:nvPr/>
        </p:nvSpPr>
        <p:spPr>
          <a:xfrm>
            <a:off x="6181344" y="1207008"/>
            <a:ext cx="1828800" cy="292608"/>
          </a:xfrm>
          <a:prstGeom prst="rect">
            <a:avLst/>
          </a:prstGeom>
          <a:noFill/>
          <a:ln/>
        </p:spPr>
        <p:txBody>
          <a:bodyPr wrap="square" lIns="0" tIns="0" rIns="0" bIns="0" rtlCol="0" anchor="ctr"/>
          <a:lstStyle/>
          <a:p>
            <a:pPr marL="0" indent="0">
              <a:buNone/>
            </a:pPr>
            <a:r>
              <a:rPr lang="en-US" sz="1100" b="1" kern="0" spc="300" dirty="0">
                <a:solidFill>
                  <a:srgbClr val="0B1F3A"/>
                </a:solidFill>
                <a:latin typeface="Calibri" pitchFamily="34" charset="0"/>
                <a:ea typeface="Calibri" pitchFamily="34" charset="-122"/>
                <a:cs typeface="Calibri" pitchFamily="34" charset="-120"/>
              </a:rPr>
              <a:t>SENSITIVE PII</a:t>
            </a:r>
            <a:endParaRPr lang="en-US" sz="1100" dirty="0"/>
          </a:p>
        </p:txBody>
      </p:sp>
      <p:sp>
        <p:nvSpPr>
          <p:cNvPr id="22" name="Text 20"/>
          <p:cNvSpPr/>
          <p:nvPr/>
        </p:nvSpPr>
        <p:spPr>
          <a:xfrm>
            <a:off x="8010144" y="1188720"/>
            <a:ext cx="594360" cy="502920"/>
          </a:xfrm>
          <a:prstGeom prst="rect">
            <a:avLst/>
          </a:prstGeom>
          <a:noFill/>
          <a:ln/>
        </p:spPr>
        <p:txBody>
          <a:bodyPr wrap="square" lIns="0" tIns="0" rIns="0" bIns="0" rtlCol="0" anchor="ctr"/>
          <a:lstStyle/>
          <a:p>
            <a:pPr marL="0" indent="0" algn="r">
              <a:buNone/>
            </a:pPr>
            <a:r>
              <a:rPr lang="en-US" sz="2800" b="1" dirty="0">
                <a:solidFill>
                  <a:srgbClr val="0B1F3A"/>
                </a:solidFill>
                <a:latin typeface="Georgia" pitchFamily="34" charset="0"/>
                <a:ea typeface="Georgia" pitchFamily="34" charset="-122"/>
                <a:cs typeface="Georgia" pitchFamily="34" charset="-120"/>
              </a:rPr>
              <a:t>5</a:t>
            </a:r>
            <a:endParaRPr lang="en-US" sz="2800" dirty="0"/>
          </a:p>
        </p:txBody>
      </p:sp>
      <p:sp>
        <p:nvSpPr>
          <p:cNvPr id="23" name="Text 21"/>
          <p:cNvSpPr/>
          <p:nvPr/>
        </p:nvSpPr>
        <p:spPr>
          <a:xfrm>
            <a:off x="6181344" y="1691640"/>
            <a:ext cx="2331720" cy="365760"/>
          </a:xfrm>
          <a:prstGeom prst="rect">
            <a:avLst/>
          </a:prstGeom>
          <a:noFill/>
          <a:ln/>
        </p:spPr>
        <p:txBody>
          <a:bodyPr wrap="square" lIns="0" tIns="0" rIns="0" bIns="0" rtlCol="0" anchor="ctr"/>
          <a:lstStyle/>
          <a:p>
            <a:pPr marL="0" indent="0">
              <a:buNone/>
            </a:pPr>
            <a:r>
              <a:rPr lang="en-US" sz="1100" dirty="0">
                <a:solidFill>
                  <a:srgbClr val="1A2E4A"/>
                </a:solidFill>
                <a:latin typeface="Calibri" pitchFamily="34" charset="0"/>
                <a:ea typeface="Calibri" pitchFamily="34" charset="-122"/>
                <a:cs typeface="Calibri" pitchFamily="34" charset="-120"/>
              </a:rPr>
              <a:t>Financial / regulated — strict laws</a:t>
            </a:r>
            <a:endParaRPr lang="en-US" sz="1100" dirty="0"/>
          </a:p>
        </p:txBody>
      </p:sp>
      <p:sp>
        <p:nvSpPr>
          <p:cNvPr id="24" name="Text 22"/>
          <p:cNvSpPr/>
          <p:nvPr/>
        </p:nvSpPr>
        <p:spPr>
          <a:xfrm>
            <a:off x="6181344" y="2103120"/>
            <a:ext cx="2331720" cy="50292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IBAN accounts, EINs, tax-IDs</a:t>
            </a:r>
            <a:endParaRPr lang="en-US" sz="1000" dirty="0"/>
          </a:p>
        </p:txBody>
      </p:sp>
      <p:sp>
        <p:nvSpPr>
          <p:cNvPr id="25" name="Text 23"/>
          <p:cNvSpPr/>
          <p:nvPr/>
        </p:nvSpPr>
        <p:spPr>
          <a:xfrm>
            <a:off x="365760" y="2834640"/>
            <a:ext cx="8229600" cy="320040"/>
          </a:xfrm>
          <a:prstGeom prst="rect">
            <a:avLst/>
          </a:prstGeom>
          <a:noFill/>
          <a:ln/>
        </p:spPr>
        <p:txBody>
          <a:bodyPr wrap="square" lIns="0" tIns="0" rIns="0" bIns="0"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PII Distribution by Dataset</a:t>
            </a:r>
            <a:endParaRPr lang="en-US" sz="1300" dirty="0"/>
          </a:p>
        </p:txBody>
      </p:sp>
      <p:sp>
        <p:nvSpPr>
          <p:cNvPr id="26" name="Shape 24"/>
          <p:cNvSpPr/>
          <p:nvPr/>
        </p:nvSpPr>
        <p:spPr>
          <a:xfrm>
            <a:off x="365760" y="3200400"/>
            <a:ext cx="1554480" cy="310896"/>
          </a:xfrm>
          <a:prstGeom prst="rect">
            <a:avLst/>
          </a:prstGeom>
          <a:solidFill>
            <a:srgbClr val="0B1F3A"/>
          </a:solidFill>
          <a:ln w="12700">
            <a:solidFill>
              <a:srgbClr val="0B1F3A"/>
            </a:solidFill>
            <a:prstDash val="solid"/>
          </a:ln>
        </p:spPr>
      </p:sp>
      <p:sp>
        <p:nvSpPr>
          <p:cNvPr id="27" name="Text 25"/>
          <p:cNvSpPr/>
          <p:nvPr/>
        </p:nvSpPr>
        <p:spPr>
          <a:xfrm>
            <a:off x="365760" y="3200400"/>
            <a:ext cx="155448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AML Transactions</a:t>
            </a:r>
            <a:endParaRPr lang="en-US" sz="1000" dirty="0"/>
          </a:p>
        </p:txBody>
      </p:sp>
      <p:sp>
        <p:nvSpPr>
          <p:cNvPr id="28" name="Text 26"/>
          <p:cNvSpPr/>
          <p:nvPr/>
        </p:nvSpPr>
        <p:spPr>
          <a:xfrm>
            <a:off x="2011680" y="3200400"/>
            <a:ext cx="1371600" cy="310896"/>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11 PII fields</a:t>
            </a:r>
            <a:endParaRPr lang="en-US" sz="1000" dirty="0"/>
          </a:p>
        </p:txBody>
      </p:sp>
      <p:sp>
        <p:nvSpPr>
          <p:cNvPr id="29" name="Text 27"/>
          <p:cNvSpPr/>
          <p:nvPr/>
        </p:nvSpPr>
        <p:spPr>
          <a:xfrm>
            <a:off x="3383280" y="3200400"/>
            <a:ext cx="5486400" cy="310896"/>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Names, IBANs, IPs, emails, phones — highest risk</a:t>
            </a:r>
            <a:endParaRPr lang="en-US" sz="1000" dirty="0"/>
          </a:p>
        </p:txBody>
      </p:sp>
      <p:sp>
        <p:nvSpPr>
          <p:cNvPr id="30" name="Shape 28"/>
          <p:cNvSpPr/>
          <p:nvPr/>
        </p:nvSpPr>
        <p:spPr>
          <a:xfrm>
            <a:off x="365760" y="3566160"/>
            <a:ext cx="1554480" cy="310896"/>
          </a:xfrm>
          <a:prstGeom prst="rect">
            <a:avLst/>
          </a:prstGeom>
          <a:solidFill>
            <a:srgbClr val="0B1F3A"/>
          </a:solidFill>
          <a:ln w="12700">
            <a:solidFill>
              <a:srgbClr val="0B1F3A"/>
            </a:solidFill>
            <a:prstDash val="solid"/>
          </a:ln>
        </p:spPr>
      </p:sp>
      <p:sp>
        <p:nvSpPr>
          <p:cNvPr id="31" name="Text 29"/>
          <p:cNvSpPr/>
          <p:nvPr/>
        </p:nvSpPr>
        <p:spPr>
          <a:xfrm>
            <a:off x="365760" y="3566160"/>
            <a:ext cx="155448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Bank Marketing</a:t>
            </a:r>
            <a:endParaRPr lang="en-US" sz="1000" dirty="0"/>
          </a:p>
        </p:txBody>
      </p:sp>
      <p:sp>
        <p:nvSpPr>
          <p:cNvPr id="32" name="Text 30"/>
          <p:cNvSpPr/>
          <p:nvPr/>
        </p:nvSpPr>
        <p:spPr>
          <a:xfrm>
            <a:off x="2011680" y="3566160"/>
            <a:ext cx="1371600" cy="310896"/>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8 PII fields</a:t>
            </a:r>
            <a:endParaRPr lang="en-US" sz="1000" dirty="0"/>
          </a:p>
        </p:txBody>
      </p:sp>
      <p:sp>
        <p:nvSpPr>
          <p:cNvPr id="33" name="Text 31"/>
          <p:cNvSpPr/>
          <p:nvPr/>
        </p:nvSpPr>
        <p:spPr>
          <a:xfrm>
            <a:off x="3383280" y="3566160"/>
            <a:ext cx="5486400" cy="310896"/>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Full customer profile — name, address, DOB, ZIP</a:t>
            </a:r>
            <a:endParaRPr lang="en-US" sz="1000" dirty="0"/>
          </a:p>
        </p:txBody>
      </p:sp>
      <p:sp>
        <p:nvSpPr>
          <p:cNvPr id="34" name="Shape 32"/>
          <p:cNvSpPr/>
          <p:nvPr/>
        </p:nvSpPr>
        <p:spPr>
          <a:xfrm>
            <a:off x="365760" y="3931920"/>
            <a:ext cx="1554480" cy="310896"/>
          </a:xfrm>
          <a:prstGeom prst="rect">
            <a:avLst/>
          </a:prstGeom>
          <a:solidFill>
            <a:srgbClr val="0B1F3A"/>
          </a:solidFill>
          <a:ln w="12700">
            <a:solidFill>
              <a:srgbClr val="0B1F3A"/>
            </a:solidFill>
            <a:prstDash val="solid"/>
          </a:ln>
        </p:spPr>
      </p:sp>
      <p:sp>
        <p:nvSpPr>
          <p:cNvPr id="35" name="Text 33"/>
          <p:cNvSpPr/>
          <p:nvPr/>
        </p:nvSpPr>
        <p:spPr>
          <a:xfrm>
            <a:off x="365760" y="3931920"/>
            <a:ext cx="155448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SEC EDGAR</a:t>
            </a:r>
            <a:endParaRPr lang="en-US" sz="1000" dirty="0"/>
          </a:p>
        </p:txBody>
      </p:sp>
      <p:sp>
        <p:nvSpPr>
          <p:cNvPr id="36" name="Text 34"/>
          <p:cNvSpPr/>
          <p:nvPr/>
        </p:nvSpPr>
        <p:spPr>
          <a:xfrm>
            <a:off x="2011680" y="3931920"/>
            <a:ext cx="1371600" cy="310896"/>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3 PII fields</a:t>
            </a:r>
            <a:endParaRPr lang="en-US" sz="1000" dirty="0"/>
          </a:p>
        </p:txBody>
      </p:sp>
      <p:sp>
        <p:nvSpPr>
          <p:cNvPr id="37" name="Text 35"/>
          <p:cNvSpPr/>
          <p:nvPr/>
        </p:nvSpPr>
        <p:spPr>
          <a:xfrm>
            <a:off x="3383280" y="3931920"/>
            <a:ext cx="5486400" cy="310896"/>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CEO names, EINs, headquarters addresses</a:t>
            </a:r>
            <a:endParaRPr lang="en-US" sz="1000" dirty="0"/>
          </a:p>
        </p:txBody>
      </p:sp>
      <p:sp>
        <p:nvSpPr>
          <p:cNvPr id="38" name="Shape 36"/>
          <p:cNvSpPr/>
          <p:nvPr/>
        </p:nvSpPr>
        <p:spPr>
          <a:xfrm>
            <a:off x="365760" y="4297680"/>
            <a:ext cx="1554480" cy="310896"/>
          </a:xfrm>
          <a:prstGeom prst="rect">
            <a:avLst/>
          </a:prstGeom>
          <a:solidFill>
            <a:srgbClr val="0B1F3A"/>
          </a:solidFill>
          <a:ln w="12700">
            <a:solidFill>
              <a:srgbClr val="0B1F3A"/>
            </a:solidFill>
            <a:prstDash val="solid"/>
          </a:ln>
        </p:spPr>
      </p:sp>
      <p:sp>
        <p:nvSpPr>
          <p:cNvPr id="39" name="Text 37"/>
          <p:cNvSpPr/>
          <p:nvPr/>
        </p:nvSpPr>
        <p:spPr>
          <a:xfrm>
            <a:off x="365760" y="4297680"/>
            <a:ext cx="155448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PaySim</a:t>
            </a:r>
            <a:endParaRPr lang="en-US" sz="1000" dirty="0"/>
          </a:p>
        </p:txBody>
      </p:sp>
      <p:sp>
        <p:nvSpPr>
          <p:cNvPr id="40" name="Text 38"/>
          <p:cNvSpPr/>
          <p:nvPr/>
        </p:nvSpPr>
        <p:spPr>
          <a:xfrm>
            <a:off x="2011680" y="4297680"/>
            <a:ext cx="1371600" cy="310896"/>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2 PII fields</a:t>
            </a:r>
            <a:endParaRPr lang="en-US" sz="1000" dirty="0"/>
          </a:p>
        </p:txBody>
      </p:sp>
      <p:sp>
        <p:nvSpPr>
          <p:cNvPr id="41" name="Text 39"/>
          <p:cNvSpPr/>
          <p:nvPr/>
        </p:nvSpPr>
        <p:spPr>
          <a:xfrm>
            <a:off x="3383280" y="4297680"/>
            <a:ext cx="5486400" cy="310896"/>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Anonymized IDs (quasi-identifiers only)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400" b="1" dirty="0">
                <a:solidFill>
                  <a:srgbClr val="1A2E4A"/>
                </a:solidFill>
                <a:latin typeface="Georgia" pitchFamily="34" charset="0"/>
                <a:ea typeface="Georgia" pitchFamily="34" charset="-122"/>
                <a:cs typeface="Georgia" pitchFamily="34" charset="-120"/>
              </a:rPr>
              <a:t>Data Classification — 4 Tiers</a:t>
            </a:r>
            <a:endParaRPr lang="en-US" sz="2400" dirty="0"/>
          </a:p>
        </p:txBody>
      </p:sp>
      <p:sp>
        <p:nvSpPr>
          <p:cNvPr id="3" name="Shape 1"/>
          <p:cNvSpPr/>
          <p:nvPr/>
        </p:nvSpPr>
        <p:spPr>
          <a:xfrm>
            <a:off x="457200" y="804672"/>
            <a:ext cx="640080" cy="36576"/>
          </a:xfrm>
          <a:prstGeom prst="rect">
            <a:avLst/>
          </a:prstGeom>
          <a:solidFill>
            <a:srgbClr val="14B8A6"/>
          </a:solidFill>
          <a:ln w="12700">
            <a:solidFill>
              <a:srgbClr val="14B8A6"/>
            </a:solidFill>
            <a:prstDash val="solid"/>
          </a:ln>
        </p:spPr>
      </p:sp>
      <p:sp>
        <p:nvSpPr>
          <p:cNvPr id="4" name="Shape 2"/>
          <p:cNvSpPr/>
          <p:nvPr/>
        </p:nvSpPr>
        <p:spPr>
          <a:xfrm>
            <a:off x="0" y="4800600"/>
            <a:ext cx="9144000" cy="342900"/>
          </a:xfrm>
          <a:prstGeom prst="rect">
            <a:avLst/>
          </a:prstGeom>
          <a:solidFill>
            <a:srgbClr val="0B1F3A"/>
          </a:solidFill>
          <a:ln w="12700">
            <a:solidFill>
              <a:srgbClr val="0B1F3A"/>
            </a:solidFill>
            <a:prstDash val="solid"/>
          </a:ln>
        </p:spPr>
      </p:sp>
      <p:sp>
        <p:nvSpPr>
          <p:cNvPr id="5" name="Text 3"/>
          <p:cNvSpPr/>
          <p:nvPr/>
        </p:nvSpPr>
        <p:spPr>
          <a:xfrm>
            <a:off x="365760" y="4818888"/>
            <a:ext cx="548640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Week 6 + 7 — Northwestern IT classification + regulatory refs</a:t>
            </a:r>
            <a:endParaRPr lang="en-US" sz="900" dirty="0"/>
          </a:p>
        </p:txBody>
      </p:sp>
      <p:sp>
        <p:nvSpPr>
          <p:cNvPr id="6" name="Text 4"/>
          <p:cNvSpPr/>
          <p:nvPr/>
        </p:nvSpPr>
        <p:spPr>
          <a:xfrm>
            <a:off x="5486400" y="4818888"/>
            <a:ext cx="3291840" cy="30175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FinGuard  •  Weeks 6 + 7</a:t>
            </a:r>
            <a:endParaRPr lang="en-US" sz="900" dirty="0"/>
          </a:p>
        </p:txBody>
      </p:sp>
      <p:sp>
        <p:nvSpPr>
          <p:cNvPr id="7" name="Shape 5"/>
          <p:cNvSpPr/>
          <p:nvPr/>
        </p:nvSpPr>
        <p:spPr>
          <a:xfrm>
            <a:off x="365760" y="1051560"/>
            <a:ext cx="1371600" cy="777240"/>
          </a:xfrm>
          <a:prstGeom prst="rect">
            <a:avLst/>
          </a:prstGeom>
          <a:solidFill>
            <a:srgbClr val="16A34A"/>
          </a:solidFill>
          <a:ln w="12700">
            <a:solidFill>
              <a:srgbClr val="16A34A"/>
            </a:solidFill>
            <a:prstDash val="solid"/>
          </a:ln>
        </p:spPr>
      </p:sp>
      <p:sp>
        <p:nvSpPr>
          <p:cNvPr id="8" name="Text 6"/>
          <p:cNvSpPr/>
          <p:nvPr/>
        </p:nvSpPr>
        <p:spPr>
          <a:xfrm>
            <a:off x="365760" y="1124712"/>
            <a:ext cx="1371600" cy="32004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PUBLIC</a:t>
            </a:r>
            <a:endParaRPr lang="en-US" sz="1100" dirty="0"/>
          </a:p>
        </p:txBody>
      </p:sp>
      <p:sp>
        <p:nvSpPr>
          <p:cNvPr id="9" name="Text 7"/>
          <p:cNvSpPr/>
          <p:nvPr/>
        </p:nvSpPr>
        <p:spPr>
          <a:xfrm>
            <a:off x="365760" y="1463040"/>
            <a:ext cx="137160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35 cols</a:t>
            </a:r>
            <a:endParaRPr lang="en-US" sz="1100" dirty="0"/>
          </a:p>
        </p:txBody>
      </p:sp>
      <p:sp>
        <p:nvSpPr>
          <p:cNvPr id="10" name="Shape 8"/>
          <p:cNvSpPr/>
          <p:nvPr/>
        </p:nvSpPr>
        <p:spPr>
          <a:xfrm>
            <a:off x="1783080" y="1051560"/>
            <a:ext cx="6995160" cy="777240"/>
          </a:xfrm>
          <a:prstGeom prst="rect">
            <a:avLst/>
          </a:prstGeom>
          <a:solidFill>
            <a:srgbClr val="FFFFFF"/>
          </a:solidFill>
          <a:ln w="12700">
            <a:solidFill>
              <a:srgbClr val="E5E7EB"/>
            </a:solidFill>
            <a:prstDash val="solid"/>
          </a:ln>
        </p:spPr>
      </p:sp>
      <p:sp>
        <p:nvSpPr>
          <p:cNvPr id="11" name="Text 9"/>
          <p:cNvSpPr/>
          <p:nvPr/>
        </p:nvSpPr>
        <p:spPr>
          <a:xfrm>
            <a:off x="1874520" y="1097280"/>
            <a:ext cx="5029200" cy="256032"/>
          </a:xfrm>
          <a:prstGeom prst="rect">
            <a:avLst/>
          </a:prstGeom>
          <a:noFill/>
          <a:ln/>
        </p:spPr>
        <p:txBody>
          <a:bodyPr wrap="square" lIns="0" tIns="0" rIns="0" bIns="0" rtlCol="0" anchor="ctr"/>
          <a:lstStyle/>
          <a:p>
            <a:pPr marL="0" indent="0">
              <a:buNone/>
            </a:pPr>
            <a:r>
              <a:rPr lang="en-US" sz="1100" b="1" dirty="0">
                <a:solidFill>
                  <a:srgbClr val="1A2E4A"/>
                </a:solidFill>
                <a:latin typeface="Calibri" pitchFamily="34" charset="0"/>
                <a:ea typeface="Calibri" pitchFamily="34" charset="-122"/>
                <a:cs typeface="Calibri" pitchFamily="34" charset="-120"/>
              </a:rPr>
              <a:t>No impact if disclosed</a:t>
            </a:r>
            <a:endParaRPr lang="en-US" sz="1100" dirty="0"/>
          </a:p>
        </p:txBody>
      </p:sp>
      <p:sp>
        <p:nvSpPr>
          <p:cNvPr id="12" name="Text 10"/>
          <p:cNvSpPr/>
          <p:nvPr/>
        </p:nvSpPr>
        <p:spPr>
          <a:xfrm>
            <a:off x="6400800" y="1097280"/>
            <a:ext cx="2377440" cy="256032"/>
          </a:xfrm>
          <a:prstGeom prst="rect">
            <a:avLst/>
          </a:prstGeom>
          <a:noFill/>
          <a:ln/>
        </p:spPr>
        <p:txBody>
          <a:bodyPr wrap="square" lIns="0" tIns="0" rIns="0" bIns="0" rtlCol="0" anchor="ctr"/>
          <a:lstStyle/>
          <a:p>
            <a:pPr marL="0" indent="0" algn="r">
              <a:buNone/>
            </a:pPr>
            <a:r>
              <a:rPr lang="en-US" sz="900" i="1" dirty="0">
                <a:solidFill>
                  <a:srgbClr val="DC2626"/>
                </a:solidFill>
                <a:latin typeface="Calibri" pitchFamily="34" charset="0"/>
                <a:ea typeface="Calibri" pitchFamily="34" charset="-122"/>
                <a:cs typeface="Calibri" pitchFamily="34" charset="-120"/>
              </a:rPr>
              <a:t>Regulatory: —</a:t>
            </a:r>
            <a:endParaRPr lang="en-US" sz="900" dirty="0"/>
          </a:p>
        </p:txBody>
      </p:sp>
      <p:sp>
        <p:nvSpPr>
          <p:cNvPr id="13" name="Text 11"/>
          <p:cNvSpPr/>
          <p:nvPr/>
        </p:nvSpPr>
        <p:spPr>
          <a:xfrm>
            <a:off x="1874520" y="1353312"/>
            <a:ext cx="6812280" cy="228600"/>
          </a:xfrm>
          <a:prstGeom prst="rect">
            <a:avLst/>
          </a:prstGeom>
          <a:noFill/>
          <a:ln/>
        </p:spPr>
        <p:txBody>
          <a:bodyPr wrap="square" lIns="0" tIns="0" rIns="0" bIns="0" rtlCol="0" anchor="ctr"/>
          <a:lstStyle/>
          <a:p>
            <a:pPr marL="0" indent="0">
              <a:buNone/>
            </a:pPr>
            <a:r>
              <a:rPr lang="en-US" sz="1000" b="1" dirty="0">
                <a:solidFill>
                  <a:srgbClr val="475569"/>
                </a:solidFill>
                <a:latin typeface="Calibri" pitchFamily="34" charset="0"/>
                <a:ea typeface="Calibri" pitchFamily="34" charset="-122"/>
                <a:cs typeface="Calibri" pitchFamily="34" charset="-120"/>
              </a:rPr>
              <a:t>Access:  </a:t>
            </a:r>
            <a:r>
              <a:rPr lang="en-US" sz="1000" dirty="0">
                <a:solidFill>
                  <a:srgbClr val="475569"/>
                </a:solidFill>
                <a:latin typeface="Calibri" pitchFamily="34" charset="0"/>
                <a:ea typeface="Calibri" pitchFamily="34" charset="-122"/>
                <a:cs typeface="Calibri" pitchFamily="34" charset="-120"/>
              </a:rPr>
              <a:t>All employees + external auditors</a:t>
            </a:r>
            <a:endParaRPr lang="en-US" sz="1000" dirty="0"/>
          </a:p>
        </p:txBody>
      </p:sp>
      <p:sp>
        <p:nvSpPr>
          <p:cNvPr id="14" name="Text 12"/>
          <p:cNvSpPr/>
          <p:nvPr/>
        </p:nvSpPr>
        <p:spPr>
          <a:xfrm>
            <a:off x="1874520" y="1572768"/>
            <a:ext cx="6812280" cy="22860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ECB rates  •  FATF lists  •  EDGAR  •  WB indicators</a:t>
            </a:r>
            <a:endParaRPr lang="en-US" sz="1000" dirty="0"/>
          </a:p>
        </p:txBody>
      </p:sp>
      <p:sp>
        <p:nvSpPr>
          <p:cNvPr id="15" name="Shape 13"/>
          <p:cNvSpPr/>
          <p:nvPr/>
        </p:nvSpPr>
        <p:spPr>
          <a:xfrm>
            <a:off x="365760" y="1920240"/>
            <a:ext cx="1371600" cy="777240"/>
          </a:xfrm>
          <a:prstGeom prst="rect">
            <a:avLst/>
          </a:prstGeom>
          <a:solidFill>
            <a:srgbClr val="0EA5E9"/>
          </a:solidFill>
          <a:ln w="12700">
            <a:solidFill>
              <a:srgbClr val="0EA5E9"/>
            </a:solidFill>
            <a:prstDash val="solid"/>
          </a:ln>
        </p:spPr>
      </p:sp>
      <p:sp>
        <p:nvSpPr>
          <p:cNvPr id="16" name="Text 14"/>
          <p:cNvSpPr/>
          <p:nvPr/>
        </p:nvSpPr>
        <p:spPr>
          <a:xfrm>
            <a:off x="365760" y="1993392"/>
            <a:ext cx="1371600" cy="32004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INTERNAL</a:t>
            </a:r>
            <a:endParaRPr lang="en-US" sz="1100" dirty="0"/>
          </a:p>
        </p:txBody>
      </p:sp>
      <p:sp>
        <p:nvSpPr>
          <p:cNvPr id="17" name="Text 15"/>
          <p:cNvSpPr/>
          <p:nvPr/>
        </p:nvSpPr>
        <p:spPr>
          <a:xfrm>
            <a:off x="365760" y="2331720"/>
            <a:ext cx="137160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27 cols</a:t>
            </a:r>
            <a:endParaRPr lang="en-US" sz="1100" dirty="0"/>
          </a:p>
        </p:txBody>
      </p:sp>
      <p:sp>
        <p:nvSpPr>
          <p:cNvPr id="18" name="Shape 16"/>
          <p:cNvSpPr/>
          <p:nvPr/>
        </p:nvSpPr>
        <p:spPr>
          <a:xfrm>
            <a:off x="1783080" y="1920240"/>
            <a:ext cx="6995160" cy="777240"/>
          </a:xfrm>
          <a:prstGeom prst="rect">
            <a:avLst/>
          </a:prstGeom>
          <a:solidFill>
            <a:srgbClr val="FFFFFF"/>
          </a:solidFill>
          <a:ln w="12700">
            <a:solidFill>
              <a:srgbClr val="E5E7EB"/>
            </a:solidFill>
            <a:prstDash val="solid"/>
          </a:ln>
        </p:spPr>
      </p:sp>
      <p:sp>
        <p:nvSpPr>
          <p:cNvPr id="19" name="Text 17"/>
          <p:cNvSpPr/>
          <p:nvPr/>
        </p:nvSpPr>
        <p:spPr>
          <a:xfrm>
            <a:off x="1874520" y="1965960"/>
            <a:ext cx="5029200" cy="256032"/>
          </a:xfrm>
          <a:prstGeom prst="rect">
            <a:avLst/>
          </a:prstGeom>
          <a:noFill/>
          <a:ln/>
        </p:spPr>
        <p:txBody>
          <a:bodyPr wrap="square" lIns="0" tIns="0" rIns="0" bIns="0" rtlCol="0" anchor="ctr"/>
          <a:lstStyle/>
          <a:p>
            <a:pPr marL="0" indent="0">
              <a:buNone/>
            </a:pPr>
            <a:r>
              <a:rPr lang="en-US" sz="1100" b="1" dirty="0">
                <a:solidFill>
                  <a:srgbClr val="1A2E4A"/>
                </a:solidFill>
                <a:latin typeface="Calibri" pitchFamily="34" charset="0"/>
                <a:ea typeface="Calibri" pitchFamily="34" charset="-122"/>
                <a:cs typeface="Calibri" pitchFamily="34" charset="-120"/>
              </a:rPr>
              <a:t>Minor impact if disclosed</a:t>
            </a:r>
            <a:endParaRPr lang="en-US" sz="1100" dirty="0"/>
          </a:p>
        </p:txBody>
      </p:sp>
      <p:sp>
        <p:nvSpPr>
          <p:cNvPr id="20" name="Text 18"/>
          <p:cNvSpPr/>
          <p:nvPr/>
        </p:nvSpPr>
        <p:spPr>
          <a:xfrm>
            <a:off x="6400800" y="1965960"/>
            <a:ext cx="2377440" cy="256032"/>
          </a:xfrm>
          <a:prstGeom prst="rect">
            <a:avLst/>
          </a:prstGeom>
          <a:noFill/>
          <a:ln/>
        </p:spPr>
        <p:txBody>
          <a:bodyPr wrap="square" lIns="0" tIns="0" rIns="0" bIns="0" rtlCol="0" anchor="ctr"/>
          <a:lstStyle/>
          <a:p>
            <a:pPr marL="0" indent="0" algn="r">
              <a:buNone/>
            </a:pPr>
            <a:r>
              <a:rPr lang="en-US" sz="900" i="1" dirty="0">
                <a:solidFill>
                  <a:srgbClr val="DC2626"/>
                </a:solidFill>
                <a:latin typeface="Calibri" pitchFamily="34" charset="0"/>
                <a:ea typeface="Calibri" pitchFamily="34" charset="-122"/>
                <a:cs typeface="Calibri" pitchFamily="34" charset="-120"/>
              </a:rPr>
              <a:t>Regulatory: Internal policy</a:t>
            </a:r>
            <a:endParaRPr lang="en-US" sz="900" dirty="0"/>
          </a:p>
        </p:txBody>
      </p:sp>
      <p:sp>
        <p:nvSpPr>
          <p:cNvPr id="21" name="Text 19"/>
          <p:cNvSpPr/>
          <p:nvPr/>
        </p:nvSpPr>
        <p:spPr>
          <a:xfrm>
            <a:off x="1874520" y="2221992"/>
            <a:ext cx="6812280" cy="228600"/>
          </a:xfrm>
          <a:prstGeom prst="rect">
            <a:avLst/>
          </a:prstGeom>
          <a:noFill/>
          <a:ln/>
        </p:spPr>
        <p:txBody>
          <a:bodyPr wrap="square" lIns="0" tIns="0" rIns="0" bIns="0" rtlCol="0" anchor="ctr"/>
          <a:lstStyle/>
          <a:p>
            <a:pPr marL="0" indent="0">
              <a:buNone/>
            </a:pPr>
            <a:r>
              <a:rPr lang="en-US" sz="1000" b="1" dirty="0">
                <a:solidFill>
                  <a:srgbClr val="475569"/>
                </a:solidFill>
                <a:latin typeface="Calibri" pitchFamily="34" charset="0"/>
                <a:ea typeface="Calibri" pitchFamily="34" charset="-122"/>
                <a:cs typeface="Calibri" pitchFamily="34" charset="-120"/>
              </a:rPr>
              <a:t>Access:  </a:t>
            </a:r>
            <a:r>
              <a:rPr lang="en-US" sz="1000" dirty="0">
                <a:solidFill>
                  <a:srgbClr val="475569"/>
                </a:solidFill>
                <a:latin typeface="Calibri" pitchFamily="34" charset="0"/>
                <a:ea typeface="Calibri" pitchFamily="34" charset="-122"/>
                <a:cs typeface="Calibri" pitchFamily="34" charset="-120"/>
              </a:rPr>
              <a:t>All employees, restricted external</a:t>
            </a:r>
            <a:endParaRPr lang="en-US" sz="1000" dirty="0"/>
          </a:p>
        </p:txBody>
      </p:sp>
      <p:sp>
        <p:nvSpPr>
          <p:cNvPr id="22" name="Text 20"/>
          <p:cNvSpPr/>
          <p:nvPr/>
        </p:nvSpPr>
        <p:spPr>
          <a:xfrm>
            <a:off x="1874520" y="2441448"/>
            <a:ext cx="6812280" cy="22860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Transaction types  •  Job codes  •  Dates</a:t>
            </a:r>
            <a:endParaRPr lang="en-US" sz="1000" dirty="0"/>
          </a:p>
        </p:txBody>
      </p:sp>
      <p:sp>
        <p:nvSpPr>
          <p:cNvPr id="23" name="Shape 21"/>
          <p:cNvSpPr/>
          <p:nvPr/>
        </p:nvSpPr>
        <p:spPr>
          <a:xfrm>
            <a:off x="365760" y="2788920"/>
            <a:ext cx="1371600" cy="777240"/>
          </a:xfrm>
          <a:prstGeom prst="rect">
            <a:avLst/>
          </a:prstGeom>
          <a:solidFill>
            <a:srgbClr val="F59E0B"/>
          </a:solidFill>
          <a:ln w="12700">
            <a:solidFill>
              <a:srgbClr val="F59E0B"/>
            </a:solidFill>
            <a:prstDash val="solid"/>
          </a:ln>
        </p:spPr>
      </p:sp>
      <p:sp>
        <p:nvSpPr>
          <p:cNvPr id="24" name="Text 22"/>
          <p:cNvSpPr/>
          <p:nvPr/>
        </p:nvSpPr>
        <p:spPr>
          <a:xfrm>
            <a:off x="365760" y="2862072"/>
            <a:ext cx="1371600" cy="32004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CONFIDENTIAL</a:t>
            </a:r>
            <a:endParaRPr lang="en-US" sz="1100" dirty="0"/>
          </a:p>
        </p:txBody>
      </p:sp>
      <p:sp>
        <p:nvSpPr>
          <p:cNvPr id="25" name="Text 23"/>
          <p:cNvSpPr/>
          <p:nvPr/>
        </p:nvSpPr>
        <p:spPr>
          <a:xfrm>
            <a:off x="365760" y="3200400"/>
            <a:ext cx="137160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21 cols</a:t>
            </a:r>
            <a:endParaRPr lang="en-US" sz="1100" dirty="0"/>
          </a:p>
        </p:txBody>
      </p:sp>
      <p:sp>
        <p:nvSpPr>
          <p:cNvPr id="26" name="Shape 24"/>
          <p:cNvSpPr/>
          <p:nvPr/>
        </p:nvSpPr>
        <p:spPr>
          <a:xfrm>
            <a:off x="1783080" y="2788920"/>
            <a:ext cx="6995160" cy="777240"/>
          </a:xfrm>
          <a:prstGeom prst="rect">
            <a:avLst/>
          </a:prstGeom>
          <a:solidFill>
            <a:srgbClr val="FFFFFF"/>
          </a:solidFill>
          <a:ln w="12700">
            <a:solidFill>
              <a:srgbClr val="E5E7EB"/>
            </a:solidFill>
            <a:prstDash val="solid"/>
          </a:ln>
        </p:spPr>
      </p:sp>
      <p:sp>
        <p:nvSpPr>
          <p:cNvPr id="27" name="Text 25"/>
          <p:cNvSpPr/>
          <p:nvPr/>
        </p:nvSpPr>
        <p:spPr>
          <a:xfrm>
            <a:off x="1874520" y="2834640"/>
            <a:ext cx="5029200" cy="256032"/>
          </a:xfrm>
          <a:prstGeom prst="rect">
            <a:avLst/>
          </a:prstGeom>
          <a:noFill/>
          <a:ln/>
        </p:spPr>
        <p:txBody>
          <a:bodyPr wrap="square" lIns="0" tIns="0" rIns="0" bIns="0" rtlCol="0" anchor="ctr"/>
          <a:lstStyle/>
          <a:p>
            <a:pPr marL="0" indent="0">
              <a:buNone/>
            </a:pPr>
            <a:r>
              <a:rPr lang="en-US" sz="1100" b="1" dirty="0">
                <a:solidFill>
                  <a:srgbClr val="1A2E4A"/>
                </a:solidFill>
                <a:latin typeface="Calibri" pitchFamily="34" charset="0"/>
                <a:ea typeface="Calibri" pitchFamily="34" charset="-122"/>
                <a:cs typeface="Calibri" pitchFamily="34" charset="-120"/>
              </a:rPr>
              <a:t>Significant impact if disclosed</a:t>
            </a:r>
            <a:endParaRPr lang="en-US" sz="1100" dirty="0"/>
          </a:p>
        </p:txBody>
      </p:sp>
      <p:sp>
        <p:nvSpPr>
          <p:cNvPr id="28" name="Text 26"/>
          <p:cNvSpPr/>
          <p:nvPr/>
        </p:nvSpPr>
        <p:spPr>
          <a:xfrm>
            <a:off x="6400800" y="2834640"/>
            <a:ext cx="2377440" cy="256032"/>
          </a:xfrm>
          <a:prstGeom prst="rect">
            <a:avLst/>
          </a:prstGeom>
          <a:noFill/>
          <a:ln/>
        </p:spPr>
        <p:txBody>
          <a:bodyPr wrap="square" lIns="0" tIns="0" rIns="0" bIns="0" rtlCol="0" anchor="ctr"/>
          <a:lstStyle/>
          <a:p>
            <a:pPr marL="0" indent="0" algn="r">
              <a:buNone/>
            </a:pPr>
            <a:r>
              <a:rPr lang="en-US" sz="900" i="1" dirty="0">
                <a:solidFill>
                  <a:srgbClr val="DC2626"/>
                </a:solidFill>
                <a:latin typeface="Calibri" pitchFamily="34" charset="0"/>
                <a:ea typeface="Calibri" pitchFamily="34" charset="-122"/>
                <a:cs typeface="Calibri" pitchFamily="34" charset="-120"/>
              </a:rPr>
              <a:t>Regulatory: GLBA, SOX, AMLD6</a:t>
            </a:r>
            <a:endParaRPr lang="en-US" sz="900" dirty="0"/>
          </a:p>
        </p:txBody>
      </p:sp>
      <p:sp>
        <p:nvSpPr>
          <p:cNvPr id="29" name="Text 27"/>
          <p:cNvSpPr/>
          <p:nvPr/>
        </p:nvSpPr>
        <p:spPr>
          <a:xfrm>
            <a:off x="1874520" y="3090672"/>
            <a:ext cx="6812280" cy="228600"/>
          </a:xfrm>
          <a:prstGeom prst="rect">
            <a:avLst/>
          </a:prstGeom>
          <a:noFill/>
          <a:ln/>
        </p:spPr>
        <p:txBody>
          <a:bodyPr wrap="square" lIns="0" tIns="0" rIns="0" bIns="0" rtlCol="0" anchor="ctr"/>
          <a:lstStyle/>
          <a:p>
            <a:pPr marL="0" indent="0">
              <a:buNone/>
            </a:pPr>
            <a:r>
              <a:rPr lang="en-US" sz="1000" b="1" dirty="0">
                <a:solidFill>
                  <a:srgbClr val="475569"/>
                </a:solidFill>
                <a:latin typeface="Calibri" pitchFamily="34" charset="0"/>
                <a:ea typeface="Calibri" pitchFamily="34" charset="-122"/>
                <a:cs typeface="Calibri" pitchFamily="34" charset="-120"/>
              </a:rPr>
              <a:t>Access:  </a:t>
            </a:r>
            <a:r>
              <a:rPr lang="en-US" sz="1000" dirty="0">
                <a:solidFill>
                  <a:srgbClr val="475569"/>
                </a:solidFill>
                <a:latin typeface="Calibri" pitchFamily="34" charset="0"/>
                <a:ea typeface="Calibri" pitchFamily="34" charset="-122"/>
                <a:cs typeface="Calibri" pitchFamily="34" charset="-120"/>
              </a:rPr>
              <a:t>Data team + compliance + leadership</a:t>
            </a:r>
            <a:endParaRPr lang="en-US" sz="1000" dirty="0"/>
          </a:p>
        </p:txBody>
      </p:sp>
      <p:sp>
        <p:nvSpPr>
          <p:cNvPr id="30" name="Text 28"/>
          <p:cNvSpPr/>
          <p:nvPr/>
        </p:nvSpPr>
        <p:spPr>
          <a:xfrm>
            <a:off x="1874520" y="3310128"/>
            <a:ext cx="6812280" cy="22860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Balances  •  Risk scores  •  AML flags  •  IPs</a:t>
            </a:r>
            <a:endParaRPr lang="en-US" sz="1000" dirty="0"/>
          </a:p>
        </p:txBody>
      </p:sp>
      <p:sp>
        <p:nvSpPr>
          <p:cNvPr id="31" name="Shape 29"/>
          <p:cNvSpPr/>
          <p:nvPr/>
        </p:nvSpPr>
        <p:spPr>
          <a:xfrm>
            <a:off x="365760" y="3657600"/>
            <a:ext cx="1371600" cy="777240"/>
          </a:xfrm>
          <a:prstGeom prst="rect">
            <a:avLst/>
          </a:prstGeom>
          <a:solidFill>
            <a:srgbClr val="DC2626"/>
          </a:solidFill>
          <a:ln w="12700">
            <a:solidFill>
              <a:srgbClr val="DC2626"/>
            </a:solidFill>
            <a:prstDash val="solid"/>
          </a:ln>
        </p:spPr>
      </p:sp>
      <p:sp>
        <p:nvSpPr>
          <p:cNvPr id="32" name="Text 30"/>
          <p:cNvSpPr/>
          <p:nvPr/>
        </p:nvSpPr>
        <p:spPr>
          <a:xfrm>
            <a:off x="365760" y="3730752"/>
            <a:ext cx="1371600" cy="32004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RESTRICTED</a:t>
            </a:r>
            <a:endParaRPr lang="en-US" sz="1100" dirty="0"/>
          </a:p>
        </p:txBody>
      </p:sp>
      <p:sp>
        <p:nvSpPr>
          <p:cNvPr id="33" name="Text 31"/>
          <p:cNvSpPr/>
          <p:nvPr/>
        </p:nvSpPr>
        <p:spPr>
          <a:xfrm>
            <a:off x="365760" y="4069080"/>
            <a:ext cx="137160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15 cols</a:t>
            </a:r>
            <a:endParaRPr lang="en-US" sz="1100" dirty="0"/>
          </a:p>
        </p:txBody>
      </p:sp>
      <p:sp>
        <p:nvSpPr>
          <p:cNvPr id="34" name="Shape 32"/>
          <p:cNvSpPr/>
          <p:nvPr/>
        </p:nvSpPr>
        <p:spPr>
          <a:xfrm>
            <a:off x="1783080" y="3657600"/>
            <a:ext cx="6995160" cy="777240"/>
          </a:xfrm>
          <a:prstGeom prst="rect">
            <a:avLst/>
          </a:prstGeom>
          <a:solidFill>
            <a:srgbClr val="FFFFFF"/>
          </a:solidFill>
          <a:ln w="12700">
            <a:solidFill>
              <a:srgbClr val="E5E7EB"/>
            </a:solidFill>
            <a:prstDash val="solid"/>
          </a:ln>
        </p:spPr>
      </p:sp>
      <p:sp>
        <p:nvSpPr>
          <p:cNvPr id="35" name="Text 33"/>
          <p:cNvSpPr/>
          <p:nvPr/>
        </p:nvSpPr>
        <p:spPr>
          <a:xfrm>
            <a:off x="1874520" y="3703320"/>
            <a:ext cx="5029200" cy="256032"/>
          </a:xfrm>
          <a:prstGeom prst="rect">
            <a:avLst/>
          </a:prstGeom>
          <a:noFill/>
          <a:ln/>
        </p:spPr>
        <p:txBody>
          <a:bodyPr wrap="square" lIns="0" tIns="0" rIns="0" bIns="0" rtlCol="0" anchor="ctr"/>
          <a:lstStyle/>
          <a:p>
            <a:pPr marL="0" indent="0">
              <a:buNone/>
            </a:pPr>
            <a:r>
              <a:rPr lang="en-US" sz="1100" b="1" dirty="0">
                <a:solidFill>
                  <a:srgbClr val="1A2E4A"/>
                </a:solidFill>
                <a:latin typeface="Calibri" pitchFamily="34" charset="0"/>
                <a:ea typeface="Calibri" pitchFamily="34" charset="-122"/>
                <a:cs typeface="Calibri" pitchFamily="34" charset="-120"/>
              </a:rPr>
              <a:t>Severe impact if disclosed</a:t>
            </a:r>
            <a:endParaRPr lang="en-US" sz="1100" dirty="0"/>
          </a:p>
        </p:txBody>
      </p:sp>
      <p:sp>
        <p:nvSpPr>
          <p:cNvPr id="36" name="Text 34"/>
          <p:cNvSpPr/>
          <p:nvPr/>
        </p:nvSpPr>
        <p:spPr>
          <a:xfrm>
            <a:off x="6400800" y="3703320"/>
            <a:ext cx="2377440" cy="256032"/>
          </a:xfrm>
          <a:prstGeom prst="rect">
            <a:avLst/>
          </a:prstGeom>
          <a:noFill/>
          <a:ln/>
        </p:spPr>
        <p:txBody>
          <a:bodyPr wrap="square" lIns="0" tIns="0" rIns="0" bIns="0" rtlCol="0" anchor="ctr"/>
          <a:lstStyle/>
          <a:p>
            <a:pPr marL="0" indent="0" algn="r">
              <a:buNone/>
            </a:pPr>
            <a:r>
              <a:rPr lang="en-US" sz="900" i="1" dirty="0">
                <a:solidFill>
                  <a:srgbClr val="DC2626"/>
                </a:solidFill>
                <a:latin typeface="Calibri" pitchFamily="34" charset="0"/>
                <a:ea typeface="Calibri" pitchFamily="34" charset="-122"/>
                <a:cs typeface="Calibri" pitchFamily="34" charset="-120"/>
              </a:rPr>
              <a:t>Regulatory: GDPR Art. 5/9, HIPAA, GLBA</a:t>
            </a:r>
            <a:endParaRPr lang="en-US" sz="900" dirty="0"/>
          </a:p>
        </p:txBody>
      </p:sp>
      <p:sp>
        <p:nvSpPr>
          <p:cNvPr id="37" name="Text 35"/>
          <p:cNvSpPr/>
          <p:nvPr/>
        </p:nvSpPr>
        <p:spPr>
          <a:xfrm>
            <a:off x="1874520" y="3959352"/>
            <a:ext cx="6812280" cy="228600"/>
          </a:xfrm>
          <a:prstGeom prst="rect">
            <a:avLst/>
          </a:prstGeom>
          <a:noFill/>
          <a:ln/>
        </p:spPr>
        <p:txBody>
          <a:bodyPr wrap="square" lIns="0" tIns="0" rIns="0" bIns="0" rtlCol="0" anchor="ctr"/>
          <a:lstStyle/>
          <a:p>
            <a:pPr marL="0" indent="0">
              <a:buNone/>
            </a:pPr>
            <a:r>
              <a:rPr lang="en-US" sz="1000" b="1" dirty="0">
                <a:solidFill>
                  <a:srgbClr val="475569"/>
                </a:solidFill>
                <a:latin typeface="Calibri" pitchFamily="34" charset="0"/>
                <a:ea typeface="Calibri" pitchFamily="34" charset="-122"/>
                <a:cs typeface="Calibri" pitchFamily="34" charset="-120"/>
              </a:rPr>
              <a:t>Access:  </a:t>
            </a:r>
            <a:r>
              <a:rPr lang="en-US" sz="1000" dirty="0">
                <a:solidFill>
                  <a:srgbClr val="475569"/>
                </a:solidFill>
                <a:latin typeface="Calibri" pitchFamily="34" charset="0"/>
                <a:ea typeface="Calibri" pitchFamily="34" charset="-122"/>
                <a:cs typeface="Calibri" pitchFamily="34" charset="-120"/>
              </a:rPr>
              <a:t>DPO + CDO only, audit-logged</a:t>
            </a:r>
            <a:endParaRPr lang="en-US" sz="1000" dirty="0"/>
          </a:p>
        </p:txBody>
      </p:sp>
      <p:sp>
        <p:nvSpPr>
          <p:cNvPr id="38" name="Text 36"/>
          <p:cNvSpPr/>
          <p:nvPr/>
        </p:nvSpPr>
        <p:spPr>
          <a:xfrm>
            <a:off x="1874520" y="4178808"/>
            <a:ext cx="6812280" cy="22860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Names  •  Emails  •  Phones  •  IBANs  •  DOB</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400" b="1" dirty="0">
                <a:solidFill>
                  <a:srgbClr val="1A2E4A"/>
                </a:solidFill>
                <a:latin typeface="Georgia" pitchFamily="34" charset="0"/>
                <a:ea typeface="Georgia" pitchFamily="34" charset="-122"/>
                <a:cs typeface="Georgia" pitchFamily="34" charset="-120"/>
              </a:rPr>
              <a:t>Privacy Methods Applied</a:t>
            </a:r>
            <a:endParaRPr lang="en-US" sz="2400" dirty="0"/>
          </a:p>
        </p:txBody>
      </p:sp>
      <p:sp>
        <p:nvSpPr>
          <p:cNvPr id="3" name="Shape 1"/>
          <p:cNvSpPr/>
          <p:nvPr/>
        </p:nvSpPr>
        <p:spPr>
          <a:xfrm>
            <a:off x="457200" y="804672"/>
            <a:ext cx="640080" cy="36576"/>
          </a:xfrm>
          <a:prstGeom prst="rect">
            <a:avLst/>
          </a:prstGeom>
          <a:solidFill>
            <a:srgbClr val="14B8A6"/>
          </a:solidFill>
          <a:ln w="12700">
            <a:solidFill>
              <a:srgbClr val="14B8A6"/>
            </a:solidFill>
            <a:prstDash val="solid"/>
          </a:ln>
        </p:spPr>
      </p:sp>
      <p:sp>
        <p:nvSpPr>
          <p:cNvPr id="4" name="Shape 2"/>
          <p:cNvSpPr/>
          <p:nvPr/>
        </p:nvSpPr>
        <p:spPr>
          <a:xfrm>
            <a:off x="0" y="4800600"/>
            <a:ext cx="9144000" cy="342900"/>
          </a:xfrm>
          <a:prstGeom prst="rect">
            <a:avLst/>
          </a:prstGeom>
          <a:solidFill>
            <a:srgbClr val="0B1F3A"/>
          </a:solidFill>
          <a:ln w="12700">
            <a:solidFill>
              <a:srgbClr val="0B1F3A"/>
            </a:solidFill>
            <a:prstDash val="solid"/>
          </a:ln>
        </p:spPr>
      </p:sp>
      <p:sp>
        <p:nvSpPr>
          <p:cNvPr id="5" name="Text 3"/>
          <p:cNvSpPr/>
          <p:nvPr/>
        </p:nvSpPr>
        <p:spPr>
          <a:xfrm>
            <a:off x="365760" y="4818888"/>
            <a:ext cx="548640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Week 6 — 6 techniques across 24 PII fields, per GDPR Art. 32</a:t>
            </a:r>
            <a:endParaRPr lang="en-US" sz="900" dirty="0"/>
          </a:p>
        </p:txBody>
      </p:sp>
      <p:sp>
        <p:nvSpPr>
          <p:cNvPr id="6" name="Text 4"/>
          <p:cNvSpPr/>
          <p:nvPr/>
        </p:nvSpPr>
        <p:spPr>
          <a:xfrm>
            <a:off x="5486400" y="4818888"/>
            <a:ext cx="3291840" cy="30175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FinGuard  •  Weeks 6 + 7</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2926080"/>
        </p:xfrm>
        <a:graphic>
          <a:graphicData uri="http://schemas.openxmlformats.org/drawingml/2006/table">
            <a:tbl>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36576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Method</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Applied To</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How It Works</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Reversible?</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 Fields</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365760">
                <a:tc>
                  <a:txBody>
                    <a:bodyPr/>
                    <a:lstStyle/>
                    <a:p>
                      <a:pPr marL="0" indent="0">
                        <a:buNone/>
                      </a:pPr>
                      <a:r>
                        <a:rPr lang="en-US" sz="950" b="1" dirty="0">
                          <a:solidFill>
                            <a:srgbClr val="1A2E4A"/>
                          </a:solidFill>
                          <a:latin typeface="Calibri" pitchFamily="34" charset="0"/>
                          <a:ea typeface="Calibri" pitchFamily="34" charset="-122"/>
                          <a:cs typeface="Calibri" pitchFamily="34" charset="-120"/>
                        </a:rPr>
                        <a:t>Pseudonymization</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Names, customer IDs</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Replace with reversible token (TOKEN_000001)</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D9488"/>
                    </a:solidFill>
                  </a:tcPr>
                </a:tc>
                <a:tc>
                  <a:txBody>
                    <a:bodyPr/>
                    <a:lstStyle/>
                    <a:p>
                      <a:pPr marL="0" indent="0" algn="ctr">
                        <a:buNone/>
                      </a:pPr>
                      <a:r>
                        <a:rPr lang="en-US" sz="950" dirty="0">
                          <a:solidFill>
                            <a:srgbClr val="475569"/>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950" b="1" dirty="0">
                          <a:solidFill>
                            <a:srgbClr val="1A2E4A"/>
                          </a:solidFill>
                          <a:latin typeface="Calibri" pitchFamily="34" charset="0"/>
                          <a:ea typeface="Calibri" pitchFamily="34" charset="-122"/>
                          <a:cs typeface="Calibri" pitchFamily="34" charset="-120"/>
                        </a:rPr>
                        <a:t>SHA-256 Hashing</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Emails, device IDs</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Salted cryptographic hash (16-char truncated)</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950" b="1" dirty="0">
                          <a:solidFill>
                            <a:srgbClr val="1A2E4A"/>
                          </a:solidFill>
                          <a:latin typeface="Calibri" pitchFamily="34" charset="0"/>
                          <a:ea typeface="Calibri" pitchFamily="34" charset="-122"/>
                          <a:cs typeface="Calibri" pitchFamily="34" charset="-120"/>
                        </a:rPr>
                        <a:t>VIA MAP</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950" dirty="0">
                          <a:solidFill>
                            <a:srgbClr val="475569"/>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950" b="1" dirty="0">
                          <a:solidFill>
                            <a:srgbClr val="1A2E4A"/>
                          </a:solidFill>
                          <a:latin typeface="Calibri" pitchFamily="34" charset="0"/>
                          <a:ea typeface="Calibri" pitchFamily="34" charset="-122"/>
                          <a:cs typeface="Calibri" pitchFamily="34" charset="-120"/>
                        </a:rPr>
                        <a:t>Partial Masking</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Phone numbers</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Show last 4 digits only (***-***-1234)</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950" b="1" dirty="0">
                          <a:solidFill>
                            <a:srgbClr val="1A2E4A"/>
                          </a:solidFill>
                          <a:latin typeface="Calibri" pitchFamily="34" charset="0"/>
                          <a:ea typeface="Calibri" pitchFamily="34" charset="-122"/>
                          <a:cs typeface="Calibri" pitchFamily="34" charset="-120"/>
                        </a:rPr>
                        <a:t>VIA MAP</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950" dirty="0">
                          <a:solidFill>
                            <a:srgbClr val="475569"/>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950" b="1" dirty="0">
                          <a:solidFill>
                            <a:srgbClr val="1A2E4A"/>
                          </a:solidFill>
                          <a:latin typeface="Calibri" pitchFamily="34" charset="0"/>
                          <a:ea typeface="Calibri" pitchFamily="34" charset="-122"/>
                          <a:cs typeface="Calibri" pitchFamily="34" charset="-120"/>
                        </a:rPr>
                        <a:t>Generalization</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Addresses</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Reduce to city + state/country only</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NO (LOSSY)</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DC2626"/>
                    </a:solidFill>
                  </a:tcPr>
                </a:tc>
                <a:tc>
                  <a:txBody>
                    <a:bodyPr/>
                    <a:lstStyle/>
                    <a:p>
                      <a:pPr marL="0" indent="0" algn="ctr">
                        <a:buNone/>
                      </a:pPr>
                      <a:r>
                        <a:rPr lang="en-US" sz="950" dirty="0">
                          <a:solidFill>
                            <a:srgbClr val="475569"/>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950" b="1" dirty="0">
                          <a:solidFill>
                            <a:srgbClr val="1A2E4A"/>
                          </a:solidFill>
                          <a:latin typeface="Calibri" pitchFamily="34" charset="0"/>
                          <a:ea typeface="Calibri" pitchFamily="34" charset="-122"/>
                          <a:cs typeface="Calibri" pitchFamily="34" charset="-120"/>
                        </a:rPr>
                        <a:t>Age-banding</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DOB, age fields</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Convert to decade range (30-39, 40-49)</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NO (LOSSY)</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DC2626"/>
                    </a:solidFill>
                  </a:tcPr>
                </a:tc>
                <a:tc>
                  <a:txBody>
                    <a:bodyPr/>
                    <a:lstStyle/>
                    <a:p>
                      <a:pPr marL="0" indent="0" algn="ctr">
                        <a:buNone/>
                      </a:pPr>
                      <a:r>
                        <a:rPr lang="en-US" sz="950" dirty="0">
                          <a:solidFill>
                            <a:srgbClr val="475569"/>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950" b="1" dirty="0">
                          <a:solidFill>
                            <a:srgbClr val="1A2E4A"/>
                          </a:solidFill>
                          <a:latin typeface="Calibri" pitchFamily="34" charset="0"/>
                          <a:ea typeface="Calibri" pitchFamily="34" charset="-122"/>
                          <a:cs typeface="Calibri" pitchFamily="34" charset="-120"/>
                        </a:rPr>
                        <a:t>FPE Tokenization</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IBANs, EINs</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Format-preserving encryption (same structure)</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D9488"/>
                    </a:solidFill>
                  </a:tcPr>
                </a:tc>
                <a:tc>
                  <a:txBody>
                    <a:bodyPr/>
                    <a:lstStyle/>
                    <a:p>
                      <a:pPr marL="0" indent="0" algn="ctr">
                        <a:buNone/>
                      </a:pPr>
                      <a:r>
                        <a:rPr lang="en-US" sz="950" dirty="0">
                          <a:solidFill>
                            <a:srgbClr val="475569"/>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buNone/>
                      </a:pPr>
                      <a:r>
                        <a:rPr lang="en-US" sz="950" b="1" dirty="0">
                          <a:solidFill>
                            <a:srgbClr val="1A2E4A"/>
                          </a:solidFill>
                          <a:latin typeface="Calibri" pitchFamily="34" charset="0"/>
                          <a:ea typeface="Calibri" pitchFamily="34" charset="-122"/>
                          <a:cs typeface="Calibri" pitchFamily="34" charset="-120"/>
                        </a:rPr>
                        <a:t>Truncation</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IP addresses, ZIP codes</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Remove last octet/digits (192.168.1.XXX)</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NO (LOSSY)</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DC2626"/>
                    </a:solidFill>
                  </a:tcPr>
                </a:tc>
                <a:tc>
                  <a:txBody>
                    <a:bodyPr/>
                    <a:lstStyle/>
                    <a:p>
                      <a:pPr marL="0" indent="0" algn="ctr">
                        <a:buNone/>
                      </a:pPr>
                      <a:r>
                        <a:rPr lang="en-US" sz="950" dirty="0">
                          <a:solidFill>
                            <a:srgbClr val="475569"/>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 5"/>
          <p:cNvSpPr/>
          <p:nvPr/>
        </p:nvSpPr>
        <p:spPr>
          <a:xfrm>
            <a:off x="365760" y="4434840"/>
            <a:ext cx="8412480" cy="274320"/>
          </a:xfrm>
          <a:prstGeom prst="rect">
            <a:avLst/>
          </a:prstGeom>
          <a:noFill/>
          <a:ln/>
        </p:spPr>
        <p:txBody>
          <a:bodyPr wrap="square" lIns="0" tIns="0" rIns="0" bIns="0" rtlCol="0" anchor="ctr"/>
          <a:lstStyle/>
          <a:p>
            <a:pPr marL="0" indent="0" algn="ctr">
              <a:buNone/>
            </a:pPr>
            <a:r>
              <a:rPr lang="en-US" sz="1000" i="1" dirty="0">
                <a:solidFill>
                  <a:srgbClr val="0D9488"/>
                </a:solidFill>
                <a:latin typeface="Calibri" pitchFamily="34" charset="0"/>
                <a:ea typeface="Calibri" pitchFamily="34" charset="-122"/>
                <a:cs typeface="Calibri" pitchFamily="34" charset="-120"/>
              </a:rPr>
              <a:t>All reversible mappings stored in encrypted vault (AES-256)  •  28,893 entries  •  Supports GDPR Right to Erasure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400" b="1" dirty="0">
                <a:solidFill>
                  <a:srgbClr val="1A2E4A"/>
                </a:solidFill>
                <a:latin typeface="Georgia" pitchFamily="34" charset="0"/>
                <a:ea typeface="Georgia" pitchFamily="34" charset="-122"/>
                <a:cs typeface="Georgia" pitchFamily="34" charset="-120"/>
              </a:rPr>
              <a:t>Before / After — AML Transactions</a:t>
            </a:r>
            <a:endParaRPr lang="en-US" sz="2400" dirty="0"/>
          </a:p>
        </p:txBody>
      </p:sp>
      <p:sp>
        <p:nvSpPr>
          <p:cNvPr id="3" name="Shape 1"/>
          <p:cNvSpPr/>
          <p:nvPr/>
        </p:nvSpPr>
        <p:spPr>
          <a:xfrm>
            <a:off x="457200" y="804672"/>
            <a:ext cx="640080" cy="36576"/>
          </a:xfrm>
          <a:prstGeom prst="rect">
            <a:avLst/>
          </a:prstGeom>
          <a:solidFill>
            <a:srgbClr val="14B8A6"/>
          </a:solidFill>
          <a:ln w="12700">
            <a:solidFill>
              <a:srgbClr val="14B8A6"/>
            </a:solidFill>
            <a:prstDash val="solid"/>
          </a:ln>
        </p:spPr>
      </p:sp>
      <p:sp>
        <p:nvSpPr>
          <p:cNvPr id="4" name="Shape 2"/>
          <p:cNvSpPr/>
          <p:nvPr/>
        </p:nvSpPr>
        <p:spPr>
          <a:xfrm>
            <a:off x="0" y="4800600"/>
            <a:ext cx="9144000" cy="342900"/>
          </a:xfrm>
          <a:prstGeom prst="rect">
            <a:avLst/>
          </a:prstGeom>
          <a:solidFill>
            <a:srgbClr val="0B1F3A"/>
          </a:solidFill>
          <a:ln w="12700">
            <a:solidFill>
              <a:srgbClr val="0B1F3A"/>
            </a:solidFill>
            <a:prstDash val="solid"/>
          </a:ln>
        </p:spPr>
      </p:sp>
      <p:sp>
        <p:nvSpPr>
          <p:cNvPr id="5" name="Text 3"/>
          <p:cNvSpPr/>
          <p:nvPr/>
        </p:nvSpPr>
        <p:spPr>
          <a:xfrm>
            <a:off x="365760" y="4818888"/>
            <a:ext cx="548640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Week 6 — Real rows from aml_transactions_masked.csv</a:t>
            </a:r>
            <a:endParaRPr lang="en-US" sz="900" dirty="0"/>
          </a:p>
        </p:txBody>
      </p:sp>
      <p:sp>
        <p:nvSpPr>
          <p:cNvPr id="6" name="Text 4"/>
          <p:cNvSpPr/>
          <p:nvPr/>
        </p:nvSpPr>
        <p:spPr>
          <a:xfrm>
            <a:off x="5486400" y="4818888"/>
            <a:ext cx="3291840" cy="30175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FinGuard  •  Weeks 6 + 7</a:t>
            </a:r>
            <a:endParaRPr lang="en-US" sz="900" dirty="0"/>
          </a:p>
        </p:txBody>
      </p:sp>
      <p:sp>
        <p:nvSpPr>
          <p:cNvPr id="7" name="Shape 5"/>
          <p:cNvSpPr/>
          <p:nvPr/>
        </p:nvSpPr>
        <p:spPr>
          <a:xfrm>
            <a:off x="365760" y="1005840"/>
            <a:ext cx="8412480" cy="1508760"/>
          </a:xfrm>
          <a:prstGeom prst="rect">
            <a:avLst/>
          </a:prstGeom>
          <a:solidFill>
            <a:srgbClr val="FFFFFF"/>
          </a:solidFill>
          <a:ln w="12700">
            <a:solidFill>
              <a:srgbClr val="E5E7EB"/>
            </a:solidFill>
            <a:prstDash val="solid"/>
          </a:ln>
        </p:spPr>
      </p:sp>
      <p:sp>
        <p:nvSpPr>
          <p:cNvPr id="8" name="Shape 6"/>
          <p:cNvSpPr/>
          <p:nvPr/>
        </p:nvSpPr>
        <p:spPr>
          <a:xfrm>
            <a:off x="365760" y="1005840"/>
            <a:ext cx="73152" cy="1508760"/>
          </a:xfrm>
          <a:prstGeom prst="rect">
            <a:avLst/>
          </a:prstGeom>
          <a:solidFill>
            <a:srgbClr val="DC2626"/>
          </a:solidFill>
          <a:ln w="12700">
            <a:solidFill>
              <a:srgbClr val="DC2626"/>
            </a:solidFill>
            <a:prstDash val="solid"/>
          </a:ln>
        </p:spPr>
      </p:sp>
      <p:sp>
        <p:nvSpPr>
          <p:cNvPr id="9" name="Text 7"/>
          <p:cNvSpPr/>
          <p:nvPr/>
        </p:nvSpPr>
        <p:spPr>
          <a:xfrm>
            <a:off x="548640" y="1033272"/>
            <a:ext cx="5486400" cy="256032"/>
          </a:xfrm>
          <a:prstGeom prst="rect">
            <a:avLst/>
          </a:prstGeom>
          <a:noFill/>
          <a:ln/>
        </p:spPr>
        <p:txBody>
          <a:bodyPr wrap="square" lIns="0" tIns="0" rIns="0" bIns="0" rtlCol="0" anchor="ctr"/>
          <a:lstStyle/>
          <a:p>
            <a:pPr marL="0" indent="0">
              <a:buNone/>
            </a:pPr>
            <a:r>
              <a:rPr lang="en-US" sz="1100" b="1" kern="0" spc="200" dirty="0">
                <a:solidFill>
                  <a:srgbClr val="DC2626"/>
                </a:solidFill>
                <a:latin typeface="Calibri" pitchFamily="34" charset="0"/>
                <a:ea typeface="Calibri" pitchFamily="34" charset="-122"/>
                <a:cs typeface="Calibri" pitchFamily="34" charset="-120"/>
              </a:rPr>
              <a:t>BEFORE  —  Raw PII as ingested</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138160" cy="944880"/>
        </p:xfrm>
        <a:graphic>
          <a:graphicData uri="http://schemas.openxmlformats.org/drawingml/2006/table">
            <a:tbl>
              <a:tblPr/>
              <a:tblGrid>
                <a:gridCol w="10515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201168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274320">
                <a:tc>
                  <a:txBody>
                    <a:bodyPr/>
                    <a:lstStyle/>
                    <a:p>
                      <a:pPr marL="0" indent="0" algn="ctr">
                        <a:buNone/>
                      </a:pPr>
                      <a:r>
                        <a:rPr lang="en-US" sz="800" b="1" dirty="0">
                          <a:solidFill>
                            <a:srgbClr val="FFFFFF"/>
                          </a:solidFill>
                          <a:latin typeface="Consolas" pitchFamily="34" charset="0"/>
                          <a:ea typeface="Consolas" pitchFamily="34" charset="-122"/>
                          <a:cs typeface="Consolas" pitchFamily="34" charset="-120"/>
                        </a:rPr>
                        <a:t>customer_id</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FFFFFF"/>
                          </a:solidFill>
                          <a:latin typeface="Consolas" pitchFamily="34" charset="0"/>
                          <a:ea typeface="Consolas" pitchFamily="34" charset="-122"/>
                          <a:cs typeface="Consolas" pitchFamily="34" charset="-120"/>
                        </a:rPr>
                        <a:t>name</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FFFFFF"/>
                          </a:solidFill>
                          <a:latin typeface="Consolas" pitchFamily="34" charset="0"/>
                          <a:ea typeface="Consolas" pitchFamily="34" charset="-122"/>
                          <a:cs typeface="Consolas" pitchFamily="34" charset="-120"/>
                        </a:rPr>
                        <a:t>email</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FFFFFF"/>
                          </a:solidFill>
                          <a:latin typeface="Consolas" pitchFamily="34" charset="0"/>
                          <a:ea typeface="Consolas" pitchFamily="34" charset="-122"/>
                          <a:cs typeface="Consolas" pitchFamily="34" charset="-120"/>
                        </a:rPr>
                        <a:t>phone</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FFFFFF"/>
                          </a:solidFill>
                          <a:latin typeface="Consolas" pitchFamily="34" charset="0"/>
                          <a:ea typeface="Consolas" pitchFamily="34" charset="-122"/>
                          <a:cs typeface="Consolas" pitchFamily="34" charset="-120"/>
                        </a:rPr>
                        <a:t>dob</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FFFFFF"/>
                          </a:solidFill>
                          <a:latin typeface="Consolas" pitchFamily="34" charset="0"/>
                          <a:ea typeface="Consolas" pitchFamily="34" charset="-122"/>
                          <a:cs typeface="Consolas" pitchFamily="34" charset="-120"/>
                        </a:rPr>
                        <a:t>originator_account</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FFFFFF"/>
                          </a:solidFill>
                          <a:latin typeface="Consolas" pitchFamily="34" charset="0"/>
                          <a:ea typeface="Consolas" pitchFamily="34" charset="-122"/>
                          <a:cs typeface="Consolas" pitchFamily="34" charset="-120"/>
                        </a:rPr>
                        <a:t>ip_address</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800" dirty="0">
                          <a:solidFill>
                            <a:srgbClr val="1A2E4A"/>
                          </a:solidFill>
                          <a:latin typeface="Consolas" pitchFamily="34" charset="0"/>
                          <a:ea typeface="Consolas" pitchFamily="34" charset="-122"/>
                          <a:cs typeface="Consolas" pitchFamily="34" charset="-120"/>
                        </a:rPr>
                        <a:t>CUST-00052</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dirty="0">
                          <a:solidFill>
                            <a:srgbClr val="1A2E4A"/>
                          </a:solidFill>
                          <a:latin typeface="Consolas" pitchFamily="34" charset="0"/>
                          <a:ea typeface="Consolas" pitchFamily="34" charset="-122"/>
                          <a:cs typeface="Consolas" pitchFamily="34" charset="-120"/>
                        </a:rPr>
                        <a:t>Donato Godoy-Chaparro</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dirty="0">
                          <a:solidFill>
                            <a:srgbClr val="1A2E4A"/>
                          </a:solidFill>
                          <a:latin typeface="Consolas" pitchFamily="34" charset="0"/>
                          <a:ea typeface="Consolas" pitchFamily="34" charset="-122"/>
                          <a:cs typeface="Consolas" pitchFamily="34" charset="-120"/>
                        </a:rPr>
                        <a:t>rocaamilcar@…</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dirty="0">
                          <a:solidFill>
                            <a:srgbClr val="1A2E4A"/>
                          </a:solidFill>
                          <a:latin typeface="Consolas" pitchFamily="34" charset="0"/>
                          <a:ea typeface="Consolas" pitchFamily="34" charset="-122"/>
                          <a:cs typeface="Consolas" pitchFamily="34" charset="-120"/>
                        </a:rPr>
                        <a:t>538.990.8386</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dirty="0">
                          <a:solidFill>
                            <a:srgbClr val="1A2E4A"/>
                          </a:solidFill>
                          <a:latin typeface="Consolas" pitchFamily="34" charset="0"/>
                          <a:ea typeface="Consolas" pitchFamily="34" charset="-122"/>
                          <a:cs typeface="Consolas" pitchFamily="34" charset="-120"/>
                        </a:rPr>
                        <a:t>1947-04-16</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dirty="0">
                          <a:solidFill>
                            <a:srgbClr val="1A2E4A"/>
                          </a:solidFill>
                          <a:latin typeface="Consolas" pitchFamily="34" charset="0"/>
                          <a:ea typeface="Consolas" pitchFamily="34" charset="-122"/>
                          <a:cs typeface="Consolas" pitchFamily="34" charset="-120"/>
                        </a:rPr>
                        <a:t>GB93LLTI0781618495…</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dirty="0">
                          <a:solidFill>
                            <a:srgbClr val="1A2E4A"/>
                          </a:solidFill>
                          <a:latin typeface="Consolas" pitchFamily="34" charset="0"/>
                          <a:ea typeface="Consolas" pitchFamily="34" charset="-122"/>
                          <a:cs typeface="Consolas" pitchFamily="34" charset="-120"/>
                        </a:rPr>
                        <a:t>46.14.44.201</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800" dirty="0">
                          <a:solidFill>
                            <a:srgbClr val="1A2E4A"/>
                          </a:solidFill>
                          <a:latin typeface="Consolas" pitchFamily="34" charset="0"/>
                          <a:ea typeface="Consolas" pitchFamily="34" charset="-122"/>
                          <a:cs typeface="Consolas" pitchFamily="34" charset="-120"/>
                        </a:rPr>
                        <a:t>CUST-00286</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dirty="0">
                          <a:solidFill>
                            <a:srgbClr val="1A2E4A"/>
                          </a:solidFill>
                          <a:latin typeface="Consolas" pitchFamily="34" charset="0"/>
                          <a:ea typeface="Consolas" pitchFamily="34" charset="-122"/>
                          <a:cs typeface="Consolas" pitchFamily="34" charset="-120"/>
                        </a:rPr>
                        <a:t>Jennifer Jones</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dirty="0">
                          <a:solidFill>
                            <a:srgbClr val="1A2E4A"/>
                          </a:solidFill>
                          <a:latin typeface="Consolas" pitchFamily="34" charset="0"/>
                          <a:ea typeface="Consolas" pitchFamily="34" charset="-122"/>
                          <a:cs typeface="Consolas" pitchFamily="34" charset="-120"/>
                        </a:rPr>
                        <a:t>gerdiortmann@…</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dirty="0">
                          <a:solidFill>
                            <a:srgbClr val="1A2E4A"/>
                          </a:solidFill>
                          <a:latin typeface="Consolas" pitchFamily="34" charset="0"/>
                          <a:ea typeface="Consolas" pitchFamily="34" charset="-122"/>
                          <a:cs typeface="Consolas" pitchFamily="34" charset="-120"/>
                        </a:rPr>
                        <a:t>+34 974242388</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dirty="0">
                          <a:solidFill>
                            <a:srgbClr val="1A2E4A"/>
                          </a:solidFill>
                          <a:latin typeface="Consolas" pitchFamily="34" charset="0"/>
                          <a:ea typeface="Consolas" pitchFamily="34" charset="-122"/>
                          <a:cs typeface="Consolas" pitchFamily="34" charset="-120"/>
                        </a:rPr>
                        <a:t>1999-11-30</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dirty="0">
                          <a:solidFill>
                            <a:srgbClr val="1A2E4A"/>
                          </a:solidFill>
                          <a:latin typeface="Consolas" pitchFamily="34" charset="0"/>
                          <a:ea typeface="Consolas" pitchFamily="34" charset="-122"/>
                          <a:cs typeface="Consolas" pitchFamily="34" charset="-120"/>
                        </a:rPr>
                        <a:t>DE47801845146270…</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dirty="0">
                          <a:solidFill>
                            <a:srgbClr val="1A2E4A"/>
                          </a:solidFill>
                          <a:latin typeface="Consolas" pitchFamily="34" charset="0"/>
                          <a:ea typeface="Consolas" pitchFamily="34" charset="-122"/>
                          <a:cs typeface="Consolas" pitchFamily="34" charset="-120"/>
                        </a:rPr>
                        <a:t>180.27.200.107</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1" name="Text 8"/>
          <p:cNvSpPr/>
          <p:nvPr/>
        </p:nvSpPr>
        <p:spPr>
          <a:xfrm>
            <a:off x="365760" y="2606040"/>
            <a:ext cx="8412480" cy="274320"/>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 Pseudonymization     ↓ SHA-256 Hash     ↓ Partial Masking     ↓ Age-band     ↓ FPE Tokenization     ↓ Truncation</a:t>
            </a:r>
            <a:endParaRPr lang="en-US" sz="1000" dirty="0"/>
          </a:p>
        </p:txBody>
      </p:sp>
      <p:sp>
        <p:nvSpPr>
          <p:cNvPr id="12" name="Shape 9"/>
          <p:cNvSpPr/>
          <p:nvPr/>
        </p:nvSpPr>
        <p:spPr>
          <a:xfrm>
            <a:off x="365760" y="2926080"/>
            <a:ext cx="8412480" cy="1508760"/>
          </a:xfrm>
          <a:prstGeom prst="rect">
            <a:avLst/>
          </a:prstGeom>
          <a:solidFill>
            <a:srgbClr val="FFFFFF"/>
          </a:solidFill>
          <a:ln w="12700">
            <a:solidFill>
              <a:srgbClr val="E5E7EB"/>
            </a:solidFill>
            <a:prstDash val="solid"/>
          </a:ln>
        </p:spPr>
      </p:sp>
      <p:sp>
        <p:nvSpPr>
          <p:cNvPr id="13" name="Shape 10"/>
          <p:cNvSpPr/>
          <p:nvPr/>
        </p:nvSpPr>
        <p:spPr>
          <a:xfrm>
            <a:off x="365760" y="2926080"/>
            <a:ext cx="73152" cy="1508760"/>
          </a:xfrm>
          <a:prstGeom prst="rect">
            <a:avLst/>
          </a:prstGeom>
          <a:solidFill>
            <a:srgbClr val="0D9488"/>
          </a:solidFill>
          <a:ln w="12700">
            <a:solidFill>
              <a:srgbClr val="0D9488"/>
            </a:solidFill>
            <a:prstDash val="solid"/>
          </a:ln>
        </p:spPr>
      </p:sp>
      <p:sp>
        <p:nvSpPr>
          <p:cNvPr id="14" name="Text 11"/>
          <p:cNvSpPr/>
          <p:nvPr/>
        </p:nvSpPr>
        <p:spPr>
          <a:xfrm>
            <a:off x="548640" y="2953512"/>
            <a:ext cx="6400800" cy="256032"/>
          </a:xfrm>
          <a:prstGeom prst="rect">
            <a:avLst/>
          </a:prstGeom>
          <a:noFill/>
          <a:ln/>
        </p:spPr>
        <p:txBody>
          <a:bodyPr wrap="square" lIns="0" tIns="0" rIns="0" bIns="0" rtlCol="0" anchor="ctr"/>
          <a:lstStyle/>
          <a:p>
            <a:pPr marL="0" indent="0">
              <a:buNone/>
            </a:pPr>
            <a:r>
              <a:rPr lang="en-US" sz="1100" b="1" kern="0" spc="200" dirty="0">
                <a:solidFill>
                  <a:srgbClr val="0D9488"/>
                </a:solidFill>
                <a:latin typeface="Calibri" pitchFamily="34" charset="0"/>
                <a:ea typeface="Calibri" pitchFamily="34" charset="-122"/>
                <a:cs typeface="Calibri" pitchFamily="34" charset="-120"/>
              </a:rPr>
              <a:t>AFTER  —  Production-safe masked data</a:t>
            </a:r>
            <a:endParaRPr lang="en-US" sz="11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48640" y="3246120"/>
          <a:ext cx="8138160" cy="944880"/>
        </p:xfrm>
        <a:graphic>
          <a:graphicData uri="http://schemas.openxmlformats.org/drawingml/2006/table">
            <a:tbl>
              <a:tblPr/>
              <a:tblGrid>
                <a:gridCol w="10515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201168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274320">
                <a:tc>
                  <a:txBody>
                    <a:bodyPr/>
                    <a:lstStyle/>
                    <a:p>
                      <a:pPr marL="0" indent="0" algn="ctr">
                        <a:buNone/>
                      </a:pPr>
                      <a:r>
                        <a:rPr lang="en-US" sz="800" b="1" dirty="0">
                          <a:solidFill>
                            <a:srgbClr val="FFFFFF"/>
                          </a:solidFill>
                          <a:latin typeface="Consolas" pitchFamily="34" charset="0"/>
                          <a:ea typeface="Consolas" pitchFamily="34" charset="-122"/>
                          <a:cs typeface="Consolas" pitchFamily="34" charset="-120"/>
                        </a:rPr>
                        <a:t>customer_id</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D9488"/>
                    </a:solidFill>
                  </a:tcPr>
                </a:tc>
                <a:tc>
                  <a:txBody>
                    <a:bodyPr/>
                    <a:lstStyle/>
                    <a:p>
                      <a:pPr marL="0" indent="0" algn="ctr">
                        <a:buNone/>
                      </a:pPr>
                      <a:r>
                        <a:rPr lang="en-US" sz="800" b="1" dirty="0">
                          <a:solidFill>
                            <a:srgbClr val="FFFFFF"/>
                          </a:solidFill>
                          <a:latin typeface="Consolas" pitchFamily="34" charset="0"/>
                          <a:ea typeface="Consolas" pitchFamily="34" charset="-122"/>
                          <a:cs typeface="Consolas" pitchFamily="34" charset="-120"/>
                        </a:rPr>
                        <a:t>name</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D9488"/>
                    </a:solidFill>
                  </a:tcPr>
                </a:tc>
                <a:tc>
                  <a:txBody>
                    <a:bodyPr/>
                    <a:lstStyle/>
                    <a:p>
                      <a:pPr marL="0" indent="0" algn="ctr">
                        <a:buNone/>
                      </a:pPr>
                      <a:r>
                        <a:rPr lang="en-US" sz="800" b="1" dirty="0">
                          <a:solidFill>
                            <a:srgbClr val="FFFFFF"/>
                          </a:solidFill>
                          <a:latin typeface="Consolas" pitchFamily="34" charset="0"/>
                          <a:ea typeface="Consolas" pitchFamily="34" charset="-122"/>
                          <a:cs typeface="Consolas" pitchFamily="34" charset="-120"/>
                        </a:rPr>
                        <a:t>email</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D9488"/>
                    </a:solidFill>
                  </a:tcPr>
                </a:tc>
                <a:tc>
                  <a:txBody>
                    <a:bodyPr/>
                    <a:lstStyle/>
                    <a:p>
                      <a:pPr marL="0" indent="0" algn="ctr">
                        <a:buNone/>
                      </a:pPr>
                      <a:r>
                        <a:rPr lang="en-US" sz="800" b="1" dirty="0">
                          <a:solidFill>
                            <a:srgbClr val="FFFFFF"/>
                          </a:solidFill>
                          <a:latin typeface="Consolas" pitchFamily="34" charset="0"/>
                          <a:ea typeface="Consolas" pitchFamily="34" charset="-122"/>
                          <a:cs typeface="Consolas" pitchFamily="34" charset="-120"/>
                        </a:rPr>
                        <a:t>phone</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D9488"/>
                    </a:solidFill>
                  </a:tcPr>
                </a:tc>
                <a:tc>
                  <a:txBody>
                    <a:bodyPr/>
                    <a:lstStyle/>
                    <a:p>
                      <a:pPr marL="0" indent="0" algn="ctr">
                        <a:buNone/>
                      </a:pPr>
                      <a:r>
                        <a:rPr lang="en-US" sz="800" b="1" dirty="0">
                          <a:solidFill>
                            <a:srgbClr val="FFFFFF"/>
                          </a:solidFill>
                          <a:latin typeface="Consolas" pitchFamily="34" charset="0"/>
                          <a:ea typeface="Consolas" pitchFamily="34" charset="-122"/>
                          <a:cs typeface="Consolas" pitchFamily="34" charset="-120"/>
                        </a:rPr>
                        <a:t>dob</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D9488"/>
                    </a:solidFill>
                  </a:tcPr>
                </a:tc>
                <a:tc>
                  <a:txBody>
                    <a:bodyPr/>
                    <a:lstStyle/>
                    <a:p>
                      <a:pPr marL="0" indent="0" algn="ctr">
                        <a:buNone/>
                      </a:pPr>
                      <a:r>
                        <a:rPr lang="en-US" sz="800" b="1" dirty="0">
                          <a:solidFill>
                            <a:srgbClr val="FFFFFF"/>
                          </a:solidFill>
                          <a:latin typeface="Consolas" pitchFamily="34" charset="0"/>
                          <a:ea typeface="Consolas" pitchFamily="34" charset="-122"/>
                          <a:cs typeface="Consolas" pitchFamily="34" charset="-120"/>
                        </a:rPr>
                        <a:t>originator_account</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D9488"/>
                    </a:solidFill>
                  </a:tcPr>
                </a:tc>
                <a:tc>
                  <a:txBody>
                    <a:bodyPr/>
                    <a:lstStyle/>
                    <a:p>
                      <a:pPr marL="0" indent="0" algn="ctr">
                        <a:buNone/>
                      </a:pPr>
                      <a:r>
                        <a:rPr lang="en-US" sz="800" b="1" dirty="0">
                          <a:solidFill>
                            <a:srgbClr val="FFFFFF"/>
                          </a:solidFill>
                          <a:latin typeface="Consolas" pitchFamily="34" charset="0"/>
                          <a:ea typeface="Consolas" pitchFamily="34" charset="-122"/>
                          <a:cs typeface="Consolas" pitchFamily="34" charset="-120"/>
                        </a:rPr>
                        <a:t>ip_address</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D9488"/>
                    </a:solidFill>
                  </a:tcPr>
                </a:tc>
                <a:extLst>
                  <a:ext uri="{0D108BD9-81ED-4DB2-BD59-A6C34878D82A}">
                    <a16:rowId xmlns:a16="http://schemas.microsoft.com/office/drawing/2014/main" val="10000"/>
                  </a:ext>
                </a:extLst>
              </a:tr>
              <a:tr h="274320">
                <a:tc>
                  <a:txBody>
                    <a:bodyPr/>
                    <a:lstStyle/>
                    <a:p>
                      <a:pPr marL="0" indent="0">
                        <a:buNone/>
                      </a:pPr>
                      <a:r>
                        <a:rPr lang="en-US" sz="800" b="1" dirty="0">
                          <a:solidFill>
                            <a:srgbClr val="0D9488"/>
                          </a:solidFill>
                          <a:latin typeface="Consolas" pitchFamily="34" charset="0"/>
                          <a:ea typeface="Consolas" pitchFamily="34" charset="-122"/>
                          <a:cs typeface="Consolas" pitchFamily="34" charset="-120"/>
                        </a:rPr>
                        <a:t>TOKEN_000001</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b="1" dirty="0">
                          <a:solidFill>
                            <a:srgbClr val="0D9488"/>
                          </a:solidFill>
                          <a:latin typeface="Consolas" pitchFamily="34" charset="0"/>
                          <a:ea typeface="Consolas" pitchFamily="34" charset="-122"/>
                          <a:cs typeface="Consolas" pitchFamily="34" charset="-120"/>
                        </a:rPr>
                        <a:t>TOKEN_000001</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b="1" dirty="0">
                          <a:solidFill>
                            <a:srgbClr val="0D9488"/>
                          </a:solidFill>
                          <a:latin typeface="Consolas" pitchFamily="34" charset="0"/>
                          <a:ea typeface="Consolas" pitchFamily="34" charset="-122"/>
                          <a:cs typeface="Consolas" pitchFamily="34" charset="-120"/>
                        </a:rPr>
                        <a:t>3705026c2e560dfa</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b="1" dirty="0">
                          <a:solidFill>
                            <a:srgbClr val="0D9488"/>
                          </a:solidFill>
                          <a:latin typeface="Consolas" pitchFamily="34" charset="0"/>
                          <a:ea typeface="Consolas" pitchFamily="34" charset="-122"/>
                          <a:cs typeface="Consolas" pitchFamily="34" charset="-120"/>
                        </a:rPr>
                        <a:t>***-***-8386</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b="1" dirty="0">
                          <a:solidFill>
                            <a:srgbClr val="0D9488"/>
                          </a:solidFill>
                          <a:latin typeface="Consolas" pitchFamily="34" charset="0"/>
                          <a:ea typeface="Consolas" pitchFamily="34" charset="-122"/>
                          <a:cs typeface="Consolas" pitchFamily="34" charset="-120"/>
                        </a:rPr>
                        <a:t>70-79</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b="1" dirty="0">
                          <a:solidFill>
                            <a:srgbClr val="0D9488"/>
                          </a:solidFill>
                          <a:latin typeface="Consolas" pitchFamily="34" charset="0"/>
                          <a:ea typeface="Consolas" pitchFamily="34" charset="-122"/>
                          <a:cs typeface="Consolas" pitchFamily="34" charset="-120"/>
                        </a:rPr>
                        <a:t>GB26LLTI3014941728…</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b="1" dirty="0">
                          <a:solidFill>
                            <a:srgbClr val="0D9488"/>
                          </a:solidFill>
                          <a:latin typeface="Consolas" pitchFamily="34" charset="0"/>
                          <a:ea typeface="Consolas" pitchFamily="34" charset="-122"/>
                          <a:cs typeface="Consolas" pitchFamily="34" charset="-120"/>
                        </a:rPr>
                        <a:t>46.14.44.XXX</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800" b="1" dirty="0">
                          <a:solidFill>
                            <a:srgbClr val="0D9488"/>
                          </a:solidFill>
                          <a:latin typeface="Consolas" pitchFamily="34" charset="0"/>
                          <a:ea typeface="Consolas" pitchFamily="34" charset="-122"/>
                          <a:cs typeface="Consolas" pitchFamily="34" charset="-120"/>
                        </a:rPr>
                        <a:t>TOKEN_000002</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b="1" dirty="0">
                          <a:solidFill>
                            <a:srgbClr val="0D9488"/>
                          </a:solidFill>
                          <a:latin typeface="Consolas" pitchFamily="34" charset="0"/>
                          <a:ea typeface="Consolas" pitchFamily="34" charset="-122"/>
                          <a:cs typeface="Consolas" pitchFamily="34" charset="-120"/>
                        </a:rPr>
                        <a:t>TOKEN_000002</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b="1" dirty="0">
                          <a:solidFill>
                            <a:srgbClr val="0D9488"/>
                          </a:solidFill>
                          <a:latin typeface="Consolas" pitchFamily="34" charset="0"/>
                          <a:ea typeface="Consolas" pitchFamily="34" charset="-122"/>
                          <a:cs typeface="Consolas" pitchFamily="34" charset="-120"/>
                        </a:rPr>
                        <a:t>b555740ec9234be2</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b="1" dirty="0">
                          <a:solidFill>
                            <a:srgbClr val="0D9488"/>
                          </a:solidFill>
                          <a:latin typeface="Consolas" pitchFamily="34" charset="0"/>
                          <a:ea typeface="Consolas" pitchFamily="34" charset="-122"/>
                          <a:cs typeface="Consolas" pitchFamily="34" charset="-120"/>
                        </a:rPr>
                        <a:t>***-***-2388</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b="1" dirty="0">
                          <a:solidFill>
                            <a:srgbClr val="0D9488"/>
                          </a:solidFill>
                          <a:latin typeface="Consolas" pitchFamily="34" charset="0"/>
                          <a:ea typeface="Consolas" pitchFamily="34" charset="-122"/>
                          <a:cs typeface="Consolas" pitchFamily="34" charset="-120"/>
                        </a:rPr>
                        <a:t>20-29</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b="1" dirty="0">
                          <a:solidFill>
                            <a:srgbClr val="0D9488"/>
                          </a:solidFill>
                          <a:latin typeface="Consolas" pitchFamily="34" charset="0"/>
                          <a:ea typeface="Consolas" pitchFamily="34" charset="-122"/>
                          <a:cs typeface="Consolas" pitchFamily="34" charset="-120"/>
                        </a:rPr>
                        <a:t>TU92356390691725…</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800" b="1" dirty="0">
                          <a:solidFill>
                            <a:srgbClr val="0D9488"/>
                          </a:solidFill>
                          <a:latin typeface="Consolas" pitchFamily="34" charset="0"/>
                          <a:ea typeface="Consolas" pitchFamily="34" charset="-122"/>
                          <a:cs typeface="Consolas" pitchFamily="34" charset="-120"/>
                        </a:rPr>
                        <a:t>180.27.200.XXX</a:t>
                      </a:r>
                      <a:endParaRPr lang="en-US" sz="8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400" b="1" dirty="0">
                <a:solidFill>
                  <a:srgbClr val="1A2E4A"/>
                </a:solidFill>
                <a:latin typeface="Georgia" pitchFamily="34" charset="0"/>
                <a:ea typeface="Georgia" pitchFamily="34" charset="-122"/>
                <a:cs typeface="Georgia" pitchFamily="34" charset="-120"/>
              </a:rPr>
              <a:t>Before / After — Bank Marketing + EDGAR</a:t>
            </a:r>
            <a:endParaRPr lang="en-US" sz="2400" dirty="0"/>
          </a:p>
        </p:txBody>
      </p:sp>
      <p:sp>
        <p:nvSpPr>
          <p:cNvPr id="3" name="Shape 1"/>
          <p:cNvSpPr/>
          <p:nvPr/>
        </p:nvSpPr>
        <p:spPr>
          <a:xfrm>
            <a:off x="457200" y="804672"/>
            <a:ext cx="640080" cy="36576"/>
          </a:xfrm>
          <a:prstGeom prst="rect">
            <a:avLst/>
          </a:prstGeom>
          <a:solidFill>
            <a:srgbClr val="14B8A6"/>
          </a:solidFill>
          <a:ln w="12700">
            <a:solidFill>
              <a:srgbClr val="14B8A6"/>
            </a:solidFill>
            <a:prstDash val="solid"/>
          </a:ln>
        </p:spPr>
      </p:sp>
      <p:sp>
        <p:nvSpPr>
          <p:cNvPr id="4" name="Shape 2"/>
          <p:cNvSpPr/>
          <p:nvPr/>
        </p:nvSpPr>
        <p:spPr>
          <a:xfrm>
            <a:off x="0" y="4800600"/>
            <a:ext cx="9144000" cy="342900"/>
          </a:xfrm>
          <a:prstGeom prst="rect">
            <a:avLst/>
          </a:prstGeom>
          <a:solidFill>
            <a:srgbClr val="0B1F3A"/>
          </a:solidFill>
          <a:ln w="12700">
            <a:solidFill>
              <a:srgbClr val="0B1F3A"/>
            </a:solidFill>
            <a:prstDash val="solid"/>
          </a:ln>
        </p:spPr>
      </p:sp>
      <p:sp>
        <p:nvSpPr>
          <p:cNvPr id="5" name="Text 3"/>
          <p:cNvSpPr/>
          <p:nvPr/>
        </p:nvSpPr>
        <p:spPr>
          <a:xfrm>
            <a:off x="365760" y="4818888"/>
            <a:ext cx="548640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Week 6 — Real rows from masked CSVs</a:t>
            </a:r>
            <a:endParaRPr lang="en-US" sz="900" dirty="0"/>
          </a:p>
        </p:txBody>
      </p:sp>
      <p:sp>
        <p:nvSpPr>
          <p:cNvPr id="6" name="Text 4"/>
          <p:cNvSpPr/>
          <p:nvPr/>
        </p:nvSpPr>
        <p:spPr>
          <a:xfrm>
            <a:off x="5486400" y="4818888"/>
            <a:ext cx="3291840" cy="30175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FinGuard  •  Weeks 6 + 7</a:t>
            </a:r>
            <a:endParaRPr lang="en-US" sz="900" dirty="0"/>
          </a:p>
        </p:txBody>
      </p:sp>
      <p:sp>
        <p:nvSpPr>
          <p:cNvPr id="7" name="Text 5"/>
          <p:cNvSpPr/>
          <p:nvPr/>
        </p:nvSpPr>
        <p:spPr>
          <a:xfrm>
            <a:off x="365760" y="960120"/>
            <a:ext cx="8229600" cy="228600"/>
          </a:xfrm>
          <a:prstGeom prst="rect">
            <a:avLst/>
          </a:prstGeom>
          <a:noFill/>
          <a:ln/>
        </p:spPr>
        <p:txBody>
          <a:bodyPr wrap="square" lIns="0" tIns="0" rIns="0" bIns="0" rtlCol="0" anchor="ctr"/>
          <a:lstStyle/>
          <a:p>
            <a:pPr marL="0" indent="0">
              <a:buNone/>
            </a:pPr>
            <a:r>
              <a:rPr lang="en-US" sz="1000" b="1" kern="0" spc="300" dirty="0">
                <a:solidFill>
                  <a:srgbClr val="0D9488"/>
                </a:solidFill>
                <a:latin typeface="Calibri" pitchFamily="34" charset="0"/>
                <a:ea typeface="Calibri" pitchFamily="34" charset="-122"/>
                <a:cs typeface="Calibri" pitchFamily="34" charset="-120"/>
              </a:rPr>
              <a:t>BANK MARKETING CUSTOMERS</a:t>
            </a:r>
            <a:endParaRPr lang="en-US" sz="1000" dirty="0"/>
          </a:p>
        </p:txBody>
      </p:sp>
      <p:sp>
        <p:nvSpPr>
          <p:cNvPr id="8" name="Text 6"/>
          <p:cNvSpPr/>
          <p:nvPr/>
        </p:nvSpPr>
        <p:spPr>
          <a:xfrm>
            <a:off x="365760" y="1207008"/>
            <a:ext cx="914400" cy="201168"/>
          </a:xfrm>
          <a:prstGeom prst="rect">
            <a:avLst/>
          </a:prstGeom>
          <a:noFill/>
          <a:ln/>
        </p:spPr>
        <p:txBody>
          <a:bodyPr wrap="square" lIns="0" tIns="0" rIns="0" bIns="0" rtlCol="0" anchor="ctr"/>
          <a:lstStyle/>
          <a:p>
            <a:pPr marL="0" indent="0">
              <a:buNone/>
            </a:pPr>
            <a:r>
              <a:rPr lang="en-US" sz="900" b="1" dirty="0">
                <a:solidFill>
                  <a:srgbClr val="DC2626"/>
                </a:solidFill>
                <a:latin typeface="Calibri" pitchFamily="34" charset="0"/>
                <a:ea typeface="Calibri" pitchFamily="34" charset="-122"/>
                <a:cs typeface="Calibri" pitchFamily="34" charset="-120"/>
              </a:rPr>
              <a:t>BEFORE</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417320"/>
          <a:ext cx="8412480" cy="740664"/>
        </p:xfrm>
        <a:graphic>
          <a:graphicData uri="http://schemas.openxmlformats.org/drawingml/2006/table">
            <a:tbl>
              <a:tblPr/>
              <a:tblGrid>
                <a:gridCol w="1554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tblGrid>
              <a:tr h="246888">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full_name</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email</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phone</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address</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dob</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zip</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46888">
                <a:tc>
                  <a:txBody>
                    <a:bodyPr/>
                    <a:lstStyle/>
                    <a:p>
                      <a:pPr marL="0" indent="0">
                        <a:buNone/>
                      </a:pPr>
                      <a:r>
                        <a:rPr lang="en-US" sz="750" dirty="0">
                          <a:solidFill>
                            <a:srgbClr val="1A2E4A"/>
                          </a:solidFill>
                          <a:latin typeface="Consolas" pitchFamily="34" charset="0"/>
                          <a:ea typeface="Consolas" pitchFamily="34" charset="-122"/>
                          <a:cs typeface="Consolas" pitchFamily="34" charset="-120"/>
                        </a:rPr>
                        <a:t>Trinidad Bou Carrión</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dirty="0">
                          <a:solidFill>
                            <a:srgbClr val="1A2E4A"/>
                          </a:solidFill>
                          <a:latin typeface="Consolas" pitchFamily="34" charset="0"/>
                          <a:ea typeface="Consolas" pitchFamily="34" charset="-122"/>
                          <a:cs typeface="Consolas" pitchFamily="34" charset="-120"/>
                        </a:rPr>
                        <a:t>jessikavogt@…</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dirty="0">
                          <a:solidFill>
                            <a:srgbClr val="1A2E4A"/>
                          </a:solidFill>
                          <a:latin typeface="Consolas" pitchFamily="34" charset="0"/>
                          <a:ea typeface="Consolas" pitchFamily="34" charset="-122"/>
                          <a:cs typeface="Consolas" pitchFamily="34" charset="-120"/>
                        </a:rPr>
                        <a:t>08 07 61 17 57</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dirty="0">
                          <a:solidFill>
                            <a:srgbClr val="1A2E4A"/>
                          </a:solidFill>
                          <a:latin typeface="Consolas" pitchFamily="34" charset="0"/>
                          <a:ea typeface="Consolas" pitchFamily="34" charset="-122"/>
                          <a:cs typeface="Consolas" pitchFamily="34" charset="-120"/>
                        </a:rPr>
                        <a:t>2, avenue Suzanne Lemonnier, Mahe</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dirty="0">
                          <a:solidFill>
                            <a:srgbClr val="1A2E4A"/>
                          </a:solidFill>
                          <a:latin typeface="Consolas" pitchFamily="34" charset="0"/>
                          <a:ea typeface="Consolas" pitchFamily="34" charset="-122"/>
                          <a:cs typeface="Consolas" pitchFamily="34" charset="-120"/>
                        </a:rPr>
                        <a:t>1984-01-25</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dirty="0">
                          <a:solidFill>
                            <a:srgbClr val="1A2E4A"/>
                          </a:solidFill>
                          <a:latin typeface="Consolas" pitchFamily="34" charset="0"/>
                          <a:ea typeface="Consolas" pitchFamily="34" charset="-122"/>
                          <a:cs typeface="Consolas" pitchFamily="34" charset="-120"/>
                        </a:rPr>
                        <a:t>12777</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marL="0" indent="0">
                        <a:buNone/>
                      </a:pPr>
                      <a:r>
                        <a:rPr lang="en-US" sz="750" dirty="0">
                          <a:solidFill>
                            <a:srgbClr val="1A2E4A"/>
                          </a:solidFill>
                          <a:latin typeface="Consolas" pitchFamily="34" charset="0"/>
                          <a:ea typeface="Consolas" pitchFamily="34" charset="-122"/>
                          <a:cs typeface="Consolas" pitchFamily="34" charset="-120"/>
                        </a:rPr>
                        <a:t>Joanna Hill</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dirty="0">
                          <a:solidFill>
                            <a:srgbClr val="1A2E4A"/>
                          </a:solidFill>
                          <a:latin typeface="Consolas" pitchFamily="34" charset="0"/>
                          <a:ea typeface="Consolas" pitchFamily="34" charset="-122"/>
                          <a:cs typeface="Consolas" pitchFamily="34" charset="-120"/>
                        </a:rPr>
                        <a:t>herminio77@…</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dirty="0">
                          <a:solidFill>
                            <a:srgbClr val="1A2E4A"/>
                          </a:solidFill>
                          <a:latin typeface="Consolas" pitchFamily="34" charset="0"/>
                          <a:ea typeface="Consolas" pitchFamily="34" charset="-122"/>
                          <a:cs typeface="Consolas" pitchFamily="34" charset="-120"/>
                        </a:rPr>
                        <a:t>04 70 20 88 80</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dirty="0">
                          <a:solidFill>
                            <a:srgbClr val="1A2E4A"/>
                          </a:solidFill>
                          <a:latin typeface="Consolas" pitchFamily="34" charset="0"/>
                          <a:ea typeface="Consolas" pitchFamily="34" charset="-122"/>
                          <a:cs typeface="Consolas" pitchFamily="34" charset="-120"/>
                        </a:rPr>
                        <a:t>12792 Powell Stream, Williamshire</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dirty="0">
                          <a:solidFill>
                            <a:srgbClr val="1A2E4A"/>
                          </a:solidFill>
                          <a:latin typeface="Consolas" pitchFamily="34" charset="0"/>
                          <a:ea typeface="Consolas" pitchFamily="34" charset="-122"/>
                          <a:cs typeface="Consolas" pitchFamily="34" charset="-120"/>
                        </a:rPr>
                        <a:t>1970-10-23</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dirty="0">
                          <a:solidFill>
                            <a:srgbClr val="1A2E4A"/>
                          </a:solidFill>
                          <a:latin typeface="Consolas" pitchFamily="34" charset="0"/>
                          <a:ea typeface="Consolas" pitchFamily="34" charset="-122"/>
                          <a:cs typeface="Consolas" pitchFamily="34" charset="-120"/>
                        </a:rPr>
                        <a:t>73970</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Text 7"/>
          <p:cNvSpPr/>
          <p:nvPr/>
        </p:nvSpPr>
        <p:spPr>
          <a:xfrm>
            <a:off x="365760" y="2240280"/>
            <a:ext cx="914400" cy="201168"/>
          </a:xfrm>
          <a:prstGeom prst="rect">
            <a:avLst/>
          </a:prstGeom>
          <a:noFill/>
          <a:ln/>
        </p:spPr>
        <p:txBody>
          <a:bodyPr wrap="square" lIns="0" tIns="0" rIns="0" bIns="0"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AFTER</a:t>
            </a:r>
            <a:endParaRPr lang="en-US" sz="9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365760" y="2450592"/>
          <a:ext cx="8412480" cy="740664"/>
        </p:xfrm>
        <a:graphic>
          <a:graphicData uri="http://schemas.openxmlformats.org/drawingml/2006/table">
            <a:tbl>
              <a:tblPr/>
              <a:tblGrid>
                <a:gridCol w="1554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tblGrid>
              <a:tr h="246888">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full_name</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email</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phone</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address</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dob</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zip</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46888">
                <a:tc>
                  <a:txBody>
                    <a:bodyPr/>
                    <a:lstStyle/>
                    <a:p>
                      <a:pPr marL="0" indent="0">
                        <a:buNone/>
                      </a:pPr>
                      <a:r>
                        <a:rPr lang="en-US" sz="750" b="1" dirty="0">
                          <a:solidFill>
                            <a:srgbClr val="0D9488"/>
                          </a:solidFill>
                          <a:latin typeface="Consolas" pitchFamily="34" charset="0"/>
                          <a:ea typeface="Consolas" pitchFamily="34" charset="-122"/>
                          <a:cs typeface="Consolas" pitchFamily="34" charset="-120"/>
                        </a:rPr>
                        <a:t>TOKEN_000001</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b="1" dirty="0">
                          <a:solidFill>
                            <a:srgbClr val="0D9488"/>
                          </a:solidFill>
                          <a:latin typeface="Consolas" pitchFamily="34" charset="0"/>
                          <a:ea typeface="Consolas" pitchFamily="34" charset="-122"/>
                          <a:cs typeface="Consolas" pitchFamily="34" charset="-120"/>
                        </a:rPr>
                        <a:t>e385460970e134bb</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b="1" dirty="0">
                          <a:solidFill>
                            <a:srgbClr val="0D9488"/>
                          </a:solidFill>
                          <a:latin typeface="Consolas" pitchFamily="34" charset="0"/>
                          <a:ea typeface="Consolas" pitchFamily="34" charset="-122"/>
                          <a:cs typeface="Consolas" pitchFamily="34" charset="-120"/>
                        </a:rPr>
                        <a:t>***-***-1757</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b="1" dirty="0">
                          <a:solidFill>
                            <a:srgbClr val="0D9488"/>
                          </a:solidFill>
                          <a:latin typeface="Consolas" pitchFamily="34" charset="0"/>
                          <a:ea typeface="Consolas" pitchFamily="34" charset="-122"/>
                          <a:cs typeface="Consolas" pitchFamily="34" charset="-120"/>
                        </a:rPr>
                        <a:t>avenue Suzanne Lemonnier, Mahe</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b="1" dirty="0">
                          <a:solidFill>
                            <a:srgbClr val="0D9488"/>
                          </a:solidFill>
                          <a:latin typeface="Consolas" pitchFamily="34" charset="0"/>
                          <a:ea typeface="Consolas" pitchFamily="34" charset="-122"/>
                          <a:cs typeface="Consolas" pitchFamily="34" charset="-120"/>
                        </a:rPr>
                        <a:t>40-49</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b="1" dirty="0">
                          <a:solidFill>
                            <a:srgbClr val="0D9488"/>
                          </a:solidFill>
                          <a:latin typeface="Consolas" pitchFamily="34" charset="0"/>
                          <a:ea typeface="Consolas" pitchFamily="34" charset="-122"/>
                          <a:cs typeface="Consolas" pitchFamily="34" charset="-120"/>
                        </a:rPr>
                        <a:t>12777</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marL="0" indent="0">
                        <a:buNone/>
                      </a:pPr>
                      <a:r>
                        <a:rPr lang="en-US" sz="750" b="1" dirty="0">
                          <a:solidFill>
                            <a:srgbClr val="0D9488"/>
                          </a:solidFill>
                          <a:latin typeface="Consolas" pitchFamily="34" charset="0"/>
                          <a:ea typeface="Consolas" pitchFamily="34" charset="-122"/>
                          <a:cs typeface="Consolas" pitchFamily="34" charset="-120"/>
                        </a:rPr>
                        <a:t>TOKEN_000002</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b="1" dirty="0">
                          <a:solidFill>
                            <a:srgbClr val="0D9488"/>
                          </a:solidFill>
                          <a:latin typeface="Consolas" pitchFamily="34" charset="0"/>
                          <a:ea typeface="Consolas" pitchFamily="34" charset="-122"/>
                          <a:cs typeface="Consolas" pitchFamily="34" charset="-120"/>
                        </a:rPr>
                        <a:t>79bc9fd7bd352129</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b="1" dirty="0">
                          <a:solidFill>
                            <a:srgbClr val="0D9488"/>
                          </a:solidFill>
                          <a:latin typeface="Consolas" pitchFamily="34" charset="0"/>
                          <a:ea typeface="Consolas" pitchFamily="34" charset="-122"/>
                          <a:cs typeface="Consolas" pitchFamily="34" charset="-120"/>
                        </a:rPr>
                        <a:t>***-***-8880</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b="1" dirty="0">
                          <a:solidFill>
                            <a:srgbClr val="0D9488"/>
                          </a:solidFill>
                          <a:latin typeface="Consolas" pitchFamily="34" charset="0"/>
                          <a:ea typeface="Consolas" pitchFamily="34" charset="-122"/>
                          <a:cs typeface="Consolas" pitchFamily="34" charset="-120"/>
                        </a:rPr>
                        <a:t>East Williamshire, RI 80349</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b="1" dirty="0">
                          <a:solidFill>
                            <a:srgbClr val="0D9488"/>
                          </a:solidFill>
                          <a:latin typeface="Consolas" pitchFamily="34" charset="0"/>
                          <a:ea typeface="Consolas" pitchFamily="34" charset="-122"/>
                          <a:cs typeface="Consolas" pitchFamily="34" charset="-120"/>
                        </a:rPr>
                        <a:t>50-59</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b="1" dirty="0">
                          <a:solidFill>
                            <a:srgbClr val="0D9488"/>
                          </a:solidFill>
                          <a:latin typeface="Consolas" pitchFamily="34" charset="0"/>
                          <a:ea typeface="Consolas" pitchFamily="34" charset="-122"/>
                          <a:cs typeface="Consolas" pitchFamily="34" charset="-120"/>
                        </a:rPr>
                        <a:t>73970</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Text 8"/>
          <p:cNvSpPr/>
          <p:nvPr/>
        </p:nvSpPr>
        <p:spPr>
          <a:xfrm>
            <a:off x="365760" y="3337560"/>
            <a:ext cx="8229600" cy="228600"/>
          </a:xfrm>
          <a:prstGeom prst="rect">
            <a:avLst/>
          </a:prstGeom>
          <a:noFill/>
          <a:ln/>
        </p:spPr>
        <p:txBody>
          <a:bodyPr wrap="square" lIns="0" tIns="0" rIns="0" bIns="0" rtlCol="0" anchor="ctr"/>
          <a:lstStyle/>
          <a:p>
            <a:pPr marL="0" indent="0">
              <a:buNone/>
            </a:pPr>
            <a:r>
              <a:rPr lang="en-US" sz="1000" b="1" kern="0" spc="300" dirty="0">
                <a:solidFill>
                  <a:srgbClr val="0D9488"/>
                </a:solidFill>
                <a:latin typeface="Calibri" pitchFamily="34" charset="0"/>
                <a:ea typeface="Calibri" pitchFamily="34" charset="-122"/>
                <a:cs typeface="Calibri" pitchFamily="34" charset="-120"/>
              </a:rPr>
              <a:t>SEC EDGAR FILINGS</a:t>
            </a:r>
            <a:endParaRPr lang="en-US" sz="1000" dirty="0"/>
          </a:p>
        </p:txBody>
      </p:sp>
      <p:sp>
        <p:nvSpPr>
          <p:cNvPr id="13" name="Text 9"/>
          <p:cNvSpPr/>
          <p:nvPr/>
        </p:nvSpPr>
        <p:spPr>
          <a:xfrm>
            <a:off x="365760" y="3584448"/>
            <a:ext cx="548640" cy="201168"/>
          </a:xfrm>
          <a:prstGeom prst="rect">
            <a:avLst/>
          </a:prstGeom>
          <a:noFill/>
          <a:ln/>
        </p:spPr>
        <p:txBody>
          <a:bodyPr wrap="square" lIns="0" tIns="0" rIns="0" bIns="0" rtlCol="0" anchor="ctr"/>
          <a:lstStyle/>
          <a:p>
            <a:pPr marL="0" indent="0">
              <a:buNone/>
            </a:pPr>
            <a:r>
              <a:rPr lang="en-US" sz="850" b="1" dirty="0">
                <a:solidFill>
                  <a:srgbClr val="DC2626"/>
                </a:solidFill>
                <a:latin typeface="Calibri" pitchFamily="34" charset="0"/>
                <a:ea typeface="Calibri" pitchFamily="34" charset="-122"/>
                <a:cs typeface="Calibri" pitchFamily="34" charset="-120"/>
              </a:rPr>
              <a:t>BEFORE</a:t>
            </a:r>
            <a:endParaRPr lang="en-US" sz="850" dirty="0"/>
          </a:p>
        </p:txBody>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960120" y="3566160"/>
          <a:ext cx="7818120" cy="457200"/>
        </p:xfrm>
        <a:graphic>
          <a:graphicData uri="http://schemas.openxmlformats.org/drawingml/2006/table">
            <a:tbl>
              <a:tblPr/>
              <a:tblGrid>
                <a:gridCol w="155448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228600">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ceo_name</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headquarters_address</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ein</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28600">
                <a:tc>
                  <a:txBody>
                    <a:bodyPr/>
                    <a:lstStyle/>
                    <a:p>
                      <a:pPr marL="0" indent="0">
                        <a:buNone/>
                      </a:pPr>
                      <a:r>
                        <a:rPr lang="en-US" sz="750" dirty="0">
                          <a:solidFill>
                            <a:srgbClr val="1A2E4A"/>
                          </a:solidFill>
                          <a:latin typeface="Consolas" pitchFamily="34" charset="0"/>
                          <a:ea typeface="Consolas" pitchFamily="34" charset="-122"/>
                          <a:cs typeface="Consolas" pitchFamily="34" charset="-120"/>
                        </a:rPr>
                        <a:t>Allen Aguilar</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dirty="0">
                          <a:solidFill>
                            <a:srgbClr val="1A2E4A"/>
                          </a:solidFill>
                          <a:latin typeface="Consolas" pitchFamily="34" charset="0"/>
                          <a:ea typeface="Consolas" pitchFamily="34" charset="-122"/>
                          <a:cs typeface="Consolas" pitchFamily="34" charset="-120"/>
                        </a:rPr>
                        <a:t>Rotonda Scaramucci, 51, 28857, Santa Maria Maggiore (VB)</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dirty="0">
                          <a:solidFill>
                            <a:srgbClr val="1A2E4A"/>
                          </a:solidFill>
                          <a:latin typeface="Consolas" pitchFamily="34" charset="0"/>
                          <a:ea typeface="Consolas" pitchFamily="34" charset="-122"/>
                          <a:cs typeface="Consolas" pitchFamily="34" charset="-120"/>
                        </a:rPr>
                        <a:t>55-2580427</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5" name="Text 10"/>
          <p:cNvSpPr/>
          <p:nvPr/>
        </p:nvSpPr>
        <p:spPr>
          <a:xfrm>
            <a:off x="365760" y="4069080"/>
            <a:ext cx="548640" cy="201168"/>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AFTER</a:t>
            </a:r>
            <a:endParaRPr lang="en-US" sz="850" dirty="0"/>
          </a:p>
        </p:txBody>
      </p:sp>
      <p:graphicFrame>
        <p:nvGraphicFramePr>
          <p:cNvPr id="33" name="Table 3"/>
          <p:cNvGraphicFramePr>
            <a:graphicFrameLocks noGrp="1"/>
          </p:cNvGraphicFramePr>
          <p:nvPr>
            <p:extLst>
              <p:ext uri="{D42A27DB-BD31-4B8C-83A1-F6EECF244321}">
                <p14:modId xmlns:p14="http://schemas.microsoft.com/office/powerpoint/2010/main" val="1579011935"/>
              </p:ext>
            </p:extLst>
          </p:nvPr>
        </p:nvGraphicFramePr>
        <p:xfrm>
          <a:off x="960120" y="4050792"/>
          <a:ext cx="7818120" cy="457200"/>
        </p:xfrm>
        <a:graphic>
          <a:graphicData uri="http://schemas.openxmlformats.org/drawingml/2006/table">
            <a:tbl>
              <a:tblPr/>
              <a:tblGrid>
                <a:gridCol w="155448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228600">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ceo_name</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headquarters_address</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tc>
                  <a:txBody>
                    <a:bodyPr/>
                    <a:lstStyle/>
                    <a:p>
                      <a:pPr marL="0" indent="0" algn="ctr">
                        <a:buNone/>
                      </a:pPr>
                      <a:r>
                        <a:rPr lang="en-US" sz="750" b="1" dirty="0">
                          <a:solidFill>
                            <a:srgbClr val="FFFFFF"/>
                          </a:solidFill>
                          <a:latin typeface="Consolas" pitchFamily="34" charset="0"/>
                          <a:ea typeface="Consolas" pitchFamily="34" charset="-122"/>
                          <a:cs typeface="Consolas" pitchFamily="34" charset="-120"/>
                        </a:rPr>
                        <a:t>ein</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28600">
                <a:tc>
                  <a:txBody>
                    <a:bodyPr/>
                    <a:lstStyle/>
                    <a:p>
                      <a:pPr marL="0" indent="0">
                        <a:buNone/>
                      </a:pPr>
                      <a:r>
                        <a:rPr lang="en-US" sz="750" b="1" dirty="0">
                          <a:solidFill>
                            <a:srgbClr val="0D9488"/>
                          </a:solidFill>
                          <a:latin typeface="Consolas" pitchFamily="34" charset="0"/>
                          <a:ea typeface="Consolas" pitchFamily="34" charset="-122"/>
                          <a:cs typeface="Consolas" pitchFamily="34" charset="-120"/>
                        </a:rPr>
                        <a:t>TOKEN_000001</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b="1" dirty="0">
                          <a:solidFill>
                            <a:srgbClr val="0D9488"/>
                          </a:solidFill>
                          <a:latin typeface="Consolas" pitchFamily="34" charset="0"/>
                          <a:ea typeface="Consolas" pitchFamily="34" charset="-122"/>
                          <a:cs typeface="Consolas" pitchFamily="34" charset="-120"/>
                        </a:rPr>
                        <a:t>28857, Santa Maria Maggiore (VB)</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750" b="1" dirty="0">
                          <a:solidFill>
                            <a:srgbClr val="0D9488"/>
                          </a:solidFill>
                          <a:latin typeface="Consolas" pitchFamily="34" charset="0"/>
                          <a:ea typeface="Consolas" pitchFamily="34" charset="-122"/>
                          <a:cs typeface="Consolas" pitchFamily="34" charset="-120"/>
                        </a:rPr>
                        <a:t>66-3691538</a:t>
                      </a:r>
                      <a:endParaRPr lang="en-US" sz="75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2F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400" b="1" dirty="0">
                <a:solidFill>
                  <a:srgbClr val="1A2E4A"/>
                </a:solidFill>
                <a:latin typeface="Georgia" pitchFamily="34" charset="0"/>
                <a:ea typeface="Georgia" pitchFamily="34" charset="-122"/>
                <a:cs typeface="Georgia" pitchFamily="34" charset="-120"/>
              </a:rPr>
              <a:t>Reversible Mapping &amp; GDPR Erasure</a:t>
            </a:r>
            <a:endParaRPr lang="en-US" sz="2400" dirty="0"/>
          </a:p>
        </p:txBody>
      </p:sp>
      <p:sp>
        <p:nvSpPr>
          <p:cNvPr id="3" name="Shape 1"/>
          <p:cNvSpPr/>
          <p:nvPr/>
        </p:nvSpPr>
        <p:spPr>
          <a:xfrm>
            <a:off x="457200" y="804672"/>
            <a:ext cx="640080" cy="36576"/>
          </a:xfrm>
          <a:prstGeom prst="rect">
            <a:avLst/>
          </a:prstGeom>
          <a:solidFill>
            <a:srgbClr val="14B8A6"/>
          </a:solidFill>
          <a:ln w="12700">
            <a:solidFill>
              <a:srgbClr val="14B8A6"/>
            </a:solidFill>
            <a:prstDash val="solid"/>
          </a:ln>
        </p:spPr>
      </p:sp>
      <p:sp>
        <p:nvSpPr>
          <p:cNvPr id="4" name="Shape 2"/>
          <p:cNvSpPr/>
          <p:nvPr/>
        </p:nvSpPr>
        <p:spPr>
          <a:xfrm>
            <a:off x="0" y="4800600"/>
            <a:ext cx="9144000" cy="342900"/>
          </a:xfrm>
          <a:prstGeom prst="rect">
            <a:avLst/>
          </a:prstGeom>
          <a:solidFill>
            <a:srgbClr val="0B1F3A"/>
          </a:solidFill>
          <a:ln w="12700">
            <a:solidFill>
              <a:srgbClr val="0B1F3A"/>
            </a:solidFill>
            <a:prstDash val="solid"/>
          </a:ln>
        </p:spPr>
      </p:sp>
      <p:sp>
        <p:nvSpPr>
          <p:cNvPr id="5" name="Text 3"/>
          <p:cNvSpPr/>
          <p:nvPr/>
        </p:nvSpPr>
        <p:spPr>
          <a:xfrm>
            <a:off x="365760" y="4818888"/>
            <a:ext cx="548640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Week 6 — Mapping vault enables data lineage + erasure</a:t>
            </a:r>
            <a:endParaRPr lang="en-US" sz="900" dirty="0"/>
          </a:p>
        </p:txBody>
      </p:sp>
      <p:sp>
        <p:nvSpPr>
          <p:cNvPr id="6" name="Text 4"/>
          <p:cNvSpPr/>
          <p:nvPr/>
        </p:nvSpPr>
        <p:spPr>
          <a:xfrm>
            <a:off x="5486400" y="4818888"/>
            <a:ext cx="3291840" cy="30175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FinGuard  •  Weeks 6 + 7</a:t>
            </a:r>
            <a:endParaRPr lang="en-US" sz="900" dirty="0"/>
          </a:p>
        </p:txBody>
      </p:sp>
      <p:sp>
        <p:nvSpPr>
          <p:cNvPr id="7" name="Shape 5"/>
          <p:cNvSpPr/>
          <p:nvPr/>
        </p:nvSpPr>
        <p:spPr>
          <a:xfrm>
            <a:off x="457200" y="1051560"/>
            <a:ext cx="1783080" cy="868680"/>
          </a:xfrm>
          <a:prstGeom prst="rect">
            <a:avLst/>
          </a:prstGeom>
          <a:solidFill>
            <a:srgbClr val="DC2626"/>
          </a:solidFill>
          <a:ln w="12700">
            <a:solidFill>
              <a:srgbClr val="DC2626"/>
            </a:solidFill>
            <a:prstDash val="solid"/>
          </a:ln>
        </p:spPr>
      </p:sp>
      <p:sp>
        <p:nvSpPr>
          <p:cNvPr id="8" name="Text 6"/>
          <p:cNvSpPr/>
          <p:nvPr/>
        </p:nvSpPr>
        <p:spPr>
          <a:xfrm>
            <a:off x="457200" y="1115568"/>
            <a:ext cx="17830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Source Data</a:t>
            </a:r>
            <a:endParaRPr lang="en-US" sz="1200" dirty="0"/>
          </a:p>
        </p:txBody>
      </p:sp>
      <p:sp>
        <p:nvSpPr>
          <p:cNvPr id="9" name="Text 7"/>
          <p:cNvSpPr/>
          <p:nvPr/>
        </p:nvSpPr>
        <p:spPr>
          <a:xfrm>
            <a:off x="457200" y="1463040"/>
            <a:ext cx="1783080" cy="365760"/>
          </a:xfrm>
          <a:prstGeom prst="rect">
            <a:avLst/>
          </a:prstGeom>
          <a:noFill/>
          <a:ln/>
        </p:spPr>
        <p:txBody>
          <a:bodyPr wrap="square" lIns="0" tIns="0" rIns="0" bIns="0"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Raw PII</a:t>
            </a:r>
            <a:endParaRPr lang="en-US" sz="950" dirty="0"/>
          </a:p>
        </p:txBody>
      </p:sp>
      <p:sp>
        <p:nvSpPr>
          <p:cNvPr id="10" name="Shape 8"/>
          <p:cNvSpPr/>
          <p:nvPr/>
        </p:nvSpPr>
        <p:spPr>
          <a:xfrm>
            <a:off x="2258568" y="1481328"/>
            <a:ext cx="274320" cy="0"/>
          </a:xfrm>
          <a:prstGeom prst="line">
            <a:avLst/>
          </a:prstGeom>
          <a:noFill/>
          <a:ln w="25400">
            <a:solidFill>
              <a:srgbClr val="1A2E4A"/>
            </a:solidFill>
            <a:prstDash val="solid"/>
            <a:tailEnd type="triangle"/>
          </a:ln>
        </p:spPr>
      </p:sp>
      <p:sp>
        <p:nvSpPr>
          <p:cNvPr id="11" name="Shape 9"/>
          <p:cNvSpPr/>
          <p:nvPr/>
        </p:nvSpPr>
        <p:spPr>
          <a:xfrm>
            <a:off x="2560320" y="1051560"/>
            <a:ext cx="1783080" cy="868680"/>
          </a:xfrm>
          <a:prstGeom prst="rect">
            <a:avLst/>
          </a:prstGeom>
          <a:solidFill>
            <a:srgbClr val="F59E0B"/>
          </a:solidFill>
          <a:ln w="12700">
            <a:solidFill>
              <a:srgbClr val="F59E0B"/>
            </a:solidFill>
            <a:prstDash val="solid"/>
          </a:ln>
        </p:spPr>
      </p:sp>
      <p:sp>
        <p:nvSpPr>
          <p:cNvPr id="12" name="Text 10"/>
          <p:cNvSpPr/>
          <p:nvPr/>
        </p:nvSpPr>
        <p:spPr>
          <a:xfrm>
            <a:off x="2560320" y="1115568"/>
            <a:ext cx="17830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Masking Engine</a:t>
            </a:r>
            <a:endParaRPr lang="en-US" sz="1200" dirty="0"/>
          </a:p>
        </p:txBody>
      </p:sp>
      <p:sp>
        <p:nvSpPr>
          <p:cNvPr id="13" name="Text 11"/>
          <p:cNvSpPr/>
          <p:nvPr/>
        </p:nvSpPr>
        <p:spPr>
          <a:xfrm>
            <a:off x="2560320" y="1463040"/>
            <a:ext cx="1783080" cy="365760"/>
          </a:xfrm>
          <a:prstGeom prst="rect">
            <a:avLst/>
          </a:prstGeom>
          <a:noFill/>
          <a:ln/>
        </p:spPr>
        <p:txBody>
          <a:bodyPr wrap="square" lIns="0" tIns="0" rIns="0" bIns="0"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6 methods</a:t>
            </a:r>
            <a:endParaRPr lang="en-US" sz="950" dirty="0"/>
          </a:p>
        </p:txBody>
      </p:sp>
      <p:sp>
        <p:nvSpPr>
          <p:cNvPr id="14" name="Shape 12"/>
          <p:cNvSpPr/>
          <p:nvPr/>
        </p:nvSpPr>
        <p:spPr>
          <a:xfrm>
            <a:off x="4361688" y="1481328"/>
            <a:ext cx="274320" cy="0"/>
          </a:xfrm>
          <a:prstGeom prst="line">
            <a:avLst/>
          </a:prstGeom>
          <a:noFill/>
          <a:ln w="25400">
            <a:solidFill>
              <a:srgbClr val="1A2E4A"/>
            </a:solidFill>
            <a:prstDash val="solid"/>
            <a:tailEnd type="triangle"/>
          </a:ln>
        </p:spPr>
      </p:sp>
      <p:sp>
        <p:nvSpPr>
          <p:cNvPr id="15" name="Shape 13"/>
          <p:cNvSpPr/>
          <p:nvPr/>
        </p:nvSpPr>
        <p:spPr>
          <a:xfrm>
            <a:off x="4663440" y="1051560"/>
            <a:ext cx="1783080" cy="868680"/>
          </a:xfrm>
          <a:prstGeom prst="rect">
            <a:avLst/>
          </a:prstGeom>
          <a:solidFill>
            <a:srgbClr val="0D9488"/>
          </a:solidFill>
          <a:ln w="12700">
            <a:solidFill>
              <a:srgbClr val="0D9488"/>
            </a:solidFill>
            <a:prstDash val="solid"/>
          </a:ln>
        </p:spPr>
      </p:sp>
      <p:sp>
        <p:nvSpPr>
          <p:cNvPr id="16" name="Text 14"/>
          <p:cNvSpPr/>
          <p:nvPr/>
        </p:nvSpPr>
        <p:spPr>
          <a:xfrm>
            <a:off x="4663440" y="1115568"/>
            <a:ext cx="17830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Masked Data</a:t>
            </a:r>
            <a:endParaRPr lang="en-US" sz="1200" dirty="0"/>
          </a:p>
        </p:txBody>
      </p:sp>
      <p:sp>
        <p:nvSpPr>
          <p:cNvPr id="17" name="Text 15"/>
          <p:cNvSpPr/>
          <p:nvPr/>
        </p:nvSpPr>
        <p:spPr>
          <a:xfrm>
            <a:off x="4663440" y="1463040"/>
            <a:ext cx="1783080" cy="365760"/>
          </a:xfrm>
          <a:prstGeom prst="rect">
            <a:avLst/>
          </a:prstGeom>
          <a:noFill/>
          <a:ln/>
        </p:spPr>
        <p:txBody>
          <a:bodyPr wrap="square" lIns="0" tIns="0" rIns="0" bIns="0"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Production</a:t>
            </a:r>
            <a:endParaRPr lang="en-US" sz="950" dirty="0"/>
          </a:p>
        </p:txBody>
      </p:sp>
      <p:sp>
        <p:nvSpPr>
          <p:cNvPr id="18" name="Shape 16"/>
          <p:cNvSpPr/>
          <p:nvPr/>
        </p:nvSpPr>
        <p:spPr>
          <a:xfrm>
            <a:off x="6464808" y="1481328"/>
            <a:ext cx="274320" cy="0"/>
          </a:xfrm>
          <a:prstGeom prst="line">
            <a:avLst/>
          </a:prstGeom>
          <a:noFill/>
          <a:ln w="25400">
            <a:solidFill>
              <a:srgbClr val="1A2E4A"/>
            </a:solidFill>
            <a:prstDash val="solid"/>
            <a:tailEnd type="triangle"/>
          </a:ln>
        </p:spPr>
      </p:sp>
      <p:sp>
        <p:nvSpPr>
          <p:cNvPr id="19" name="Shape 17"/>
          <p:cNvSpPr/>
          <p:nvPr/>
        </p:nvSpPr>
        <p:spPr>
          <a:xfrm>
            <a:off x="6766560" y="1051560"/>
            <a:ext cx="1783080" cy="868680"/>
          </a:xfrm>
          <a:prstGeom prst="rect">
            <a:avLst/>
          </a:prstGeom>
          <a:solidFill>
            <a:srgbClr val="0B1F3A"/>
          </a:solidFill>
          <a:ln w="12700">
            <a:solidFill>
              <a:srgbClr val="0B1F3A"/>
            </a:solidFill>
            <a:prstDash val="solid"/>
          </a:ln>
        </p:spPr>
      </p:sp>
      <p:sp>
        <p:nvSpPr>
          <p:cNvPr id="20" name="Text 18"/>
          <p:cNvSpPr/>
          <p:nvPr/>
        </p:nvSpPr>
        <p:spPr>
          <a:xfrm>
            <a:off x="6766560" y="1115568"/>
            <a:ext cx="17830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Mapping Vault</a:t>
            </a:r>
            <a:endParaRPr lang="en-US" sz="1200" dirty="0"/>
          </a:p>
        </p:txBody>
      </p:sp>
      <p:sp>
        <p:nvSpPr>
          <p:cNvPr id="21" name="Text 19"/>
          <p:cNvSpPr/>
          <p:nvPr/>
        </p:nvSpPr>
        <p:spPr>
          <a:xfrm>
            <a:off x="6766560" y="1463040"/>
            <a:ext cx="1783080" cy="365760"/>
          </a:xfrm>
          <a:prstGeom prst="rect">
            <a:avLst/>
          </a:prstGeom>
          <a:noFill/>
          <a:ln/>
        </p:spPr>
        <p:txBody>
          <a:bodyPr wrap="square" lIns="0" tIns="0" rIns="0" bIns="0"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AES-256 encrypted</a:t>
            </a:r>
            <a:endParaRPr lang="en-US" sz="950" dirty="0"/>
          </a:p>
        </p:txBody>
      </p:sp>
      <p:sp>
        <p:nvSpPr>
          <p:cNvPr id="22" name="Shape 20"/>
          <p:cNvSpPr/>
          <p:nvPr/>
        </p:nvSpPr>
        <p:spPr>
          <a:xfrm>
            <a:off x="4663440" y="2148840"/>
            <a:ext cx="0" cy="0"/>
          </a:xfrm>
          <a:prstGeom prst="line">
            <a:avLst/>
          </a:prstGeom>
          <a:noFill/>
          <a:ln w="25400">
            <a:solidFill>
              <a:srgbClr val="DC2626"/>
            </a:solidFill>
            <a:prstDash val="dash"/>
            <a:tailEnd type="triangle"/>
          </a:ln>
        </p:spPr>
      </p:sp>
      <p:sp>
        <p:nvSpPr>
          <p:cNvPr id="23" name="Text 21"/>
          <p:cNvSpPr/>
          <p:nvPr/>
        </p:nvSpPr>
        <p:spPr>
          <a:xfrm>
            <a:off x="2377440" y="2194560"/>
            <a:ext cx="4297680" cy="274320"/>
          </a:xfrm>
          <a:prstGeom prst="rect">
            <a:avLst/>
          </a:prstGeom>
          <a:noFill/>
          <a:ln/>
        </p:spPr>
        <p:txBody>
          <a:bodyPr wrap="square" lIns="0" tIns="0" rIns="0" bIns="0" rtlCol="0" anchor="ctr"/>
          <a:lstStyle/>
          <a:p>
            <a:pPr marL="0" indent="0" algn="ctr">
              <a:buNone/>
            </a:pPr>
            <a:r>
              <a:rPr lang="en-US" sz="950" i="1" dirty="0">
                <a:solidFill>
                  <a:srgbClr val="DC2626"/>
                </a:solidFill>
                <a:latin typeface="Calibri" pitchFamily="34" charset="0"/>
                <a:ea typeface="Calibri" pitchFamily="34" charset="-122"/>
                <a:cs typeface="Calibri" pitchFamily="34" charset="-120"/>
              </a:rPr>
              <a:t>Reverse lookup for GDPR erasure</a:t>
            </a:r>
            <a:endParaRPr lang="en-US" sz="950" dirty="0"/>
          </a:p>
        </p:txBody>
      </p:sp>
      <p:sp>
        <p:nvSpPr>
          <p:cNvPr id="24" name="Shape 22"/>
          <p:cNvSpPr/>
          <p:nvPr/>
        </p:nvSpPr>
        <p:spPr>
          <a:xfrm>
            <a:off x="365760" y="2743200"/>
            <a:ext cx="2679192" cy="1783080"/>
          </a:xfrm>
          <a:prstGeom prst="rect">
            <a:avLst/>
          </a:prstGeom>
          <a:solidFill>
            <a:srgbClr val="FFFFFF"/>
          </a:solidFill>
          <a:ln w="12700">
            <a:solidFill>
              <a:srgbClr val="E5E7EB"/>
            </a:solidFill>
            <a:prstDash val="solid"/>
          </a:ln>
        </p:spPr>
      </p:sp>
      <p:sp>
        <p:nvSpPr>
          <p:cNvPr id="25" name="Shape 23"/>
          <p:cNvSpPr/>
          <p:nvPr/>
        </p:nvSpPr>
        <p:spPr>
          <a:xfrm>
            <a:off x="365760" y="2743200"/>
            <a:ext cx="2679192" cy="73152"/>
          </a:xfrm>
          <a:prstGeom prst="rect">
            <a:avLst/>
          </a:prstGeom>
          <a:solidFill>
            <a:srgbClr val="0D9488"/>
          </a:solidFill>
          <a:ln w="12700">
            <a:solidFill>
              <a:srgbClr val="0D9488"/>
            </a:solidFill>
            <a:prstDash val="solid"/>
          </a:ln>
        </p:spPr>
      </p:sp>
      <p:sp>
        <p:nvSpPr>
          <p:cNvPr id="26" name="Text 24"/>
          <p:cNvSpPr/>
          <p:nvPr/>
        </p:nvSpPr>
        <p:spPr>
          <a:xfrm>
            <a:off x="548640" y="2880360"/>
            <a:ext cx="2377440" cy="274320"/>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FORWARD MAP</a:t>
            </a:r>
            <a:endParaRPr lang="en-US" sz="1100" dirty="0"/>
          </a:p>
        </p:txBody>
      </p:sp>
      <p:sp>
        <p:nvSpPr>
          <p:cNvPr id="27" name="Text 25"/>
          <p:cNvSpPr/>
          <p:nvPr/>
        </p:nvSpPr>
        <p:spPr>
          <a:xfrm>
            <a:off x="548640" y="3200400"/>
            <a:ext cx="2377440" cy="128016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Original → Masked</a:t>
            </a:r>
            <a:endParaRPr lang="en-US" sz="1050" dirty="0"/>
          </a:p>
          <a:p>
            <a:pPr marL="0" indent="0">
              <a:buNone/>
            </a:pPr>
            <a:r>
              <a:rPr lang="en-US" sz="1050" dirty="0">
                <a:solidFill>
                  <a:srgbClr val="475569"/>
                </a:solidFill>
                <a:latin typeface="Calibri" pitchFamily="34" charset="0"/>
                <a:ea typeface="Calibri" pitchFamily="34" charset="-122"/>
                <a:cs typeface="Calibri" pitchFamily="34" charset="-120"/>
              </a:rPr>
              <a:t>(e.g., "John Smith" → "TOKEN_000042")</a:t>
            </a:r>
            <a:endParaRPr lang="en-US" sz="1050" dirty="0"/>
          </a:p>
          <a:p>
            <a:pPr marL="0" indent="0">
              <a:buNone/>
            </a:pPr>
            <a:r>
              <a:rPr lang="en-US" sz="1050" dirty="0">
                <a:solidFill>
                  <a:srgbClr val="475569"/>
                </a:solidFill>
                <a:latin typeface="Calibri" pitchFamily="34" charset="0"/>
                <a:ea typeface="Calibri" pitchFamily="34" charset="-122"/>
                <a:cs typeface="Calibri" pitchFamily="34" charset="-120"/>
              </a:rPr>
              <a:t>Used during ingestion.</a:t>
            </a:r>
            <a:endParaRPr lang="en-US" sz="1050" dirty="0"/>
          </a:p>
        </p:txBody>
      </p:sp>
      <p:sp>
        <p:nvSpPr>
          <p:cNvPr id="28" name="Shape 26"/>
          <p:cNvSpPr/>
          <p:nvPr/>
        </p:nvSpPr>
        <p:spPr>
          <a:xfrm>
            <a:off x="3172968" y="2743200"/>
            <a:ext cx="2679192" cy="1783080"/>
          </a:xfrm>
          <a:prstGeom prst="rect">
            <a:avLst/>
          </a:prstGeom>
          <a:solidFill>
            <a:srgbClr val="FFFFFF"/>
          </a:solidFill>
          <a:ln w="12700">
            <a:solidFill>
              <a:srgbClr val="E5E7EB"/>
            </a:solidFill>
            <a:prstDash val="solid"/>
          </a:ln>
        </p:spPr>
      </p:sp>
      <p:sp>
        <p:nvSpPr>
          <p:cNvPr id="29" name="Shape 27"/>
          <p:cNvSpPr/>
          <p:nvPr/>
        </p:nvSpPr>
        <p:spPr>
          <a:xfrm>
            <a:off x="3172968" y="2743200"/>
            <a:ext cx="2679192" cy="73152"/>
          </a:xfrm>
          <a:prstGeom prst="rect">
            <a:avLst/>
          </a:prstGeom>
          <a:solidFill>
            <a:srgbClr val="0D9488"/>
          </a:solidFill>
          <a:ln w="12700">
            <a:solidFill>
              <a:srgbClr val="0D9488"/>
            </a:solidFill>
            <a:prstDash val="solid"/>
          </a:ln>
        </p:spPr>
      </p:sp>
      <p:sp>
        <p:nvSpPr>
          <p:cNvPr id="30" name="Text 28"/>
          <p:cNvSpPr/>
          <p:nvPr/>
        </p:nvSpPr>
        <p:spPr>
          <a:xfrm>
            <a:off x="3355848" y="2880360"/>
            <a:ext cx="2377440" cy="274320"/>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REVERSE MAP</a:t>
            </a:r>
            <a:endParaRPr lang="en-US" sz="1100" dirty="0"/>
          </a:p>
        </p:txBody>
      </p:sp>
      <p:sp>
        <p:nvSpPr>
          <p:cNvPr id="31" name="Text 29"/>
          <p:cNvSpPr/>
          <p:nvPr/>
        </p:nvSpPr>
        <p:spPr>
          <a:xfrm>
            <a:off x="3355848" y="3200400"/>
            <a:ext cx="2377440" cy="128016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Masked → Original</a:t>
            </a:r>
            <a:endParaRPr lang="en-US" sz="1050" dirty="0"/>
          </a:p>
          <a:p>
            <a:pPr marL="0" indent="0">
              <a:buNone/>
            </a:pPr>
            <a:r>
              <a:rPr lang="en-US" sz="1050" dirty="0">
                <a:solidFill>
                  <a:srgbClr val="475569"/>
                </a:solidFill>
                <a:latin typeface="Calibri" pitchFamily="34" charset="0"/>
                <a:ea typeface="Calibri" pitchFamily="34" charset="-122"/>
                <a:cs typeface="Calibri" pitchFamily="34" charset="-120"/>
              </a:rPr>
              <a:t>(e.g., "TOKEN_000042" → "John Smith")</a:t>
            </a:r>
            <a:endParaRPr lang="en-US" sz="1050" dirty="0"/>
          </a:p>
          <a:p>
            <a:pPr marL="0" indent="0">
              <a:buNone/>
            </a:pPr>
            <a:r>
              <a:rPr lang="en-US" sz="1050" dirty="0">
                <a:solidFill>
                  <a:srgbClr val="475569"/>
                </a:solidFill>
                <a:latin typeface="Calibri" pitchFamily="34" charset="0"/>
                <a:ea typeface="Calibri" pitchFamily="34" charset="-122"/>
                <a:cs typeface="Calibri" pitchFamily="34" charset="-120"/>
              </a:rPr>
              <a:t>Used for GDPR erasure + lineage.</a:t>
            </a:r>
            <a:endParaRPr lang="en-US" sz="1050" dirty="0"/>
          </a:p>
        </p:txBody>
      </p:sp>
      <p:sp>
        <p:nvSpPr>
          <p:cNvPr id="32" name="Shape 30"/>
          <p:cNvSpPr/>
          <p:nvPr/>
        </p:nvSpPr>
        <p:spPr>
          <a:xfrm>
            <a:off x="5980176" y="2743200"/>
            <a:ext cx="2679192" cy="1783080"/>
          </a:xfrm>
          <a:prstGeom prst="rect">
            <a:avLst/>
          </a:prstGeom>
          <a:solidFill>
            <a:srgbClr val="FFFFFF"/>
          </a:solidFill>
          <a:ln w="12700">
            <a:solidFill>
              <a:srgbClr val="E5E7EB"/>
            </a:solidFill>
            <a:prstDash val="solid"/>
          </a:ln>
        </p:spPr>
      </p:sp>
      <p:sp>
        <p:nvSpPr>
          <p:cNvPr id="33" name="Shape 31"/>
          <p:cNvSpPr/>
          <p:nvPr/>
        </p:nvSpPr>
        <p:spPr>
          <a:xfrm>
            <a:off x="5980176" y="2743200"/>
            <a:ext cx="2679192" cy="73152"/>
          </a:xfrm>
          <a:prstGeom prst="rect">
            <a:avLst/>
          </a:prstGeom>
          <a:solidFill>
            <a:srgbClr val="0D9488"/>
          </a:solidFill>
          <a:ln w="12700">
            <a:solidFill>
              <a:srgbClr val="0D9488"/>
            </a:solidFill>
            <a:prstDash val="solid"/>
          </a:ln>
        </p:spPr>
      </p:sp>
      <p:sp>
        <p:nvSpPr>
          <p:cNvPr id="34" name="Text 32"/>
          <p:cNvSpPr/>
          <p:nvPr/>
        </p:nvSpPr>
        <p:spPr>
          <a:xfrm>
            <a:off x="6163056" y="2880360"/>
            <a:ext cx="2377440" cy="274320"/>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GDPR ERASURE</a:t>
            </a:r>
            <a:endParaRPr lang="en-US" sz="1100" dirty="0"/>
          </a:p>
        </p:txBody>
      </p:sp>
      <p:sp>
        <p:nvSpPr>
          <p:cNvPr id="35" name="Text 33"/>
          <p:cNvSpPr/>
          <p:nvPr/>
        </p:nvSpPr>
        <p:spPr>
          <a:xfrm>
            <a:off x="6163056" y="3200400"/>
            <a:ext cx="2377440" cy="128016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Reverse lookup finds all masked records</a:t>
            </a:r>
            <a:endParaRPr lang="en-US" sz="1050" dirty="0"/>
          </a:p>
          <a:p>
            <a:pPr marL="0" indent="0">
              <a:buNone/>
            </a:pPr>
            <a:r>
              <a:rPr lang="en-US" sz="1050" dirty="0">
                <a:solidFill>
                  <a:srgbClr val="475569"/>
                </a:solidFill>
                <a:latin typeface="Calibri" pitchFamily="34" charset="0"/>
                <a:ea typeface="Calibri" pitchFamily="34" charset="-122"/>
                <a:cs typeface="Calibri" pitchFamily="34" charset="-120"/>
              </a:rPr>
              <a:t>→ cascade delete across all tables</a:t>
            </a:r>
            <a:endParaRPr lang="en-US" sz="1050" dirty="0"/>
          </a:p>
          <a:p>
            <a:pPr marL="0" indent="0">
              <a:buNone/>
            </a:pPr>
            <a:r>
              <a:rPr lang="en-US" sz="1050" dirty="0">
                <a:solidFill>
                  <a:srgbClr val="475569"/>
                </a:solidFill>
                <a:latin typeface="Calibri" pitchFamily="34" charset="0"/>
                <a:ea typeface="Calibri" pitchFamily="34" charset="-122"/>
                <a:cs typeface="Calibri" pitchFamily="34" charset="-120"/>
              </a:rPr>
              <a:t>→ logged in audit.pii_access_log.</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400" b="1" dirty="0">
                <a:solidFill>
                  <a:srgbClr val="1A2E4A"/>
                </a:solidFill>
                <a:latin typeface="Georgia" pitchFamily="34" charset="0"/>
                <a:ea typeface="Georgia" pitchFamily="34" charset="-122"/>
                <a:cs typeface="Georgia" pitchFamily="34" charset="-120"/>
              </a:rPr>
              <a:t>RACI Matrix — Who Owns What</a:t>
            </a:r>
            <a:endParaRPr lang="en-US" sz="2400" dirty="0"/>
          </a:p>
        </p:txBody>
      </p:sp>
      <p:sp>
        <p:nvSpPr>
          <p:cNvPr id="3" name="Shape 1"/>
          <p:cNvSpPr/>
          <p:nvPr/>
        </p:nvSpPr>
        <p:spPr>
          <a:xfrm>
            <a:off x="457200" y="804672"/>
            <a:ext cx="640080" cy="36576"/>
          </a:xfrm>
          <a:prstGeom prst="rect">
            <a:avLst/>
          </a:prstGeom>
          <a:solidFill>
            <a:srgbClr val="14B8A6"/>
          </a:solidFill>
          <a:ln w="12700">
            <a:solidFill>
              <a:srgbClr val="14B8A6"/>
            </a:solidFill>
            <a:prstDash val="solid"/>
          </a:ln>
        </p:spPr>
      </p:sp>
      <p:sp>
        <p:nvSpPr>
          <p:cNvPr id="4" name="Shape 2"/>
          <p:cNvSpPr/>
          <p:nvPr/>
        </p:nvSpPr>
        <p:spPr>
          <a:xfrm>
            <a:off x="0" y="4800600"/>
            <a:ext cx="9144000" cy="342900"/>
          </a:xfrm>
          <a:prstGeom prst="rect">
            <a:avLst/>
          </a:prstGeom>
          <a:solidFill>
            <a:srgbClr val="0B1F3A"/>
          </a:solidFill>
          <a:ln w="12700">
            <a:solidFill>
              <a:srgbClr val="0B1F3A"/>
            </a:solidFill>
            <a:prstDash val="solid"/>
          </a:ln>
        </p:spPr>
      </p:sp>
      <p:sp>
        <p:nvSpPr>
          <p:cNvPr id="5" name="Text 3"/>
          <p:cNvSpPr/>
          <p:nvPr/>
        </p:nvSpPr>
        <p:spPr>
          <a:xfrm>
            <a:off x="365760" y="4818888"/>
            <a:ext cx="548640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Week 7 — Accountability across 8 governance activities</a:t>
            </a:r>
            <a:endParaRPr lang="en-US" sz="900" dirty="0"/>
          </a:p>
        </p:txBody>
      </p:sp>
      <p:sp>
        <p:nvSpPr>
          <p:cNvPr id="6" name="Text 4"/>
          <p:cNvSpPr/>
          <p:nvPr/>
        </p:nvSpPr>
        <p:spPr>
          <a:xfrm>
            <a:off x="5486400" y="4818888"/>
            <a:ext cx="3291840" cy="30175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FinGuard  •  Weeks 6 + 7</a:t>
            </a:r>
            <a:endParaRPr lang="en-US" sz="900" dirty="0"/>
          </a:p>
        </p:txBody>
      </p:sp>
      <p:sp>
        <p:nvSpPr>
          <p:cNvPr id="7" name="Text 5"/>
          <p:cNvSpPr/>
          <p:nvPr/>
        </p:nvSpPr>
        <p:spPr>
          <a:xfrm>
            <a:off x="365760" y="914400"/>
            <a:ext cx="8229600" cy="27432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R = Responsible   •   A = Accountable   •   C = Consulted   •   I = Informed</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2962656"/>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329184">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Activity</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CDO</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DPO</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Compliance</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Data Eng</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Analyst</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Ext Auditor</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329184">
                <a:tc>
                  <a:txBody>
                    <a:bodyPr/>
                    <a:lstStyle/>
                    <a:p>
                      <a:pPr marL="0" indent="0">
                        <a:buNone/>
                      </a:pPr>
                      <a:r>
                        <a:rPr lang="en-US" sz="1000" dirty="0">
                          <a:solidFill>
                            <a:srgbClr val="1A2E4A"/>
                          </a:solidFill>
                          <a:latin typeface="Calibri" pitchFamily="34" charset="0"/>
                          <a:ea typeface="Calibri" pitchFamily="34" charset="-122"/>
                          <a:cs typeface="Calibri" pitchFamily="34" charset="-120"/>
                        </a:rPr>
                        <a:t>Data Quality Fixes</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D948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DC2626"/>
                    </a:solidFill>
                  </a:tcPr>
                </a:tc>
                <a:tc>
                  <a:txBody>
                    <a:bodyPr/>
                    <a:lstStyle/>
                    <a:p>
                      <a:pPr marL="0" indent="0" algn="ctr">
                        <a:buNone/>
                      </a:pPr>
                      <a:r>
                        <a:rPr lang="en-US" sz="1000" b="1" dirty="0">
                          <a:solidFill>
                            <a:srgbClr val="1A2E4A"/>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extLst>
                  <a:ext uri="{0D108BD9-81ED-4DB2-BD59-A6C34878D82A}">
                    <a16:rowId xmlns:a16="http://schemas.microsoft.com/office/drawing/2014/main" val="10001"/>
                  </a:ext>
                </a:extLst>
              </a:tr>
              <a:tr h="329184">
                <a:tc>
                  <a:txBody>
                    <a:bodyPr/>
                    <a:lstStyle/>
                    <a:p>
                      <a:pPr marL="0" indent="0">
                        <a:buNone/>
                      </a:pPr>
                      <a:r>
                        <a:rPr lang="en-US" sz="1000" dirty="0">
                          <a:solidFill>
                            <a:srgbClr val="1A2E4A"/>
                          </a:solidFill>
                          <a:latin typeface="Calibri" pitchFamily="34" charset="0"/>
                          <a:ea typeface="Calibri" pitchFamily="34" charset="-122"/>
                          <a:cs typeface="Calibri" pitchFamily="34" charset="-120"/>
                        </a:rPr>
                        <a:t>PII Identification</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D948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DC2626"/>
                    </a:solidFill>
                  </a:tcPr>
                </a:tc>
                <a:tc>
                  <a:txBody>
                    <a:bodyPr/>
                    <a:lstStyle/>
                    <a:p>
                      <a:pPr marL="0" indent="0" algn="ctr">
                        <a:buNone/>
                      </a:pPr>
                      <a:r>
                        <a:rPr lang="en-US" sz="1000" b="1" dirty="0">
                          <a:solidFill>
                            <a:srgbClr val="1A2E4A"/>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b="1" dirty="0">
                          <a:solidFill>
                            <a:srgbClr val="1A2E4A"/>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EF3C7"/>
                    </a:solidFill>
                  </a:tcPr>
                </a:tc>
                <a:extLst>
                  <a:ext uri="{0D108BD9-81ED-4DB2-BD59-A6C34878D82A}">
                    <a16:rowId xmlns:a16="http://schemas.microsoft.com/office/drawing/2014/main" val="10002"/>
                  </a:ext>
                </a:extLst>
              </a:tr>
              <a:tr h="329184">
                <a:tc>
                  <a:txBody>
                    <a:bodyPr/>
                    <a:lstStyle/>
                    <a:p>
                      <a:pPr marL="0" indent="0">
                        <a:buNone/>
                      </a:pPr>
                      <a:r>
                        <a:rPr lang="en-US" sz="1000" dirty="0">
                          <a:solidFill>
                            <a:srgbClr val="1A2E4A"/>
                          </a:solidFill>
                          <a:latin typeface="Calibri" pitchFamily="34" charset="0"/>
                          <a:ea typeface="Calibri" pitchFamily="34" charset="-122"/>
                          <a:cs typeface="Calibri" pitchFamily="34" charset="-120"/>
                        </a:rPr>
                        <a:t>Masking Implementation</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D9488"/>
                    </a:solidFill>
                  </a:tcPr>
                </a:tc>
                <a:tc>
                  <a:txBody>
                    <a:bodyPr/>
                    <a:lstStyle/>
                    <a:p>
                      <a:pPr marL="0" indent="0" algn="ctr">
                        <a:buNone/>
                      </a:pPr>
                      <a:r>
                        <a:rPr lang="en-US" sz="1000" b="1" dirty="0">
                          <a:solidFill>
                            <a:srgbClr val="1A2E4A"/>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DC2626"/>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extLst>
                  <a:ext uri="{0D108BD9-81ED-4DB2-BD59-A6C34878D82A}">
                    <a16:rowId xmlns:a16="http://schemas.microsoft.com/office/drawing/2014/main" val="10003"/>
                  </a:ext>
                </a:extLst>
              </a:tr>
              <a:tr h="329184">
                <a:tc>
                  <a:txBody>
                    <a:bodyPr/>
                    <a:lstStyle/>
                    <a:p>
                      <a:pPr marL="0" indent="0">
                        <a:buNone/>
                      </a:pPr>
                      <a:r>
                        <a:rPr lang="en-US" sz="1000" dirty="0">
                          <a:solidFill>
                            <a:srgbClr val="1A2E4A"/>
                          </a:solidFill>
                          <a:latin typeface="Calibri" pitchFamily="34" charset="0"/>
                          <a:ea typeface="Calibri" pitchFamily="34" charset="-122"/>
                          <a:cs typeface="Calibri" pitchFamily="34" charset="-120"/>
                        </a:rPr>
                        <a:t>GDPR Erasure Execution</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DC2626"/>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D9488"/>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329184">
                <a:tc>
                  <a:txBody>
                    <a:bodyPr/>
                    <a:lstStyle/>
                    <a:p>
                      <a:pPr marL="0" indent="0">
                        <a:buNone/>
                      </a:pPr>
                      <a:r>
                        <a:rPr lang="en-US" sz="1000" dirty="0">
                          <a:solidFill>
                            <a:srgbClr val="1A2E4A"/>
                          </a:solidFill>
                          <a:latin typeface="Calibri" pitchFamily="34" charset="0"/>
                          <a:ea typeface="Calibri" pitchFamily="34" charset="-122"/>
                          <a:cs typeface="Calibri" pitchFamily="34" charset="-120"/>
                        </a:rPr>
                        <a:t>AML Investigation</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b="1" dirty="0">
                          <a:solidFill>
                            <a:srgbClr val="1A2E4A"/>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DC2626"/>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D9488"/>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extLst>
                  <a:ext uri="{0D108BD9-81ED-4DB2-BD59-A6C34878D82A}">
                    <a16:rowId xmlns:a16="http://schemas.microsoft.com/office/drawing/2014/main" val="10005"/>
                  </a:ext>
                </a:extLst>
              </a:tr>
              <a:tr h="329184">
                <a:tc>
                  <a:txBody>
                    <a:bodyPr/>
                    <a:lstStyle/>
                    <a:p>
                      <a:pPr marL="0" indent="0">
                        <a:buNone/>
                      </a:pPr>
                      <a:r>
                        <a:rPr lang="en-US" sz="1000" dirty="0">
                          <a:solidFill>
                            <a:srgbClr val="1A2E4A"/>
                          </a:solidFill>
                          <a:latin typeface="Calibri" pitchFamily="34" charset="0"/>
                          <a:ea typeface="Calibri" pitchFamily="34" charset="-122"/>
                          <a:cs typeface="Calibri" pitchFamily="34" charset="-120"/>
                        </a:rPr>
                        <a:t>RBAC Role Assignment</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D948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DC2626"/>
                    </a:solidFill>
                  </a:tcPr>
                </a:tc>
                <a:tc>
                  <a:txBody>
                    <a:bodyPr/>
                    <a:lstStyle/>
                    <a:p>
                      <a:pPr marL="0" indent="0" algn="ctr">
                        <a:buNone/>
                      </a:pPr>
                      <a:r>
                        <a:rPr lang="en-US" sz="1000" b="1" dirty="0">
                          <a:solidFill>
                            <a:srgbClr val="1A2E4A"/>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1000" b="1" dirty="0">
                          <a:solidFill>
                            <a:srgbClr val="1A2E4A"/>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329184">
                <a:tc>
                  <a:txBody>
                    <a:bodyPr/>
                    <a:lstStyle/>
                    <a:p>
                      <a:pPr marL="0" indent="0">
                        <a:buNone/>
                      </a:pPr>
                      <a:r>
                        <a:rPr lang="en-US" sz="1000" dirty="0">
                          <a:solidFill>
                            <a:srgbClr val="1A2E4A"/>
                          </a:solidFill>
                          <a:latin typeface="Calibri" pitchFamily="34" charset="0"/>
                          <a:ea typeface="Calibri" pitchFamily="34" charset="-122"/>
                          <a:cs typeface="Calibri" pitchFamily="34" charset="-120"/>
                        </a:rPr>
                        <a:t>Audit Log Review</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000" b="1" dirty="0">
                          <a:solidFill>
                            <a:srgbClr val="1A2E4A"/>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DC2626"/>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D9488"/>
                    </a:solidFill>
                  </a:tcPr>
                </a:tc>
                <a:tc>
                  <a:txBody>
                    <a:bodyPr/>
                    <a:lstStyle/>
                    <a:p>
                      <a:pPr marL="0" indent="0" algn="ctr">
                        <a:buNone/>
                      </a:pPr>
                      <a:r>
                        <a:rPr lang="en-US" sz="1000" b="1" dirty="0">
                          <a:solidFill>
                            <a:srgbClr val="1A2E4A"/>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b="1" dirty="0">
                          <a:solidFill>
                            <a:srgbClr val="1A2E4A"/>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EF3C7"/>
                    </a:solidFill>
                  </a:tcPr>
                </a:tc>
                <a:extLst>
                  <a:ext uri="{0D108BD9-81ED-4DB2-BD59-A6C34878D82A}">
                    <a16:rowId xmlns:a16="http://schemas.microsoft.com/office/drawing/2014/main" val="10007"/>
                  </a:ext>
                </a:extLst>
              </a:tr>
              <a:tr h="329184">
                <a:tc>
                  <a:txBody>
                    <a:bodyPr/>
                    <a:lstStyle/>
                    <a:p>
                      <a:pPr marL="0" indent="0">
                        <a:buNone/>
                      </a:pPr>
                      <a:r>
                        <a:rPr lang="en-US" sz="1000" dirty="0">
                          <a:solidFill>
                            <a:srgbClr val="1A2E4A"/>
                          </a:solidFill>
                          <a:latin typeface="Calibri" pitchFamily="34" charset="0"/>
                          <a:ea typeface="Calibri" pitchFamily="34" charset="-122"/>
                          <a:cs typeface="Calibri" pitchFamily="34" charset="-120"/>
                        </a:rPr>
                        <a:t>External Audit Response</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lgn="ctr">
                        <a:buNone/>
                      </a:pPr>
                      <a:r>
                        <a:rPr lang="en-US" sz="1000" b="1" dirty="0">
                          <a:solidFill>
                            <a:srgbClr val="1A2E4A"/>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DC2626"/>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D9488"/>
                    </a:solidFill>
                  </a:tcPr>
                </a:tc>
                <a:tc>
                  <a:txBody>
                    <a:bodyPr/>
                    <a:lstStyle/>
                    <a:p>
                      <a:pPr marL="0" indent="0" algn="ctr">
                        <a:buNone/>
                      </a:pPr>
                      <a:r>
                        <a:rPr lang="en-US" sz="1000" b="1" dirty="0">
                          <a:solidFill>
                            <a:srgbClr val="1A2E4A"/>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1000" dirty="0">
                          <a:solidFill>
                            <a:srgbClr val="475569"/>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D948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2F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400" b="1" dirty="0">
                <a:solidFill>
                  <a:srgbClr val="1A2E4A"/>
                </a:solidFill>
                <a:latin typeface="Georgia" pitchFamily="34" charset="0"/>
                <a:ea typeface="Georgia" pitchFamily="34" charset="-122"/>
                <a:cs typeface="Georgia" pitchFamily="34" charset="-120"/>
              </a:rPr>
              <a:t>RBAC Architecture — 3 Layers</a:t>
            </a:r>
            <a:endParaRPr lang="en-US" sz="2400" dirty="0"/>
          </a:p>
        </p:txBody>
      </p:sp>
      <p:sp>
        <p:nvSpPr>
          <p:cNvPr id="3" name="Shape 1"/>
          <p:cNvSpPr/>
          <p:nvPr/>
        </p:nvSpPr>
        <p:spPr>
          <a:xfrm>
            <a:off x="457200" y="804672"/>
            <a:ext cx="640080" cy="36576"/>
          </a:xfrm>
          <a:prstGeom prst="rect">
            <a:avLst/>
          </a:prstGeom>
          <a:solidFill>
            <a:srgbClr val="14B8A6"/>
          </a:solidFill>
          <a:ln w="12700">
            <a:solidFill>
              <a:srgbClr val="14B8A6"/>
            </a:solidFill>
            <a:prstDash val="solid"/>
          </a:ln>
        </p:spPr>
      </p:sp>
      <p:sp>
        <p:nvSpPr>
          <p:cNvPr id="4" name="Shape 2"/>
          <p:cNvSpPr/>
          <p:nvPr/>
        </p:nvSpPr>
        <p:spPr>
          <a:xfrm>
            <a:off x="0" y="4800600"/>
            <a:ext cx="9144000" cy="342900"/>
          </a:xfrm>
          <a:prstGeom prst="rect">
            <a:avLst/>
          </a:prstGeom>
          <a:solidFill>
            <a:srgbClr val="0B1F3A"/>
          </a:solidFill>
          <a:ln w="12700">
            <a:solidFill>
              <a:srgbClr val="0B1F3A"/>
            </a:solidFill>
            <a:prstDash val="solid"/>
          </a:ln>
        </p:spPr>
      </p:sp>
      <p:sp>
        <p:nvSpPr>
          <p:cNvPr id="5" name="Text 3"/>
          <p:cNvSpPr/>
          <p:nvPr/>
        </p:nvSpPr>
        <p:spPr>
          <a:xfrm>
            <a:off x="365760" y="4818888"/>
            <a:ext cx="548640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Week 7 — NIST INCITS 359 model, mapped to our 4 tiers</a:t>
            </a:r>
            <a:endParaRPr lang="en-US" sz="900" dirty="0"/>
          </a:p>
        </p:txBody>
      </p:sp>
      <p:sp>
        <p:nvSpPr>
          <p:cNvPr id="6" name="Text 4"/>
          <p:cNvSpPr/>
          <p:nvPr/>
        </p:nvSpPr>
        <p:spPr>
          <a:xfrm>
            <a:off x="5486400" y="4818888"/>
            <a:ext cx="3291840" cy="30175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FinGuard  •  Weeks 6 + 7</a:t>
            </a:r>
            <a:endParaRPr lang="en-US" sz="900" dirty="0"/>
          </a:p>
        </p:txBody>
      </p:sp>
      <p:sp>
        <p:nvSpPr>
          <p:cNvPr id="7" name="Shape 5"/>
          <p:cNvSpPr/>
          <p:nvPr/>
        </p:nvSpPr>
        <p:spPr>
          <a:xfrm>
            <a:off x="365760" y="1051560"/>
            <a:ext cx="2651760" cy="3291840"/>
          </a:xfrm>
          <a:prstGeom prst="rect">
            <a:avLst/>
          </a:prstGeom>
          <a:solidFill>
            <a:srgbClr val="FFFFFF"/>
          </a:solidFill>
          <a:ln w="12700">
            <a:solidFill>
              <a:srgbClr val="E5E7EB"/>
            </a:solidFill>
            <a:prstDash val="solid"/>
          </a:ln>
        </p:spPr>
      </p:sp>
      <p:sp>
        <p:nvSpPr>
          <p:cNvPr id="8" name="Shape 6"/>
          <p:cNvSpPr/>
          <p:nvPr/>
        </p:nvSpPr>
        <p:spPr>
          <a:xfrm>
            <a:off x="365760" y="1051560"/>
            <a:ext cx="2651760" cy="91440"/>
          </a:xfrm>
          <a:prstGeom prst="rect">
            <a:avLst/>
          </a:prstGeom>
          <a:solidFill>
            <a:srgbClr val="0D9488"/>
          </a:solidFill>
          <a:ln w="12700">
            <a:solidFill>
              <a:srgbClr val="0D9488"/>
            </a:solidFill>
            <a:prstDash val="solid"/>
          </a:ln>
        </p:spPr>
      </p:sp>
      <p:sp>
        <p:nvSpPr>
          <p:cNvPr id="9" name="Text 7"/>
          <p:cNvSpPr/>
          <p:nvPr/>
        </p:nvSpPr>
        <p:spPr>
          <a:xfrm>
            <a:off x="365760" y="1207008"/>
            <a:ext cx="2651760" cy="320040"/>
          </a:xfrm>
          <a:prstGeom prst="rect">
            <a:avLst/>
          </a:prstGeom>
          <a:noFill/>
          <a:ln/>
        </p:spPr>
        <p:txBody>
          <a:bodyPr wrap="square" lIns="0" tIns="0" rIns="0" bIns="0" rtlCol="0" anchor="ctr"/>
          <a:lstStyle/>
          <a:p>
            <a:pPr marL="0" indent="0" algn="ctr">
              <a:buNone/>
            </a:pPr>
            <a:r>
              <a:rPr lang="en-US" sz="1300" b="1" kern="0" spc="400" dirty="0">
                <a:solidFill>
                  <a:srgbClr val="0D9488"/>
                </a:solidFill>
                <a:latin typeface="Calibri" pitchFamily="34" charset="0"/>
                <a:ea typeface="Calibri" pitchFamily="34" charset="-122"/>
                <a:cs typeface="Calibri" pitchFamily="34" charset="-120"/>
              </a:rPr>
              <a:t>USERS</a:t>
            </a:r>
            <a:endParaRPr lang="en-US" sz="1300" dirty="0"/>
          </a:p>
        </p:txBody>
      </p:sp>
      <p:sp>
        <p:nvSpPr>
          <p:cNvPr id="10" name="Text 8"/>
          <p:cNvSpPr/>
          <p:nvPr/>
        </p:nvSpPr>
        <p:spPr>
          <a:xfrm>
            <a:off x="365760" y="1508760"/>
            <a:ext cx="2651760" cy="256032"/>
          </a:xfrm>
          <a:prstGeom prst="rect">
            <a:avLst/>
          </a:prstGeom>
          <a:noFill/>
          <a:ln/>
        </p:spPr>
        <p:txBody>
          <a:bodyPr wrap="square" lIns="0" tIns="0" rIns="0" bIns="0" rtlCol="0" anchor="ctr"/>
          <a:lstStyle/>
          <a:p>
            <a:pPr marL="0" indent="0" algn="ctr">
              <a:buNone/>
            </a:pPr>
            <a:r>
              <a:rPr lang="en-US" sz="950" i="1" dirty="0">
                <a:solidFill>
                  <a:srgbClr val="475569"/>
                </a:solidFill>
                <a:latin typeface="Calibri" pitchFamily="34" charset="0"/>
                <a:ea typeface="Calibri" pitchFamily="34" charset="-122"/>
                <a:cs typeface="Calibri" pitchFamily="34" charset="-120"/>
              </a:rPr>
              <a:t>8 humans / service accts</a:t>
            </a:r>
            <a:endParaRPr lang="en-US" sz="950" dirty="0"/>
          </a:p>
        </p:txBody>
      </p:sp>
      <p:sp>
        <p:nvSpPr>
          <p:cNvPr id="11" name="Text 9"/>
          <p:cNvSpPr/>
          <p:nvPr/>
        </p:nvSpPr>
        <p:spPr>
          <a:xfrm>
            <a:off x="548640" y="1828800"/>
            <a:ext cx="2286000" cy="2377440"/>
          </a:xfrm>
          <a:prstGeom prst="rect">
            <a:avLst/>
          </a:prstGeom>
          <a:noFill/>
          <a:ln/>
        </p:spPr>
        <p:txBody>
          <a:bodyPr wrap="square" rtlCol="0" anchor="t"/>
          <a:lstStyle/>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alice_dpo</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bob_cdo</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carol_compliance</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dan_engineer</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eve_analyst</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frank_scientist</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grace_auditor</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heidi_marketing</a:t>
            </a:r>
            <a:endParaRPr lang="en-US" sz="950" dirty="0"/>
          </a:p>
        </p:txBody>
      </p:sp>
      <p:sp>
        <p:nvSpPr>
          <p:cNvPr id="12" name="Shape 10"/>
          <p:cNvSpPr/>
          <p:nvPr/>
        </p:nvSpPr>
        <p:spPr>
          <a:xfrm>
            <a:off x="3246120" y="1051560"/>
            <a:ext cx="2651760" cy="3291840"/>
          </a:xfrm>
          <a:prstGeom prst="rect">
            <a:avLst/>
          </a:prstGeom>
          <a:solidFill>
            <a:srgbClr val="FFFFFF"/>
          </a:solidFill>
          <a:ln w="12700">
            <a:solidFill>
              <a:srgbClr val="E5E7EB"/>
            </a:solidFill>
            <a:prstDash val="solid"/>
          </a:ln>
        </p:spPr>
      </p:sp>
      <p:sp>
        <p:nvSpPr>
          <p:cNvPr id="13" name="Shape 11"/>
          <p:cNvSpPr/>
          <p:nvPr/>
        </p:nvSpPr>
        <p:spPr>
          <a:xfrm>
            <a:off x="3246120" y="1051560"/>
            <a:ext cx="2651760" cy="91440"/>
          </a:xfrm>
          <a:prstGeom prst="rect">
            <a:avLst/>
          </a:prstGeom>
          <a:solidFill>
            <a:srgbClr val="F59E0B"/>
          </a:solidFill>
          <a:ln w="12700">
            <a:solidFill>
              <a:srgbClr val="F59E0B"/>
            </a:solidFill>
            <a:prstDash val="solid"/>
          </a:ln>
        </p:spPr>
      </p:sp>
      <p:sp>
        <p:nvSpPr>
          <p:cNvPr id="14" name="Text 12"/>
          <p:cNvSpPr/>
          <p:nvPr/>
        </p:nvSpPr>
        <p:spPr>
          <a:xfrm>
            <a:off x="3246120" y="1207008"/>
            <a:ext cx="2651760" cy="320040"/>
          </a:xfrm>
          <a:prstGeom prst="rect">
            <a:avLst/>
          </a:prstGeom>
          <a:noFill/>
          <a:ln/>
        </p:spPr>
        <p:txBody>
          <a:bodyPr wrap="square" lIns="0" tIns="0" rIns="0" bIns="0" rtlCol="0" anchor="ctr"/>
          <a:lstStyle/>
          <a:p>
            <a:pPr marL="0" indent="0" algn="ctr">
              <a:buNone/>
            </a:pPr>
            <a:r>
              <a:rPr lang="en-US" sz="1300" b="1" kern="0" spc="400" dirty="0">
                <a:solidFill>
                  <a:srgbClr val="F59E0B"/>
                </a:solidFill>
                <a:latin typeface="Calibri" pitchFamily="34" charset="0"/>
                <a:ea typeface="Calibri" pitchFamily="34" charset="-122"/>
                <a:cs typeface="Calibri" pitchFamily="34" charset="-120"/>
              </a:rPr>
              <a:t>ROLES</a:t>
            </a:r>
            <a:endParaRPr lang="en-US" sz="1300" dirty="0"/>
          </a:p>
        </p:txBody>
      </p:sp>
      <p:sp>
        <p:nvSpPr>
          <p:cNvPr id="15" name="Text 13"/>
          <p:cNvSpPr/>
          <p:nvPr/>
        </p:nvSpPr>
        <p:spPr>
          <a:xfrm>
            <a:off x="3246120" y="1508760"/>
            <a:ext cx="2651760" cy="256032"/>
          </a:xfrm>
          <a:prstGeom prst="rect">
            <a:avLst/>
          </a:prstGeom>
          <a:noFill/>
          <a:ln/>
        </p:spPr>
        <p:txBody>
          <a:bodyPr wrap="square" lIns="0" tIns="0" rIns="0" bIns="0" rtlCol="0" anchor="ctr"/>
          <a:lstStyle/>
          <a:p>
            <a:pPr marL="0" indent="0" algn="ctr">
              <a:buNone/>
            </a:pPr>
            <a:r>
              <a:rPr lang="en-US" sz="950" i="1" dirty="0">
                <a:solidFill>
                  <a:srgbClr val="475569"/>
                </a:solidFill>
                <a:latin typeface="Calibri" pitchFamily="34" charset="0"/>
                <a:ea typeface="Calibri" pitchFamily="34" charset="-122"/>
                <a:cs typeface="Calibri" pitchFamily="34" charset="-120"/>
              </a:rPr>
              <a:t>8 group roles</a:t>
            </a:r>
            <a:endParaRPr lang="en-US" sz="950" dirty="0"/>
          </a:p>
        </p:txBody>
      </p:sp>
      <p:sp>
        <p:nvSpPr>
          <p:cNvPr id="16" name="Text 14"/>
          <p:cNvSpPr/>
          <p:nvPr/>
        </p:nvSpPr>
        <p:spPr>
          <a:xfrm>
            <a:off x="3429000" y="1828800"/>
            <a:ext cx="2286000" cy="2377440"/>
          </a:xfrm>
          <a:prstGeom prst="rect">
            <a:avLst/>
          </a:prstGeom>
          <a:noFill/>
          <a:ln/>
        </p:spPr>
        <p:txBody>
          <a:bodyPr wrap="square" rtlCol="0" anchor="t"/>
          <a:lstStyle/>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finguard_dpo</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finguard_cdo</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finguard_compliance</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finguard_data_engineer</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finguard_data_analyst</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finguard_data_scientist</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finguard_auditor</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finguard_marketing</a:t>
            </a:r>
            <a:endParaRPr lang="en-US" sz="950" dirty="0"/>
          </a:p>
        </p:txBody>
      </p:sp>
      <p:sp>
        <p:nvSpPr>
          <p:cNvPr id="17" name="Shape 15"/>
          <p:cNvSpPr/>
          <p:nvPr/>
        </p:nvSpPr>
        <p:spPr>
          <a:xfrm>
            <a:off x="6126480" y="1051560"/>
            <a:ext cx="2651760" cy="3291840"/>
          </a:xfrm>
          <a:prstGeom prst="rect">
            <a:avLst/>
          </a:prstGeom>
          <a:solidFill>
            <a:srgbClr val="FFFFFF"/>
          </a:solidFill>
          <a:ln w="12700">
            <a:solidFill>
              <a:srgbClr val="E5E7EB"/>
            </a:solidFill>
            <a:prstDash val="solid"/>
          </a:ln>
        </p:spPr>
      </p:sp>
      <p:sp>
        <p:nvSpPr>
          <p:cNvPr id="18" name="Shape 16"/>
          <p:cNvSpPr/>
          <p:nvPr/>
        </p:nvSpPr>
        <p:spPr>
          <a:xfrm>
            <a:off x="6126480" y="1051560"/>
            <a:ext cx="2651760" cy="91440"/>
          </a:xfrm>
          <a:prstGeom prst="rect">
            <a:avLst/>
          </a:prstGeom>
          <a:solidFill>
            <a:srgbClr val="DC2626"/>
          </a:solidFill>
          <a:ln w="12700">
            <a:solidFill>
              <a:srgbClr val="DC2626"/>
            </a:solidFill>
            <a:prstDash val="solid"/>
          </a:ln>
        </p:spPr>
      </p:sp>
      <p:sp>
        <p:nvSpPr>
          <p:cNvPr id="19" name="Text 17"/>
          <p:cNvSpPr/>
          <p:nvPr/>
        </p:nvSpPr>
        <p:spPr>
          <a:xfrm>
            <a:off x="6126480" y="1207008"/>
            <a:ext cx="2651760" cy="320040"/>
          </a:xfrm>
          <a:prstGeom prst="rect">
            <a:avLst/>
          </a:prstGeom>
          <a:noFill/>
          <a:ln/>
        </p:spPr>
        <p:txBody>
          <a:bodyPr wrap="square" lIns="0" tIns="0" rIns="0" bIns="0" rtlCol="0" anchor="ctr"/>
          <a:lstStyle/>
          <a:p>
            <a:pPr marL="0" indent="0" algn="ctr">
              <a:buNone/>
            </a:pPr>
            <a:r>
              <a:rPr lang="en-US" sz="1300" b="1" kern="0" spc="400" dirty="0">
                <a:solidFill>
                  <a:srgbClr val="DC2626"/>
                </a:solidFill>
                <a:latin typeface="Calibri" pitchFamily="34" charset="0"/>
                <a:ea typeface="Calibri" pitchFamily="34" charset="-122"/>
                <a:cs typeface="Calibri" pitchFamily="34" charset="-120"/>
              </a:rPr>
              <a:t>PERMISSIONS</a:t>
            </a:r>
            <a:endParaRPr lang="en-US" sz="1300" dirty="0"/>
          </a:p>
        </p:txBody>
      </p:sp>
      <p:sp>
        <p:nvSpPr>
          <p:cNvPr id="20" name="Text 18"/>
          <p:cNvSpPr/>
          <p:nvPr/>
        </p:nvSpPr>
        <p:spPr>
          <a:xfrm>
            <a:off x="6126480" y="1508760"/>
            <a:ext cx="2651760" cy="256032"/>
          </a:xfrm>
          <a:prstGeom prst="rect">
            <a:avLst/>
          </a:prstGeom>
          <a:noFill/>
          <a:ln/>
        </p:spPr>
        <p:txBody>
          <a:bodyPr wrap="square" lIns="0" tIns="0" rIns="0" bIns="0" rtlCol="0" anchor="ctr"/>
          <a:lstStyle/>
          <a:p>
            <a:pPr marL="0" indent="0" algn="ctr">
              <a:buNone/>
            </a:pPr>
            <a:r>
              <a:rPr lang="en-US" sz="950" i="1" dirty="0">
                <a:solidFill>
                  <a:srgbClr val="475569"/>
                </a:solidFill>
                <a:latin typeface="Calibri" pitchFamily="34" charset="0"/>
                <a:ea typeface="Calibri" pitchFamily="34" charset="-122"/>
                <a:cs typeface="Calibri" pitchFamily="34" charset="-120"/>
              </a:rPr>
              <a:t>Granted by tier</a:t>
            </a:r>
            <a:endParaRPr lang="en-US" sz="950" dirty="0"/>
          </a:p>
        </p:txBody>
      </p:sp>
      <p:sp>
        <p:nvSpPr>
          <p:cNvPr id="21" name="Text 19"/>
          <p:cNvSpPr/>
          <p:nvPr/>
        </p:nvSpPr>
        <p:spPr>
          <a:xfrm>
            <a:off x="6309360" y="1828800"/>
            <a:ext cx="2286000" cy="2377440"/>
          </a:xfrm>
          <a:prstGeom prst="rect">
            <a:avLst/>
          </a:prstGeom>
          <a:noFill/>
          <a:ln/>
        </p:spPr>
        <p:txBody>
          <a:bodyPr wrap="square" rtlCol="0" anchor="t"/>
          <a:lstStyle/>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raw_pii.* (RESTRICTED)</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masked.* (CONFIDENTIAL)</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analytics.* (INTERNAL)</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reference.* (PUBLIC)</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 column-level denies</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 row-level security</a:t>
            </a:r>
            <a:endParaRPr lang="en-US" sz="950" dirty="0"/>
          </a:p>
          <a:p>
            <a:pPr marL="0" indent="0">
              <a:spcAft>
                <a:spcPts val="400"/>
              </a:spcAft>
              <a:buNone/>
            </a:pPr>
            <a:r>
              <a:rPr lang="en-US" sz="950" dirty="0">
                <a:solidFill>
                  <a:srgbClr val="1A2E4A"/>
                </a:solidFill>
                <a:latin typeface="Consolas" pitchFamily="34" charset="0"/>
                <a:ea typeface="Consolas" pitchFamily="34" charset="-122"/>
                <a:cs typeface="Consolas" pitchFamily="34" charset="-120"/>
              </a:rPr>
              <a:t>+ audit logging</a:t>
            </a:r>
            <a:endParaRPr lang="en-US" sz="950" dirty="0"/>
          </a:p>
        </p:txBody>
      </p:sp>
      <p:sp>
        <p:nvSpPr>
          <p:cNvPr id="22" name="Shape 20"/>
          <p:cNvSpPr/>
          <p:nvPr/>
        </p:nvSpPr>
        <p:spPr>
          <a:xfrm>
            <a:off x="2852928" y="2697480"/>
            <a:ext cx="320040" cy="0"/>
          </a:xfrm>
          <a:prstGeom prst="line">
            <a:avLst/>
          </a:prstGeom>
          <a:noFill/>
          <a:ln w="25400">
            <a:solidFill>
              <a:srgbClr val="475569"/>
            </a:solidFill>
            <a:prstDash val="solid"/>
            <a:tailEnd type="triangle"/>
          </a:ln>
        </p:spPr>
      </p:sp>
      <p:sp>
        <p:nvSpPr>
          <p:cNvPr id="23" name="Shape 21"/>
          <p:cNvSpPr/>
          <p:nvPr/>
        </p:nvSpPr>
        <p:spPr>
          <a:xfrm>
            <a:off x="5733288" y="2697480"/>
            <a:ext cx="320040" cy="0"/>
          </a:xfrm>
          <a:prstGeom prst="line">
            <a:avLst/>
          </a:prstGeom>
          <a:noFill/>
          <a:ln w="25400">
            <a:solidFill>
              <a:srgbClr val="475569"/>
            </a:solidFill>
            <a:prstDash val="solid"/>
            <a:tailEnd type="triangle"/>
          </a:ln>
        </p:spPr>
      </p:sp>
      <p:sp>
        <p:nvSpPr>
          <p:cNvPr id="24" name="Text 22"/>
          <p:cNvSpPr/>
          <p:nvPr/>
        </p:nvSpPr>
        <p:spPr>
          <a:xfrm>
            <a:off x="365760" y="4434840"/>
            <a:ext cx="8412480" cy="274320"/>
          </a:xfrm>
          <a:prstGeom prst="rect">
            <a:avLst/>
          </a:prstGeom>
          <a:noFill/>
          <a:ln/>
        </p:spPr>
        <p:txBody>
          <a:bodyPr wrap="square" lIns="0" tIns="0" rIns="0" bIns="0" rtlCol="0" anchor="ctr"/>
          <a:lstStyle/>
          <a:p>
            <a:pPr marL="0" indent="0" algn="ctr">
              <a:buNone/>
            </a:pPr>
            <a:r>
              <a:rPr lang="en-US" sz="900" i="1" dirty="0">
                <a:solidFill>
                  <a:srgbClr val="475569"/>
                </a:solidFill>
                <a:latin typeface="Calibri" pitchFamily="34" charset="0"/>
                <a:ea typeface="Calibri" pitchFamily="34" charset="-122"/>
                <a:cs typeface="Calibri" pitchFamily="34" charset="-120"/>
              </a:rPr>
              <a:t>Effective access — DPO/CDO: all tiers   Compliance: PUBLIC/INTERNAL + flagged-rows only   Analyst: no IPs, no raw PII   Marketing: narrow view   Ext Auditor: PUBLIC only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2F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400" b="1" dirty="0">
                <a:solidFill>
                  <a:srgbClr val="1A2E4A"/>
                </a:solidFill>
                <a:latin typeface="Georgia" pitchFamily="34" charset="0"/>
                <a:ea typeface="Georgia" pitchFamily="34" charset="-122"/>
                <a:cs typeface="Georgia" pitchFamily="34" charset="-120"/>
              </a:rPr>
              <a:t>RBAC in PostgreSQL — The Proof</a:t>
            </a:r>
            <a:endParaRPr lang="en-US" sz="2400" dirty="0"/>
          </a:p>
        </p:txBody>
      </p:sp>
      <p:sp>
        <p:nvSpPr>
          <p:cNvPr id="3" name="Shape 1"/>
          <p:cNvSpPr/>
          <p:nvPr/>
        </p:nvSpPr>
        <p:spPr>
          <a:xfrm>
            <a:off x="457200" y="804672"/>
            <a:ext cx="640080" cy="36576"/>
          </a:xfrm>
          <a:prstGeom prst="rect">
            <a:avLst/>
          </a:prstGeom>
          <a:solidFill>
            <a:srgbClr val="14B8A6"/>
          </a:solidFill>
          <a:ln w="12700">
            <a:solidFill>
              <a:srgbClr val="14B8A6"/>
            </a:solidFill>
            <a:prstDash val="solid"/>
          </a:ln>
        </p:spPr>
      </p:sp>
      <p:sp>
        <p:nvSpPr>
          <p:cNvPr id="4" name="Shape 2"/>
          <p:cNvSpPr/>
          <p:nvPr/>
        </p:nvSpPr>
        <p:spPr>
          <a:xfrm>
            <a:off x="0" y="4800600"/>
            <a:ext cx="9144000" cy="342900"/>
          </a:xfrm>
          <a:prstGeom prst="rect">
            <a:avLst/>
          </a:prstGeom>
          <a:solidFill>
            <a:srgbClr val="0B1F3A"/>
          </a:solidFill>
          <a:ln w="12700">
            <a:solidFill>
              <a:srgbClr val="0B1F3A"/>
            </a:solidFill>
            <a:prstDash val="solid"/>
          </a:ln>
        </p:spPr>
      </p:sp>
      <p:sp>
        <p:nvSpPr>
          <p:cNvPr id="5" name="Text 3"/>
          <p:cNvSpPr/>
          <p:nvPr/>
        </p:nvSpPr>
        <p:spPr>
          <a:xfrm>
            <a:off x="365760" y="4818888"/>
            <a:ext cx="548640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Week 7 — Live database, finguard_rbac_implementation.sql</a:t>
            </a:r>
            <a:endParaRPr lang="en-US" sz="900" dirty="0"/>
          </a:p>
        </p:txBody>
      </p:sp>
      <p:sp>
        <p:nvSpPr>
          <p:cNvPr id="6" name="Text 4"/>
          <p:cNvSpPr/>
          <p:nvPr/>
        </p:nvSpPr>
        <p:spPr>
          <a:xfrm>
            <a:off x="5486400" y="4818888"/>
            <a:ext cx="3291840" cy="30175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FinGuard  •  Weeks 6 + 7</a:t>
            </a:r>
            <a:endParaRPr lang="en-US" sz="900" dirty="0"/>
          </a:p>
        </p:txBody>
      </p:sp>
      <p:sp>
        <p:nvSpPr>
          <p:cNvPr id="7" name="Shape 5"/>
          <p:cNvSpPr/>
          <p:nvPr/>
        </p:nvSpPr>
        <p:spPr>
          <a:xfrm>
            <a:off x="365760" y="1005840"/>
            <a:ext cx="4297680" cy="3474720"/>
          </a:xfrm>
          <a:prstGeom prst="rect">
            <a:avLst/>
          </a:prstGeom>
          <a:solidFill>
            <a:srgbClr val="1E293B"/>
          </a:solidFill>
          <a:ln w="12700">
            <a:solidFill>
              <a:srgbClr val="1E293B"/>
            </a:solidFill>
            <a:prstDash val="solid"/>
          </a:ln>
        </p:spPr>
      </p:sp>
      <p:sp>
        <p:nvSpPr>
          <p:cNvPr id="8" name="Text 6"/>
          <p:cNvSpPr/>
          <p:nvPr/>
        </p:nvSpPr>
        <p:spPr>
          <a:xfrm>
            <a:off x="502920" y="1051560"/>
            <a:ext cx="4023360" cy="228600"/>
          </a:xfrm>
          <a:prstGeom prst="rect">
            <a:avLst/>
          </a:prstGeom>
          <a:noFill/>
          <a:ln/>
        </p:spPr>
        <p:txBody>
          <a:bodyPr wrap="square" lIns="0" tIns="0" rIns="0" bIns="0" rtlCol="0" anchor="ctr"/>
          <a:lstStyle/>
          <a:p>
            <a:pPr marL="0" indent="0">
              <a:buNone/>
            </a:pPr>
            <a:r>
              <a:rPr lang="en-US" sz="900" dirty="0">
                <a:solidFill>
                  <a:srgbClr val="94A3B8"/>
                </a:solidFill>
                <a:latin typeface="Consolas" pitchFamily="34" charset="0"/>
                <a:ea typeface="Consolas" pitchFamily="34" charset="-122"/>
                <a:cs typeface="Consolas" pitchFamily="34" charset="-120"/>
              </a:rPr>
              <a:t>postgres@finguard_dwh</a:t>
            </a:r>
            <a:endParaRPr lang="en-US" sz="900" dirty="0"/>
          </a:p>
        </p:txBody>
      </p:sp>
      <p:sp>
        <p:nvSpPr>
          <p:cNvPr id="9" name="Text 7"/>
          <p:cNvSpPr/>
          <p:nvPr/>
        </p:nvSpPr>
        <p:spPr>
          <a:xfrm>
            <a:off x="502920" y="1298448"/>
            <a:ext cx="4023360" cy="3108960"/>
          </a:xfrm>
          <a:prstGeom prst="rect">
            <a:avLst/>
          </a:prstGeom>
          <a:noFill/>
          <a:ln/>
        </p:spPr>
        <p:txBody>
          <a:bodyPr wrap="square" lIns="0" tIns="0" rIns="0" bIns="0" rtlCol="0" anchor="t"/>
          <a:lstStyle/>
          <a:p>
            <a:pPr marL="0" indent="0">
              <a:buNone/>
            </a:pPr>
            <a:r>
              <a:rPr lang="en-US" sz="900" dirty="0">
                <a:solidFill>
                  <a:srgbClr val="94A3B8"/>
                </a:solidFill>
                <a:latin typeface="Consolas" pitchFamily="34" charset="0"/>
                <a:ea typeface="Consolas" pitchFamily="34" charset="-122"/>
                <a:cs typeface="Consolas" pitchFamily="34" charset="-120"/>
              </a:rPr>
              <a:t>-- 1.  Create role + user</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CREATE ROLE finguard_data_analyst NOLOGIN;</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CREATE USER eve_analyst</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  WITH PASSWORD '***' IN ROLE finguard_data_analyst;</a:t>
            </a:r>
            <a:endParaRPr lang="en-US" sz="900" dirty="0"/>
          </a:p>
          <a:p>
            <a:pPr marL="0" indent="0">
              <a:buNone/>
            </a:pPr>
            <a:endParaRPr lang="en-US" sz="900" dirty="0"/>
          </a:p>
          <a:p>
            <a:pPr marL="0" indent="0">
              <a:buNone/>
            </a:pPr>
            <a:r>
              <a:rPr lang="en-US" sz="900" dirty="0">
                <a:solidFill>
                  <a:srgbClr val="94A3B8"/>
                </a:solidFill>
                <a:latin typeface="Consolas" pitchFamily="34" charset="0"/>
                <a:ea typeface="Consolas" pitchFamily="34" charset="-122"/>
                <a:cs typeface="Consolas" pitchFamily="34" charset="-120"/>
              </a:rPr>
              <a:t>-- 2.  Grant by schema = tier</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GRANT USAGE  ON SCHEMA masked TO finguard_data_analyst;</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GRANT SELECT ON ALL TABLES IN SCHEMA masked</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  TO finguard_data_analyst;</a:t>
            </a:r>
            <a:endParaRPr lang="en-US" sz="900" dirty="0"/>
          </a:p>
          <a:p>
            <a:pPr marL="0" indent="0">
              <a:buNone/>
            </a:pPr>
            <a:endParaRPr lang="en-US" sz="900" dirty="0"/>
          </a:p>
          <a:p>
            <a:pPr marL="0" indent="0">
              <a:buNone/>
            </a:pPr>
            <a:r>
              <a:rPr lang="en-US" sz="900" dirty="0">
                <a:solidFill>
                  <a:srgbClr val="94A3B8"/>
                </a:solidFill>
                <a:latin typeface="Consolas" pitchFamily="34" charset="0"/>
                <a:ea typeface="Consolas" pitchFamily="34" charset="-122"/>
                <a:cs typeface="Consolas" pitchFamily="34" charset="-120"/>
              </a:rPr>
              <a:t>-- 3.  Column-level deny</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REVOKE SELECT (ip_address, device_id)</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  ON masked.aml_transactions_masked</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  FROM finguard_data_analyst;</a:t>
            </a:r>
            <a:endParaRPr lang="en-US" sz="900" dirty="0"/>
          </a:p>
          <a:p>
            <a:pPr marL="0" indent="0">
              <a:buNone/>
            </a:pPr>
            <a:endParaRPr lang="en-US" sz="900" dirty="0"/>
          </a:p>
          <a:p>
            <a:pPr marL="0" indent="0">
              <a:buNone/>
            </a:pPr>
            <a:r>
              <a:rPr lang="en-US" sz="900" dirty="0">
                <a:solidFill>
                  <a:srgbClr val="94A3B8"/>
                </a:solidFill>
                <a:latin typeface="Consolas" pitchFamily="34" charset="0"/>
                <a:ea typeface="Consolas" pitchFamily="34" charset="-122"/>
                <a:cs typeface="Consolas" pitchFamily="34" charset="-120"/>
              </a:rPr>
              <a:t>-- 4.  Row-level security</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CREATE POLICY compliance_sees_flagged</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  ON masked.aml_transactions_masked</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  FOR SELECT TO finguard_compliance</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  USING (is_suspicious = 1</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         OR aml_flag &lt;&gt; 'CLEAR');</a:t>
            </a:r>
            <a:endParaRPr lang="en-US" sz="900" dirty="0"/>
          </a:p>
        </p:txBody>
      </p:sp>
      <p:sp>
        <p:nvSpPr>
          <p:cNvPr id="10" name="Text 8"/>
          <p:cNvSpPr/>
          <p:nvPr/>
        </p:nvSpPr>
        <p:spPr>
          <a:xfrm>
            <a:off x="4846320" y="1005840"/>
            <a:ext cx="4023360" cy="256032"/>
          </a:xfrm>
          <a:prstGeom prst="rect">
            <a:avLst/>
          </a:prstGeom>
          <a:noFill/>
          <a:ln/>
        </p:spPr>
        <p:txBody>
          <a:bodyPr wrap="square" lIns="0" tIns="0" rIns="0" bIns="0" rtlCol="0" anchor="ctr"/>
          <a:lstStyle/>
          <a:p>
            <a:pPr marL="0" indent="0">
              <a:buNone/>
            </a:pPr>
            <a:r>
              <a:rPr lang="en-US" sz="1100" b="1" kern="0" spc="200" dirty="0">
                <a:solidFill>
                  <a:srgbClr val="0D9488"/>
                </a:solidFill>
                <a:latin typeface="Calibri" pitchFamily="34" charset="0"/>
                <a:ea typeface="Calibri" pitchFamily="34" charset="-122"/>
                <a:cs typeface="Calibri" pitchFamily="34" charset="-120"/>
              </a:rPr>
              <a:t>DEMO — same user, two different queries</a:t>
            </a:r>
            <a:endParaRPr lang="en-US" sz="1100" dirty="0"/>
          </a:p>
        </p:txBody>
      </p:sp>
      <p:sp>
        <p:nvSpPr>
          <p:cNvPr id="11" name="Shape 9"/>
          <p:cNvSpPr/>
          <p:nvPr/>
        </p:nvSpPr>
        <p:spPr>
          <a:xfrm>
            <a:off x="4846320" y="1325880"/>
            <a:ext cx="3931920" cy="1508760"/>
          </a:xfrm>
          <a:prstGeom prst="rect">
            <a:avLst/>
          </a:prstGeom>
          <a:solidFill>
            <a:srgbClr val="1E293B"/>
          </a:solidFill>
          <a:ln w="25400">
            <a:solidFill>
              <a:srgbClr val="DC2626"/>
            </a:solidFill>
            <a:prstDash val="solid"/>
          </a:ln>
        </p:spPr>
      </p:sp>
      <p:sp>
        <p:nvSpPr>
          <p:cNvPr id="12" name="Text 10"/>
          <p:cNvSpPr/>
          <p:nvPr/>
        </p:nvSpPr>
        <p:spPr>
          <a:xfrm>
            <a:off x="4983480" y="1417320"/>
            <a:ext cx="3703320" cy="1371600"/>
          </a:xfrm>
          <a:prstGeom prst="rect">
            <a:avLst/>
          </a:prstGeom>
          <a:noFill/>
          <a:ln/>
        </p:spPr>
        <p:txBody>
          <a:bodyPr wrap="square" lIns="0" tIns="0" rIns="0" bIns="0" rtlCol="0" anchor="t"/>
          <a:lstStyle/>
          <a:p>
            <a:pPr marL="0" indent="0">
              <a:buNone/>
            </a:pPr>
            <a:r>
              <a:rPr lang="en-US" sz="900" dirty="0">
                <a:solidFill>
                  <a:srgbClr val="E2E8F0"/>
                </a:solidFill>
                <a:latin typeface="Consolas" pitchFamily="34" charset="0"/>
                <a:ea typeface="Consolas" pitchFamily="34" charset="-122"/>
                <a:cs typeface="Consolas" pitchFamily="34" charset="-120"/>
              </a:rPr>
              <a:t>SET ROLE eve_analyst;</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SELECT customer_name, ip_address</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  FROM masked.aml_transactions_masked;</a:t>
            </a:r>
            <a:endParaRPr lang="en-US" sz="900" dirty="0"/>
          </a:p>
          <a:p>
            <a:pPr marL="0" indent="0">
              <a:buNone/>
            </a:pPr>
            <a:endParaRPr lang="en-US" sz="900" dirty="0"/>
          </a:p>
          <a:p>
            <a:pPr marL="0" indent="0">
              <a:buNone/>
            </a:pPr>
            <a:r>
              <a:rPr lang="en-US" sz="900" b="1" dirty="0">
                <a:solidFill>
                  <a:srgbClr val="FCA5A5"/>
                </a:solidFill>
                <a:latin typeface="Consolas" pitchFamily="34" charset="0"/>
                <a:ea typeface="Consolas" pitchFamily="34" charset="-122"/>
                <a:cs typeface="Consolas" pitchFamily="34" charset="-120"/>
              </a:rPr>
              <a:t>❌ ERROR: permission denied</a:t>
            </a:r>
            <a:endParaRPr lang="en-US" sz="900" dirty="0"/>
          </a:p>
          <a:p>
            <a:pPr marL="0" indent="0">
              <a:buNone/>
            </a:pPr>
            <a:r>
              <a:rPr lang="en-US" sz="900" dirty="0">
                <a:solidFill>
                  <a:srgbClr val="FCA5A5"/>
                </a:solidFill>
                <a:latin typeface="Consolas" pitchFamily="34" charset="0"/>
                <a:ea typeface="Consolas" pitchFamily="34" charset="-122"/>
                <a:cs typeface="Consolas" pitchFamily="34" charset="-120"/>
              </a:rPr>
              <a:t>   for column ip_address</a:t>
            </a:r>
            <a:endParaRPr lang="en-US" sz="900" dirty="0"/>
          </a:p>
        </p:txBody>
      </p:sp>
      <p:sp>
        <p:nvSpPr>
          <p:cNvPr id="13" name="Shape 11"/>
          <p:cNvSpPr/>
          <p:nvPr/>
        </p:nvSpPr>
        <p:spPr>
          <a:xfrm>
            <a:off x="4846320" y="2971800"/>
            <a:ext cx="3931920" cy="1508760"/>
          </a:xfrm>
          <a:prstGeom prst="rect">
            <a:avLst/>
          </a:prstGeom>
          <a:solidFill>
            <a:srgbClr val="1E293B"/>
          </a:solidFill>
          <a:ln w="25400">
            <a:solidFill>
              <a:srgbClr val="0D9488"/>
            </a:solidFill>
            <a:prstDash val="solid"/>
          </a:ln>
        </p:spPr>
      </p:sp>
      <p:sp>
        <p:nvSpPr>
          <p:cNvPr id="14" name="Text 12"/>
          <p:cNvSpPr/>
          <p:nvPr/>
        </p:nvSpPr>
        <p:spPr>
          <a:xfrm>
            <a:off x="4983480" y="3063240"/>
            <a:ext cx="3703320" cy="1371600"/>
          </a:xfrm>
          <a:prstGeom prst="rect">
            <a:avLst/>
          </a:prstGeom>
          <a:noFill/>
          <a:ln/>
        </p:spPr>
        <p:txBody>
          <a:bodyPr wrap="square" lIns="0" tIns="0" rIns="0" bIns="0" rtlCol="0" anchor="t"/>
          <a:lstStyle/>
          <a:p>
            <a:pPr marL="0" indent="0">
              <a:buNone/>
            </a:pPr>
            <a:r>
              <a:rPr lang="en-US" sz="900" dirty="0">
                <a:solidFill>
                  <a:srgbClr val="E2E8F0"/>
                </a:solidFill>
                <a:latin typeface="Consolas" pitchFamily="34" charset="0"/>
                <a:ea typeface="Consolas" pitchFamily="34" charset="-122"/>
                <a:cs typeface="Consolas" pitchFamily="34" charset="-120"/>
              </a:rPr>
              <a:t>SET ROLE eve_analyst;</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SELECT customer_name, amount, currency</a:t>
            </a:r>
            <a:endParaRPr lang="en-US" sz="900" dirty="0"/>
          </a:p>
          <a:p>
            <a:pPr marL="0" indent="0">
              <a:buNone/>
            </a:pPr>
            <a:r>
              <a:rPr lang="en-US" sz="900" dirty="0">
                <a:solidFill>
                  <a:srgbClr val="E2E8F0"/>
                </a:solidFill>
                <a:latin typeface="Consolas" pitchFamily="34" charset="0"/>
                <a:ea typeface="Consolas" pitchFamily="34" charset="-122"/>
                <a:cs typeface="Consolas" pitchFamily="34" charset="-120"/>
              </a:rPr>
              <a:t>  FROM masked.aml_transactions_masked LIMIT 3;</a:t>
            </a:r>
            <a:endParaRPr lang="en-US" sz="900" dirty="0"/>
          </a:p>
          <a:p>
            <a:pPr marL="0" indent="0">
              <a:buNone/>
            </a:pPr>
            <a:endParaRPr lang="en-US" sz="900" dirty="0"/>
          </a:p>
          <a:p>
            <a:pPr marL="0" indent="0">
              <a:buNone/>
            </a:pPr>
            <a:r>
              <a:rPr lang="en-US" sz="900" dirty="0">
                <a:solidFill>
                  <a:srgbClr val="86EFAC"/>
                </a:solidFill>
                <a:latin typeface="Consolas" pitchFamily="34" charset="0"/>
                <a:ea typeface="Consolas" pitchFamily="34" charset="-122"/>
                <a:cs typeface="Consolas" pitchFamily="34" charset="-120"/>
              </a:rPr>
              <a:t>TOKEN_000001 | 78422.10 | EUR  ✓</a:t>
            </a:r>
            <a:endParaRPr lang="en-US" sz="900" dirty="0"/>
          </a:p>
          <a:p>
            <a:pPr marL="0" indent="0">
              <a:buNone/>
            </a:pPr>
            <a:r>
              <a:rPr lang="en-US" sz="900" dirty="0">
                <a:solidFill>
                  <a:srgbClr val="86EFAC"/>
                </a:solidFill>
                <a:latin typeface="Consolas" pitchFamily="34" charset="0"/>
                <a:ea typeface="Consolas" pitchFamily="34" charset="-122"/>
                <a:cs typeface="Consolas" pitchFamily="34" charset="-120"/>
              </a:rPr>
              <a:t>TOKEN_000045 | 51002.99 | GBP  ✓</a:t>
            </a:r>
            <a:endParaRPr lang="en-US" sz="900" dirty="0"/>
          </a:p>
          <a:p>
            <a:pPr marL="0" indent="0">
              <a:buNone/>
            </a:pPr>
            <a:r>
              <a:rPr lang="en-US" sz="900" dirty="0">
                <a:solidFill>
                  <a:srgbClr val="86EFAC"/>
                </a:solidFill>
                <a:latin typeface="Consolas" pitchFamily="34" charset="0"/>
                <a:ea typeface="Consolas" pitchFamily="34" charset="-122"/>
                <a:cs typeface="Consolas" pitchFamily="34" charset="-120"/>
              </a:rPr>
              <a:t>TOKEN_000119 | 64338.50 | USD  ✓</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2F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400" b="1" dirty="0">
                <a:solidFill>
                  <a:srgbClr val="1A2E4A"/>
                </a:solidFill>
                <a:latin typeface="Georgia" pitchFamily="34" charset="0"/>
                <a:ea typeface="Georgia" pitchFamily="34" charset="-122"/>
                <a:cs typeface="Georgia" pitchFamily="34" charset="-120"/>
              </a:rPr>
              <a:t>Compliance Mapping &amp; Our Next Steps</a:t>
            </a:r>
            <a:endParaRPr lang="en-US" sz="2400" dirty="0"/>
          </a:p>
        </p:txBody>
      </p:sp>
      <p:sp>
        <p:nvSpPr>
          <p:cNvPr id="3" name="Shape 1"/>
          <p:cNvSpPr/>
          <p:nvPr/>
        </p:nvSpPr>
        <p:spPr>
          <a:xfrm>
            <a:off x="457200" y="804672"/>
            <a:ext cx="640080" cy="36576"/>
          </a:xfrm>
          <a:prstGeom prst="rect">
            <a:avLst/>
          </a:prstGeom>
          <a:solidFill>
            <a:srgbClr val="14B8A6"/>
          </a:solidFill>
          <a:ln w="12700">
            <a:solidFill>
              <a:srgbClr val="14B8A6"/>
            </a:solidFill>
            <a:prstDash val="solid"/>
          </a:ln>
        </p:spPr>
      </p:sp>
      <p:sp>
        <p:nvSpPr>
          <p:cNvPr id="4" name="Shape 2"/>
          <p:cNvSpPr/>
          <p:nvPr/>
        </p:nvSpPr>
        <p:spPr>
          <a:xfrm>
            <a:off x="0" y="4800600"/>
            <a:ext cx="9144000" cy="342900"/>
          </a:xfrm>
          <a:prstGeom prst="rect">
            <a:avLst/>
          </a:prstGeom>
          <a:solidFill>
            <a:srgbClr val="0B1F3A"/>
          </a:solidFill>
          <a:ln w="12700">
            <a:solidFill>
              <a:srgbClr val="0B1F3A"/>
            </a:solidFill>
            <a:prstDash val="solid"/>
          </a:ln>
        </p:spPr>
      </p:sp>
      <p:sp>
        <p:nvSpPr>
          <p:cNvPr id="5" name="Text 3"/>
          <p:cNvSpPr/>
          <p:nvPr/>
        </p:nvSpPr>
        <p:spPr>
          <a:xfrm>
            <a:off x="365760" y="4818888"/>
            <a:ext cx="548640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Combined Weeks 6 + 7 close-out</a:t>
            </a:r>
            <a:endParaRPr lang="en-US" sz="900" dirty="0"/>
          </a:p>
        </p:txBody>
      </p:sp>
      <p:sp>
        <p:nvSpPr>
          <p:cNvPr id="6" name="Text 4"/>
          <p:cNvSpPr/>
          <p:nvPr/>
        </p:nvSpPr>
        <p:spPr>
          <a:xfrm>
            <a:off x="5486400" y="4818888"/>
            <a:ext cx="3291840" cy="30175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FinGuard  •  Weeks 6 + 7</a:t>
            </a:r>
            <a:endParaRPr lang="en-US" sz="900" dirty="0"/>
          </a:p>
        </p:txBody>
      </p:sp>
      <p:sp>
        <p:nvSpPr>
          <p:cNvPr id="7" name="Shape 5"/>
          <p:cNvSpPr/>
          <p:nvPr/>
        </p:nvSpPr>
        <p:spPr>
          <a:xfrm>
            <a:off x="365760" y="1051560"/>
            <a:ext cx="1828800" cy="457200"/>
          </a:xfrm>
          <a:prstGeom prst="rect">
            <a:avLst/>
          </a:prstGeom>
          <a:solidFill>
            <a:srgbClr val="0B1F3A"/>
          </a:solidFill>
          <a:ln w="12700">
            <a:solidFill>
              <a:srgbClr val="0B1F3A"/>
            </a:solidFill>
            <a:prstDash val="solid"/>
          </a:ln>
        </p:spPr>
      </p:sp>
      <p:sp>
        <p:nvSpPr>
          <p:cNvPr id="8" name="Text 6"/>
          <p:cNvSpPr/>
          <p:nvPr/>
        </p:nvSpPr>
        <p:spPr>
          <a:xfrm>
            <a:off x="365760" y="1051560"/>
            <a:ext cx="18288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GDPR Art. 5(1)(f)</a:t>
            </a:r>
            <a:endParaRPr lang="en-US" sz="1000" dirty="0"/>
          </a:p>
        </p:txBody>
      </p:sp>
      <p:sp>
        <p:nvSpPr>
          <p:cNvPr id="9" name="Shape 7"/>
          <p:cNvSpPr/>
          <p:nvPr/>
        </p:nvSpPr>
        <p:spPr>
          <a:xfrm>
            <a:off x="2194560" y="1051560"/>
            <a:ext cx="3657600" cy="457200"/>
          </a:xfrm>
          <a:prstGeom prst="rect">
            <a:avLst/>
          </a:prstGeom>
          <a:solidFill>
            <a:srgbClr val="FFFFFF"/>
          </a:solidFill>
          <a:ln w="12700">
            <a:solidFill>
              <a:srgbClr val="E5E7EB"/>
            </a:solidFill>
            <a:prstDash val="solid"/>
          </a:ln>
        </p:spPr>
      </p:sp>
      <p:sp>
        <p:nvSpPr>
          <p:cNvPr id="10" name="Text 8"/>
          <p:cNvSpPr/>
          <p:nvPr/>
        </p:nvSpPr>
        <p:spPr>
          <a:xfrm>
            <a:off x="2286000" y="1051560"/>
            <a:ext cx="3474720" cy="4572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Integrity &amp; confidentiality — RBAC + RLS + audit log</a:t>
            </a:r>
            <a:endParaRPr lang="en-US" sz="1000" dirty="0"/>
          </a:p>
        </p:txBody>
      </p:sp>
      <p:sp>
        <p:nvSpPr>
          <p:cNvPr id="11" name="Shape 9"/>
          <p:cNvSpPr/>
          <p:nvPr/>
        </p:nvSpPr>
        <p:spPr>
          <a:xfrm>
            <a:off x="365760" y="1600200"/>
            <a:ext cx="1828800" cy="457200"/>
          </a:xfrm>
          <a:prstGeom prst="rect">
            <a:avLst/>
          </a:prstGeom>
          <a:solidFill>
            <a:srgbClr val="0B1F3A"/>
          </a:solidFill>
          <a:ln w="12700">
            <a:solidFill>
              <a:srgbClr val="0B1F3A"/>
            </a:solidFill>
            <a:prstDash val="solid"/>
          </a:ln>
        </p:spPr>
      </p:sp>
      <p:sp>
        <p:nvSpPr>
          <p:cNvPr id="12" name="Text 10"/>
          <p:cNvSpPr/>
          <p:nvPr/>
        </p:nvSpPr>
        <p:spPr>
          <a:xfrm>
            <a:off x="365760" y="1600200"/>
            <a:ext cx="18288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GDPR Art. 17</a:t>
            </a:r>
            <a:endParaRPr lang="en-US" sz="1000" dirty="0"/>
          </a:p>
        </p:txBody>
      </p:sp>
      <p:sp>
        <p:nvSpPr>
          <p:cNvPr id="13" name="Shape 11"/>
          <p:cNvSpPr/>
          <p:nvPr/>
        </p:nvSpPr>
        <p:spPr>
          <a:xfrm>
            <a:off x="2194560" y="1600200"/>
            <a:ext cx="3657600" cy="457200"/>
          </a:xfrm>
          <a:prstGeom prst="rect">
            <a:avLst/>
          </a:prstGeom>
          <a:solidFill>
            <a:srgbClr val="FFFFFF"/>
          </a:solidFill>
          <a:ln w="12700">
            <a:solidFill>
              <a:srgbClr val="E5E7EB"/>
            </a:solidFill>
            <a:prstDash val="solid"/>
          </a:ln>
        </p:spPr>
      </p:sp>
      <p:sp>
        <p:nvSpPr>
          <p:cNvPr id="14" name="Text 12"/>
          <p:cNvSpPr/>
          <p:nvPr/>
        </p:nvSpPr>
        <p:spPr>
          <a:xfrm>
            <a:off x="2286000" y="1600200"/>
            <a:ext cx="3474720" cy="4572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Right to Erasure — vault reverse-lookup + cascade delete</a:t>
            </a:r>
            <a:endParaRPr lang="en-US" sz="1000" dirty="0"/>
          </a:p>
        </p:txBody>
      </p:sp>
      <p:sp>
        <p:nvSpPr>
          <p:cNvPr id="15" name="Shape 13"/>
          <p:cNvSpPr/>
          <p:nvPr/>
        </p:nvSpPr>
        <p:spPr>
          <a:xfrm>
            <a:off x="365760" y="2148840"/>
            <a:ext cx="1828800" cy="457200"/>
          </a:xfrm>
          <a:prstGeom prst="rect">
            <a:avLst/>
          </a:prstGeom>
          <a:solidFill>
            <a:srgbClr val="0B1F3A"/>
          </a:solidFill>
          <a:ln w="12700">
            <a:solidFill>
              <a:srgbClr val="0B1F3A"/>
            </a:solidFill>
            <a:prstDash val="solid"/>
          </a:ln>
        </p:spPr>
      </p:sp>
      <p:sp>
        <p:nvSpPr>
          <p:cNvPr id="16" name="Text 14"/>
          <p:cNvSpPr/>
          <p:nvPr/>
        </p:nvSpPr>
        <p:spPr>
          <a:xfrm>
            <a:off x="365760" y="2148840"/>
            <a:ext cx="18288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GDPR Art. 32</a:t>
            </a:r>
            <a:endParaRPr lang="en-US" sz="1000" dirty="0"/>
          </a:p>
        </p:txBody>
      </p:sp>
      <p:sp>
        <p:nvSpPr>
          <p:cNvPr id="17" name="Shape 15"/>
          <p:cNvSpPr/>
          <p:nvPr/>
        </p:nvSpPr>
        <p:spPr>
          <a:xfrm>
            <a:off x="2194560" y="2148840"/>
            <a:ext cx="3657600" cy="457200"/>
          </a:xfrm>
          <a:prstGeom prst="rect">
            <a:avLst/>
          </a:prstGeom>
          <a:solidFill>
            <a:srgbClr val="FFFFFF"/>
          </a:solidFill>
          <a:ln w="12700">
            <a:solidFill>
              <a:srgbClr val="E5E7EB"/>
            </a:solidFill>
            <a:prstDash val="solid"/>
          </a:ln>
        </p:spPr>
      </p:sp>
      <p:sp>
        <p:nvSpPr>
          <p:cNvPr id="18" name="Text 16"/>
          <p:cNvSpPr/>
          <p:nvPr/>
        </p:nvSpPr>
        <p:spPr>
          <a:xfrm>
            <a:off x="2286000" y="2148840"/>
            <a:ext cx="3474720" cy="4572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Security of processing — schema isolation + column denies</a:t>
            </a:r>
            <a:endParaRPr lang="en-US" sz="1000" dirty="0"/>
          </a:p>
        </p:txBody>
      </p:sp>
      <p:sp>
        <p:nvSpPr>
          <p:cNvPr id="19" name="Shape 17"/>
          <p:cNvSpPr/>
          <p:nvPr/>
        </p:nvSpPr>
        <p:spPr>
          <a:xfrm>
            <a:off x="365760" y="2697480"/>
            <a:ext cx="1828800" cy="457200"/>
          </a:xfrm>
          <a:prstGeom prst="rect">
            <a:avLst/>
          </a:prstGeom>
          <a:solidFill>
            <a:srgbClr val="0B1F3A"/>
          </a:solidFill>
          <a:ln w="12700">
            <a:solidFill>
              <a:srgbClr val="0B1F3A"/>
            </a:solidFill>
            <a:prstDash val="solid"/>
          </a:ln>
        </p:spPr>
      </p:sp>
      <p:sp>
        <p:nvSpPr>
          <p:cNvPr id="20" name="Text 18"/>
          <p:cNvSpPr/>
          <p:nvPr/>
        </p:nvSpPr>
        <p:spPr>
          <a:xfrm>
            <a:off x="365760" y="2697480"/>
            <a:ext cx="18288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GDPR Art. 39</a:t>
            </a:r>
            <a:endParaRPr lang="en-US" sz="1000" dirty="0"/>
          </a:p>
        </p:txBody>
      </p:sp>
      <p:sp>
        <p:nvSpPr>
          <p:cNvPr id="21" name="Shape 19"/>
          <p:cNvSpPr/>
          <p:nvPr/>
        </p:nvSpPr>
        <p:spPr>
          <a:xfrm>
            <a:off x="2194560" y="2697480"/>
            <a:ext cx="3657600" cy="457200"/>
          </a:xfrm>
          <a:prstGeom prst="rect">
            <a:avLst/>
          </a:prstGeom>
          <a:solidFill>
            <a:srgbClr val="FFFFFF"/>
          </a:solidFill>
          <a:ln w="12700">
            <a:solidFill>
              <a:srgbClr val="E5E7EB"/>
            </a:solidFill>
            <a:prstDash val="solid"/>
          </a:ln>
        </p:spPr>
      </p:sp>
      <p:sp>
        <p:nvSpPr>
          <p:cNvPr id="22" name="Text 20"/>
          <p:cNvSpPr/>
          <p:nvPr/>
        </p:nvSpPr>
        <p:spPr>
          <a:xfrm>
            <a:off x="2286000" y="2697480"/>
            <a:ext cx="3474720" cy="4572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DPO accountability — single A in our RACI matrix</a:t>
            </a:r>
            <a:endParaRPr lang="en-US" sz="1000" dirty="0"/>
          </a:p>
        </p:txBody>
      </p:sp>
      <p:sp>
        <p:nvSpPr>
          <p:cNvPr id="23" name="Shape 21"/>
          <p:cNvSpPr/>
          <p:nvPr/>
        </p:nvSpPr>
        <p:spPr>
          <a:xfrm>
            <a:off x="365760" y="3246120"/>
            <a:ext cx="1828800" cy="457200"/>
          </a:xfrm>
          <a:prstGeom prst="rect">
            <a:avLst/>
          </a:prstGeom>
          <a:solidFill>
            <a:srgbClr val="0B1F3A"/>
          </a:solidFill>
          <a:ln w="12700">
            <a:solidFill>
              <a:srgbClr val="0B1F3A"/>
            </a:solidFill>
            <a:prstDash val="solid"/>
          </a:ln>
        </p:spPr>
      </p:sp>
      <p:sp>
        <p:nvSpPr>
          <p:cNvPr id="24" name="Text 22"/>
          <p:cNvSpPr/>
          <p:nvPr/>
        </p:nvSpPr>
        <p:spPr>
          <a:xfrm>
            <a:off x="365760" y="3246120"/>
            <a:ext cx="18288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EU AMLD6 / FATF</a:t>
            </a:r>
            <a:endParaRPr lang="en-US" sz="1000" dirty="0"/>
          </a:p>
        </p:txBody>
      </p:sp>
      <p:sp>
        <p:nvSpPr>
          <p:cNvPr id="25" name="Shape 23"/>
          <p:cNvSpPr/>
          <p:nvPr/>
        </p:nvSpPr>
        <p:spPr>
          <a:xfrm>
            <a:off x="2194560" y="3246120"/>
            <a:ext cx="3657600" cy="457200"/>
          </a:xfrm>
          <a:prstGeom prst="rect">
            <a:avLst/>
          </a:prstGeom>
          <a:solidFill>
            <a:srgbClr val="FFFFFF"/>
          </a:solidFill>
          <a:ln w="12700">
            <a:solidFill>
              <a:srgbClr val="E5E7EB"/>
            </a:solidFill>
            <a:prstDash val="solid"/>
          </a:ln>
        </p:spPr>
      </p:sp>
      <p:sp>
        <p:nvSpPr>
          <p:cNvPr id="26" name="Text 24"/>
          <p:cNvSpPr/>
          <p:nvPr/>
        </p:nvSpPr>
        <p:spPr>
          <a:xfrm>
            <a:off x="2286000" y="3246120"/>
            <a:ext cx="3474720" cy="4572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Need-to-know — RLS gives compliance only flagged rows</a:t>
            </a:r>
            <a:endParaRPr lang="en-US" sz="1000" dirty="0"/>
          </a:p>
        </p:txBody>
      </p:sp>
      <p:sp>
        <p:nvSpPr>
          <p:cNvPr id="27" name="Shape 25"/>
          <p:cNvSpPr/>
          <p:nvPr/>
        </p:nvSpPr>
        <p:spPr>
          <a:xfrm>
            <a:off x="365760" y="3794760"/>
            <a:ext cx="1828800" cy="457200"/>
          </a:xfrm>
          <a:prstGeom prst="rect">
            <a:avLst/>
          </a:prstGeom>
          <a:solidFill>
            <a:srgbClr val="0B1F3A"/>
          </a:solidFill>
          <a:ln w="12700">
            <a:solidFill>
              <a:srgbClr val="0B1F3A"/>
            </a:solidFill>
            <a:prstDash val="solid"/>
          </a:ln>
        </p:spPr>
      </p:sp>
      <p:sp>
        <p:nvSpPr>
          <p:cNvPr id="28" name="Text 26"/>
          <p:cNvSpPr/>
          <p:nvPr/>
        </p:nvSpPr>
        <p:spPr>
          <a:xfrm>
            <a:off x="365760" y="3794760"/>
            <a:ext cx="18288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GLBA / FFIEC / SOX</a:t>
            </a:r>
            <a:endParaRPr lang="en-US" sz="1000" dirty="0"/>
          </a:p>
        </p:txBody>
      </p:sp>
      <p:sp>
        <p:nvSpPr>
          <p:cNvPr id="29" name="Shape 27"/>
          <p:cNvSpPr/>
          <p:nvPr/>
        </p:nvSpPr>
        <p:spPr>
          <a:xfrm>
            <a:off x="2194560" y="3794760"/>
            <a:ext cx="3657600" cy="457200"/>
          </a:xfrm>
          <a:prstGeom prst="rect">
            <a:avLst/>
          </a:prstGeom>
          <a:solidFill>
            <a:srgbClr val="FFFFFF"/>
          </a:solidFill>
          <a:ln w="12700">
            <a:solidFill>
              <a:srgbClr val="E5E7EB"/>
            </a:solidFill>
            <a:prstDash val="solid"/>
          </a:ln>
        </p:spPr>
      </p:sp>
      <p:sp>
        <p:nvSpPr>
          <p:cNvPr id="30" name="Text 28"/>
          <p:cNvSpPr/>
          <p:nvPr/>
        </p:nvSpPr>
        <p:spPr>
          <a:xfrm>
            <a:off x="2286000" y="3794760"/>
            <a:ext cx="3474720" cy="4572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Least privilege + segregation of duties enforced in code</a:t>
            </a:r>
            <a:endParaRPr lang="en-US" sz="1000" dirty="0"/>
          </a:p>
        </p:txBody>
      </p:sp>
      <p:sp>
        <p:nvSpPr>
          <p:cNvPr id="31" name="Shape 29"/>
          <p:cNvSpPr/>
          <p:nvPr/>
        </p:nvSpPr>
        <p:spPr>
          <a:xfrm>
            <a:off x="6126480" y="1051560"/>
            <a:ext cx="2651760" cy="3474720"/>
          </a:xfrm>
          <a:prstGeom prst="rect">
            <a:avLst/>
          </a:prstGeom>
          <a:solidFill>
            <a:srgbClr val="0B1F3A"/>
          </a:solidFill>
          <a:ln w="12700">
            <a:solidFill>
              <a:srgbClr val="0B1F3A"/>
            </a:solidFill>
            <a:prstDash val="solid"/>
          </a:ln>
        </p:spPr>
      </p:sp>
      <p:sp>
        <p:nvSpPr>
          <p:cNvPr id="32" name="Text 30"/>
          <p:cNvSpPr/>
          <p:nvPr/>
        </p:nvSpPr>
        <p:spPr>
          <a:xfrm>
            <a:off x="6263640" y="1188720"/>
            <a:ext cx="2377440" cy="274320"/>
          </a:xfrm>
          <a:prstGeom prst="rect">
            <a:avLst/>
          </a:prstGeom>
          <a:noFill/>
          <a:ln/>
        </p:spPr>
        <p:txBody>
          <a:bodyPr wrap="square" lIns="0" tIns="0" rIns="0" bIns="0" rtlCol="0" anchor="ctr"/>
          <a:lstStyle/>
          <a:p>
            <a:pPr marL="0" indent="0">
              <a:buNone/>
            </a:pPr>
            <a:r>
              <a:rPr lang="en-US" sz="1100" b="1" kern="0" spc="300" dirty="0">
                <a:solidFill>
                  <a:srgbClr val="14B8A6"/>
                </a:solidFill>
                <a:latin typeface="Calibri" pitchFamily="34" charset="0"/>
                <a:ea typeface="Calibri" pitchFamily="34" charset="-122"/>
                <a:cs typeface="Calibri" pitchFamily="34" charset="-120"/>
              </a:rPr>
              <a:t>OUR NEXT STEPS</a:t>
            </a:r>
            <a:endParaRPr lang="en-US" sz="1100" dirty="0"/>
          </a:p>
        </p:txBody>
      </p:sp>
      <p:sp>
        <p:nvSpPr>
          <p:cNvPr id="33" name="Text 31"/>
          <p:cNvSpPr/>
          <p:nvPr/>
        </p:nvSpPr>
        <p:spPr>
          <a:xfrm>
            <a:off x="6263640" y="1463040"/>
            <a:ext cx="2377440" cy="256032"/>
          </a:xfrm>
          <a:prstGeom prst="rect">
            <a:avLst/>
          </a:prstGeom>
          <a:noFill/>
          <a:ln/>
        </p:spPr>
        <p:txBody>
          <a:bodyPr wrap="square" lIns="0" tIns="0" rIns="0" bIns="0" rtlCol="0" anchor="ctr"/>
          <a:lstStyle/>
          <a:p>
            <a:pPr marL="0" indent="0">
              <a:buNone/>
            </a:pPr>
            <a:r>
              <a:rPr lang="en-US" sz="950" i="1" dirty="0">
                <a:solidFill>
                  <a:srgbClr val="B8C5D6"/>
                </a:solidFill>
                <a:latin typeface="Calibri" pitchFamily="34" charset="0"/>
                <a:ea typeface="Calibri" pitchFamily="34" charset="-122"/>
                <a:cs typeface="Calibri" pitchFamily="34" charset="-120"/>
              </a:rPr>
              <a:t>Getting close to project finish</a:t>
            </a:r>
            <a:endParaRPr lang="en-US" sz="950" dirty="0"/>
          </a:p>
        </p:txBody>
      </p:sp>
      <p:sp>
        <p:nvSpPr>
          <p:cNvPr id="34" name="Shape 32"/>
          <p:cNvSpPr/>
          <p:nvPr/>
        </p:nvSpPr>
        <p:spPr>
          <a:xfrm>
            <a:off x="6263640" y="1828800"/>
            <a:ext cx="45720" cy="804672"/>
          </a:xfrm>
          <a:prstGeom prst="rect">
            <a:avLst/>
          </a:prstGeom>
          <a:solidFill>
            <a:srgbClr val="14B8A6"/>
          </a:solidFill>
          <a:ln w="12700">
            <a:solidFill>
              <a:srgbClr val="14B8A6"/>
            </a:solidFill>
            <a:prstDash val="solid"/>
          </a:ln>
        </p:spPr>
      </p:sp>
      <p:sp>
        <p:nvSpPr>
          <p:cNvPr id="35" name="Text 33"/>
          <p:cNvSpPr/>
          <p:nvPr/>
        </p:nvSpPr>
        <p:spPr>
          <a:xfrm>
            <a:off x="6400800" y="1828800"/>
            <a:ext cx="21945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Bias &amp; Fairness</a:t>
            </a:r>
            <a:endParaRPr lang="en-US" sz="1100" dirty="0"/>
          </a:p>
        </p:txBody>
      </p:sp>
      <p:sp>
        <p:nvSpPr>
          <p:cNvPr id="36" name="Text 34"/>
          <p:cNvSpPr/>
          <p:nvPr/>
        </p:nvSpPr>
        <p:spPr>
          <a:xfrm>
            <a:off x="6400800" y="2084832"/>
            <a:ext cx="2194560" cy="54864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Audit AML risk scores for FATF-list-driven bias; check marketing data for demographic skew.</a:t>
            </a:r>
            <a:endParaRPr lang="en-US" sz="900" dirty="0"/>
          </a:p>
        </p:txBody>
      </p:sp>
      <p:sp>
        <p:nvSpPr>
          <p:cNvPr id="37" name="Shape 35"/>
          <p:cNvSpPr/>
          <p:nvPr/>
        </p:nvSpPr>
        <p:spPr>
          <a:xfrm>
            <a:off x="6263640" y="2697480"/>
            <a:ext cx="45720" cy="804672"/>
          </a:xfrm>
          <a:prstGeom prst="rect">
            <a:avLst/>
          </a:prstGeom>
          <a:solidFill>
            <a:srgbClr val="14B8A6"/>
          </a:solidFill>
          <a:ln w="12700">
            <a:solidFill>
              <a:srgbClr val="14B8A6"/>
            </a:solidFill>
            <a:prstDash val="solid"/>
          </a:ln>
        </p:spPr>
      </p:sp>
      <p:sp>
        <p:nvSpPr>
          <p:cNvPr id="38" name="Text 36"/>
          <p:cNvSpPr/>
          <p:nvPr/>
        </p:nvSpPr>
        <p:spPr>
          <a:xfrm>
            <a:off x="6400800" y="2697480"/>
            <a:ext cx="21945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Data Lineage</a:t>
            </a:r>
            <a:endParaRPr lang="en-US" sz="1100" dirty="0"/>
          </a:p>
        </p:txBody>
      </p:sp>
      <p:sp>
        <p:nvSpPr>
          <p:cNvPr id="39" name="Text 37"/>
          <p:cNvSpPr/>
          <p:nvPr/>
        </p:nvSpPr>
        <p:spPr>
          <a:xfrm>
            <a:off x="6400800" y="2953512"/>
            <a:ext cx="2194560" cy="54864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Visualize column-level lineage from source CSVs through masking to RBAC-controlled views.</a:t>
            </a:r>
            <a:endParaRPr lang="en-US" sz="900" dirty="0"/>
          </a:p>
        </p:txBody>
      </p:sp>
      <p:sp>
        <p:nvSpPr>
          <p:cNvPr id="40" name="Shape 38"/>
          <p:cNvSpPr/>
          <p:nvPr/>
        </p:nvSpPr>
        <p:spPr>
          <a:xfrm>
            <a:off x="6263640" y="3566160"/>
            <a:ext cx="45720" cy="804672"/>
          </a:xfrm>
          <a:prstGeom prst="rect">
            <a:avLst/>
          </a:prstGeom>
          <a:solidFill>
            <a:srgbClr val="14B8A6"/>
          </a:solidFill>
          <a:ln w="12700">
            <a:solidFill>
              <a:srgbClr val="14B8A6"/>
            </a:solidFill>
            <a:prstDash val="solid"/>
          </a:ln>
        </p:spPr>
      </p:sp>
      <p:sp>
        <p:nvSpPr>
          <p:cNvPr id="41" name="Text 39"/>
          <p:cNvSpPr/>
          <p:nvPr/>
        </p:nvSpPr>
        <p:spPr>
          <a:xfrm>
            <a:off x="6400800" y="3566160"/>
            <a:ext cx="21945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Data Catalog</a:t>
            </a:r>
            <a:endParaRPr lang="en-US" sz="1100" dirty="0"/>
          </a:p>
        </p:txBody>
      </p:sp>
      <p:sp>
        <p:nvSpPr>
          <p:cNvPr id="42" name="Text 40"/>
          <p:cNvSpPr/>
          <p:nvPr/>
        </p:nvSpPr>
        <p:spPr>
          <a:xfrm>
            <a:off x="6400800" y="3822192"/>
            <a:ext cx="2194560" cy="54864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Web UI to search every column, see its tier, owner, masking method, and lineage path.</a:t>
            </a:r>
            <a:endParaRPr lang="en-US" sz="900" dirty="0"/>
          </a:p>
        </p:txBody>
      </p:sp>
      <p:sp>
        <p:nvSpPr>
          <p:cNvPr id="43" name="Text 41"/>
          <p:cNvSpPr/>
          <p:nvPr/>
        </p:nvSpPr>
        <p:spPr>
          <a:xfrm>
            <a:off x="365760" y="4434840"/>
            <a:ext cx="8412480" cy="274320"/>
          </a:xfrm>
          <a:prstGeom prst="rect">
            <a:avLst/>
          </a:prstGeom>
          <a:noFill/>
          <a:ln/>
        </p:spPr>
        <p:txBody>
          <a:bodyPr wrap="square" lIns="0" tIns="0" rIns="0" bIns="0" rtlCol="0" anchor="ctr"/>
          <a:lstStyle/>
          <a:p>
            <a:pPr marL="0" indent="0" algn="ctr">
              <a:buNone/>
            </a:pPr>
            <a:r>
              <a:rPr lang="en-US" sz="1600" b="1" i="1" dirty="0">
                <a:solidFill>
                  <a:srgbClr val="0D9488"/>
                </a:solidFill>
                <a:latin typeface="Georgia" pitchFamily="34" charset="0"/>
                <a:ea typeface="Georgia" pitchFamily="34" charset="-122"/>
                <a:cs typeface="Georgia" pitchFamily="34" charset="-120"/>
              </a:rPr>
              <a:t>Thank you  —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353</TotalTime>
  <Words>5357</Words>
  <Application>Microsoft Macintosh PowerPoint</Application>
  <PresentationFormat>On-screen Show (16:9)</PresentationFormat>
  <Paragraphs>472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FinGuard — Privacy, Security &amp; Access (Weeks 6 + 7)</dc:title>
  <dc:subject>PptxGenJS Presentation</dc:subject>
  <dc:creator>FinGuard Team</dc:creator>
  <cp:lastModifiedBy>selin altiparmak</cp:lastModifiedBy>
  <cp:revision>2</cp:revision>
  <dcterms:created xsi:type="dcterms:W3CDTF">2026-05-19T01:24:09Z</dcterms:created>
  <dcterms:modified xsi:type="dcterms:W3CDTF">2026-05-19T07:21:19Z</dcterms:modified>
</cp:coreProperties>
</file>